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60" r:id="rId3"/>
    <p:sldId id="258" r:id="rId4"/>
    <p:sldId id="257" r:id="rId5"/>
    <p:sldId id="259" r:id="rId6"/>
    <p:sldId id="261" r:id="rId7"/>
    <p:sldId id="263" r:id="rId8"/>
    <p:sldId id="262" r:id="rId9"/>
    <p:sldId id="264" r:id="rId10"/>
    <p:sldId id="265" r:id="rId11"/>
    <p:sldId id="266" r:id="rId12"/>
    <p:sldId id="268" r:id="rId13"/>
    <p:sldId id="267" r:id="rId14"/>
    <p:sldId id="270" r:id="rId15"/>
    <p:sldId id="271" r:id="rId16"/>
    <p:sldId id="269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75" autoAdjust="0"/>
    <p:restoredTop sz="96449" autoAdjust="0"/>
  </p:normalViewPr>
  <p:slideViewPr>
    <p:cSldViewPr snapToGrid="0" showGuides="1">
      <p:cViewPr varScale="1">
        <p:scale>
          <a:sx n="117" d="100"/>
          <a:sy n="117" d="100"/>
        </p:scale>
        <p:origin x="1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76530403751011"/>
          <c:y val="2.9893559761298729E-2"/>
          <c:w val="0.86831896563241662"/>
          <c:h val="0.80591665142268676"/>
        </c:manualLayout>
      </c:layout>
      <c:barChart>
        <c:barDir val="bar"/>
        <c:grouping val="clustered"/>
        <c:varyColors val="0"/>
        <c:ser>
          <c:idx val="1"/>
          <c:order val="1"/>
          <c:tx>
            <c:strRef>
              <c:f>Лист1!$C$1</c:f>
              <c:strCache>
                <c:ptCount val="1"/>
                <c:pt idx="0">
                  <c:v>Случаев на 100 тыс. Беременостей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Европа</c:v>
                </c:pt>
                <c:pt idx="1">
                  <c:v>Беларусь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4.5</c:v>
                </c:pt>
                <c:pt idx="1">
                  <c:v>0.35499999999999998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5C-4AA8-9AB0-9ED59C6762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656011520"/>
        <c:axId val="65601184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Лист1!$B$1</c15:sqref>
                        </c15:formulaRef>
                      </c:ext>
                    </c:extLst>
                    <c:strCache>
                      <c:ptCount val="1"/>
                      <c:pt idx="0">
                        <c:v>max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ru-RU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Лист1!$A$2:$A$3</c15:sqref>
                        </c15:formulaRef>
                      </c:ext>
                    </c:extLst>
                    <c:strCache>
                      <c:ptCount val="2"/>
                      <c:pt idx="0">
                        <c:v>Европа</c:v>
                      </c:pt>
                      <c:pt idx="1">
                        <c:v>Беларусь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Лист1!$B$2:$B$3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7</c:v>
                      </c:pt>
                      <c:pt idx="1">
                        <c:v>0.6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0-53C1-4885-A035-03617373D914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Лист1!$D$1</c15:sqref>
                        </c15:formulaRef>
                      </c:ext>
                    </c:extLst>
                    <c:strCache>
                      <c:ptCount val="1"/>
                      <c:pt idx="0">
                        <c:v>min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ru-RU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Лист1!$A$2:$A$3</c15:sqref>
                        </c15:formulaRef>
                      </c:ext>
                    </c:extLst>
                    <c:strCache>
                      <c:ptCount val="2"/>
                      <c:pt idx="0">
                        <c:v>Европа</c:v>
                      </c:pt>
                      <c:pt idx="1">
                        <c:v>Беларусь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2</c:v>
                      </c:pt>
                      <c:pt idx="1">
                        <c:v>0.11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145C-4AA8-9AB0-9ED59C67625F}"/>
                  </c:ext>
                </c:extLst>
              </c15:ser>
            </c15:filteredBarSeries>
          </c:ext>
        </c:extLst>
      </c:barChart>
      <c:catAx>
        <c:axId val="656011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56011848"/>
        <c:crosses val="autoZero"/>
        <c:auto val="1"/>
        <c:lblAlgn val="ctr"/>
        <c:lblOffset val="100"/>
        <c:noMultiLvlLbl val="0"/>
      </c:catAx>
      <c:valAx>
        <c:axId val="656011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56011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EA92B-338D-413E-B220-F8590475DC68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15FF2-DCE3-41E3-873C-174D091FE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01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15FF2-DCE3-41E3-873C-174D091FE65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584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15FF2-DCE3-41E3-873C-174D091FE65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07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15FF2-DCE3-41E3-873C-174D091FE65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958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F77B0-C87B-D85B-EF39-015943AE1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47E50E-04F9-537B-1699-FE25C73C0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858E18-6046-9F4C-8827-1FB9F542D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340D-E889-4668-8E1A-78F2B5DC3423}" type="datetime1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2F6459-6420-34D4-D71D-2A2EA674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DEDD5E-1BD0-841A-80D9-273BC870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46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FDAB5-B3D5-3BA4-0A75-F8957303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A60E65-4112-72AA-7515-CB214D878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8614BA-F766-8AE3-84D8-23A49A09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4CFA-894B-41F0-9C23-8DC0ECEF0B2D}" type="datetime1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735FE5-8873-5BF0-A414-B1A94184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1AEB3C-6AF6-32EB-0C7D-B4934891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72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15072-8014-DED6-3CDD-78B03DD3C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E5588F-7CBF-8143-8C0E-ECA97FBF3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CA2F2-BFF0-0581-FB4A-D02E5F38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FB02E-069D-4FED-A58B-0B104FF1455F}" type="datetime1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44BB1F-B4E3-3B12-9263-6852F23F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A8F14E-1393-45AB-D0B5-3E8BDB47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64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8A185-DCB1-8252-5030-DAD92C71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CDDB4D-6D53-B873-7480-A75F7ECE9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5FDAEB-304D-471F-0AAB-6C1C014D2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EC52C5-C98B-82DE-3EB5-12326BE9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6355-2C19-4BB3-941D-15AEC956F1BA}" type="datetime1">
              <a:rPr lang="ru-RU" smtClean="0"/>
              <a:t>10.04.2025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144C2A-3A5B-2E14-7F34-6D996860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DBBCCD-5029-FE8F-80EC-1AA8E4C2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44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E68DB-789D-BCD7-F59B-A0D3C0CB9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CC04FE-8595-0B2D-6EC8-5BBD93959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93D941-171C-AB10-596A-1F36E8755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2048D7-9F2D-DAF1-4ED4-C8F0D6F0D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8B11A5-9C12-17CC-1B00-D638CA8862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1B466C-418A-D51E-BF7E-C49E9346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57017-EE3A-4DC5-AC87-1F6193E5A146}" type="datetime1">
              <a:rPr lang="ru-RU" smtClean="0"/>
              <a:t>10.04.2025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5DAC48-996C-3BBC-484F-A246AA3B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4328DB-5ECC-204A-CEFD-F450C1BD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31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EB0AE-1DD7-EB93-5F75-BFD47302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EC6728-793F-1196-A8ED-F626B6D8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591C4-DF4C-4DE3-8C12-8119F905E211}" type="datetime1">
              <a:rPr lang="ru-RU" smtClean="0"/>
              <a:t>10.04.2025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3E8DF9-C344-0D81-3786-3AE9B36A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0A23A8-44A4-A51E-44BD-31C8A779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88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906A51-CF7C-414A-C08D-20999A8B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F7F3-3BA8-4F03-B2CC-8567E2BE8958}" type="datetime1">
              <a:rPr lang="ru-RU" smtClean="0"/>
              <a:t>10.04.2025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1D24B09-2184-CE78-59EC-7EC33ABB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A9A71A-6682-72EF-517F-10DB3AB7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39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BD3CF-70DB-E423-8DB9-B21A9FAF7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077F53-8C63-D0E6-72F7-ACDB9A5A4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095B18-581F-AF94-509E-044F49A59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3E9A96-EE26-A32E-B101-088F0913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149E-560F-457C-A0C1-CAFADB9EB4C8}" type="datetime1">
              <a:rPr lang="ru-RU" smtClean="0"/>
              <a:t>10.04.2025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810ABB-1CEE-E412-5FE8-0A659589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2804A4-C792-AB52-DC1E-EB05B235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89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06904-1206-EDD0-2F20-D94A0898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3BBDE4-A6F4-C3A0-85D6-B3236C6F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35124B-8CB8-82E4-7C3B-B9E5E01C4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F698A7-A8ED-20C5-118E-41C8EAEA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A8C10-EF3D-4CBB-B4B6-346F8EE52AF0}" type="datetime1">
              <a:rPr lang="ru-RU" smtClean="0"/>
              <a:t>10.04.2025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A83045-966B-696B-132B-EA824E07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7A7FEB-586D-FC51-69B3-EBFDDED7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92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507F9-12DB-FA07-D7F4-926A567B6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CA48B0-3FB2-A6AB-E2D4-4661B2455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F8F496-9D57-AD1E-81A2-C6B5DBC4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4898-C725-488D-87AF-A60B86485263}" type="datetime1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F7519A-8C25-BEA4-25EA-3135477D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FB2F1-DF05-EE4C-CC9F-C9E40C6E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97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BE3481-2E67-1F19-BF0D-0107FC37E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33A155-9D10-7C5E-5B33-8E7CDF01D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62DDEF-C89B-0398-96FD-DCCCF7E87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0B4DB-3C3A-409D-93DB-F1E8CA25DA02}" type="datetime1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251BF3-B17C-CEF7-B09B-BE05488D8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FBD24E-EBB8-934D-8A81-73AE07AB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94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73BE4-A167-D7A2-0AA5-77575C5E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B6D8E1-E941-CC57-4BED-C935C20EB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20A5B-CDC2-7B95-5C24-CC991497E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8A518-E6B7-4F1F-9B50-28160AEFAECA}" type="datetime1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314067-D9BE-3554-FEC9-64ED81E25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30B248-0FF9-BAC0-5121-E595F7090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6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icomplexa/PlacentaCancer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ГБОУ ВО &quot;Северный государственный университет&quot; г.Архангельск ::. Новости">
            <a:extLst>
              <a:ext uri="{FF2B5EF4-FFF2-40B4-BE49-F238E27FC236}">
                <a16:creationId xmlns:a16="http://schemas.microsoft.com/office/drawing/2014/main" id="{327CC5FF-FD57-DF4D-9B1E-82AA0DB4E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73459"/>
            <a:ext cx="1181100" cy="1204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67A33-CC60-FB2C-2F08-F86BE2F98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264" y="1245777"/>
            <a:ext cx="11257472" cy="3165894"/>
          </a:xfrm>
        </p:spPr>
        <p:txBody>
          <a:bodyPr>
            <a:normAutofit fontScale="90000"/>
          </a:bodyPr>
          <a:lstStyle/>
          <a:p>
            <a:r>
              <a:rPr lang="ru-RU" dirty="0"/>
              <a:t>Влияние пола эмбриона на риск формирования </a:t>
            </a:r>
            <a:r>
              <a:rPr lang="ru-RU" dirty="0" err="1"/>
              <a:t>хориокарциномы</a:t>
            </a:r>
            <a:r>
              <a:rPr lang="ru-RU" dirty="0"/>
              <a:t> и тяжесть течения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3A6DA0-63B5-3723-258C-12B44DCA7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000" y="4512463"/>
            <a:ext cx="11520000" cy="2069499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b="1" dirty="0"/>
              <a:t>Авторы</a:t>
            </a:r>
            <a:r>
              <a:rPr lang="ru-RU" dirty="0"/>
              <a:t>:</a:t>
            </a:r>
          </a:p>
          <a:p>
            <a:pPr algn="r"/>
            <a:r>
              <a:rPr lang="ru-RU" dirty="0"/>
              <a:t>3 курс лечебный факультет</a:t>
            </a:r>
          </a:p>
          <a:p>
            <a:pPr algn="r"/>
            <a:r>
              <a:rPr lang="ru-RU" dirty="0" err="1"/>
              <a:t>Зоболев</a:t>
            </a:r>
            <a:r>
              <a:rPr lang="ru-RU" dirty="0"/>
              <a:t> А.В.</a:t>
            </a:r>
          </a:p>
          <a:p>
            <a:pPr algn="r"/>
            <a:r>
              <a:rPr lang="ru-RU" dirty="0"/>
              <a:t>Ладыгин М.Е.</a:t>
            </a:r>
          </a:p>
          <a:p>
            <a:pPr algn="r"/>
            <a:r>
              <a:rPr lang="ru-RU" b="1" dirty="0"/>
              <a:t>Руководитель</a:t>
            </a:r>
            <a:r>
              <a:rPr lang="ru-RU" dirty="0"/>
              <a:t>:</a:t>
            </a:r>
          </a:p>
          <a:p>
            <a:pPr algn="r"/>
            <a:r>
              <a:rPr lang="ru-RU" dirty="0"/>
              <a:t>к.м.н. доцент Лебединцева Е.А.</a:t>
            </a:r>
          </a:p>
          <a:p>
            <a:pPr algn="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2ACC43-5F5D-4825-5A2D-B6F5FCD080D1}"/>
              </a:ext>
            </a:extLst>
          </p:cNvPr>
          <p:cNvSpPr txBox="1"/>
          <p:nvPr/>
        </p:nvSpPr>
        <p:spPr>
          <a:xfrm>
            <a:off x="990600" y="112143"/>
            <a:ext cx="99345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Федеральное государственное </a:t>
            </a:r>
            <a:r>
              <a:rPr lang="ru-RU" dirty="0" err="1"/>
              <a:t>бюджетноеобразовательное</a:t>
            </a:r>
            <a:r>
              <a:rPr lang="ru-RU" dirty="0"/>
              <a:t> учреждение высшего образования</a:t>
            </a:r>
          </a:p>
          <a:p>
            <a:pPr algn="ctr"/>
            <a:r>
              <a:rPr lang="ru-RU" dirty="0"/>
              <a:t>«Северный государственный медицинский университет»</a:t>
            </a:r>
          </a:p>
          <a:p>
            <a:pPr algn="ctr"/>
            <a:r>
              <a:rPr lang="ru-RU" dirty="0"/>
              <a:t>Министерства здравоохранения Российской Федерации 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C94F67E-E4A5-E232-68BD-8F11D48A3874}"/>
              </a:ext>
            </a:extLst>
          </p:cNvPr>
          <p:cNvCxnSpPr>
            <a:cxnSpLocks/>
          </p:cNvCxnSpPr>
          <p:nvPr/>
        </p:nvCxnSpPr>
        <p:spPr>
          <a:xfrm>
            <a:off x="336000" y="4411823"/>
            <a:ext cx="11520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7DF2451-15FB-F8C3-C7D3-1FEC2F65D926}"/>
              </a:ext>
            </a:extLst>
          </p:cNvPr>
          <p:cNvCxnSpPr>
            <a:cxnSpLocks/>
          </p:cNvCxnSpPr>
          <p:nvPr/>
        </p:nvCxnSpPr>
        <p:spPr>
          <a:xfrm>
            <a:off x="336000" y="1346570"/>
            <a:ext cx="11520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08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9194B0-C28A-A5D0-5EF4-92F67C354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053" y="1413851"/>
            <a:ext cx="6619947" cy="4563438"/>
          </a:xfrm>
          <a:prstGeom prst="rect">
            <a:avLst/>
          </a:prstGeom>
          <a:solidFill>
            <a:srgbClr val="E5DFD2">
              <a:alpha val="0"/>
            </a:srgbClr>
          </a:solidFill>
          <a:ln w="28575"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62B15-9C63-729D-FC10-967C42EF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3" y="229944"/>
            <a:ext cx="8546432" cy="1183907"/>
          </a:xfrm>
        </p:spPr>
        <p:txBody>
          <a:bodyPr>
            <a:normAutofit/>
          </a:bodyPr>
          <a:lstStyle/>
          <a:p>
            <a:pPr algn="ctr"/>
            <a:r>
              <a:rPr lang="ru-RU" sz="7200" dirty="0" err="1"/>
              <a:t>Хориокарцинома</a:t>
            </a:r>
            <a:endParaRPr lang="ru-RU" sz="7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75E6D-D344-3A00-D717-8DB12A9EDABE}"/>
              </a:ext>
            </a:extLst>
          </p:cNvPr>
          <p:cNvSpPr txBox="1"/>
          <p:nvPr/>
        </p:nvSpPr>
        <p:spPr>
          <a:xfrm>
            <a:off x="424313" y="2090172"/>
            <a:ext cx="54268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/>
              <a:t>разновидность </a:t>
            </a:r>
            <a:r>
              <a:rPr lang="ru-RU" sz="2800" b="1" dirty="0" err="1"/>
              <a:t>гестационной</a:t>
            </a:r>
            <a:r>
              <a:rPr lang="ru-RU" sz="2800" b="1" dirty="0"/>
              <a:t> </a:t>
            </a:r>
            <a:r>
              <a:rPr lang="ru-RU" sz="2800" b="1" dirty="0" err="1"/>
              <a:t>трофобластической</a:t>
            </a:r>
            <a:r>
              <a:rPr lang="en-US" sz="2800" b="1" dirty="0"/>
              <a:t> </a:t>
            </a:r>
            <a:r>
              <a:rPr lang="ru-RU" sz="2800" b="1" dirty="0"/>
              <a:t>болезни, злокачественная неоплазия </a:t>
            </a:r>
            <a:r>
              <a:rPr lang="ru-RU" sz="2800" b="1" dirty="0" err="1"/>
              <a:t>трофобластической</a:t>
            </a:r>
            <a:r>
              <a:rPr lang="ru-RU" sz="2800" b="1" dirty="0"/>
              <a:t> ткани с элементами как </a:t>
            </a:r>
            <a:r>
              <a:rPr lang="ru-RU" sz="2800" b="1" dirty="0" err="1"/>
              <a:t>синцитио</a:t>
            </a:r>
            <a:r>
              <a:rPr lang="ru-RU" sz="2800" b="1" dirty="0"/>
              <a:t>-, и </a:t>
            </a:r>
            <a:r>
              <a:rPr lang="ru-RU" sz="2800" b="1" dirty="0" err="1"/>
              <a:t>цитотрофобласта</a:t>
            </a:r>
            <a:endParaRPr lang="ru-RU" sz="2800" b="1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C5BD786-3713-DE4B-10A7-67BCEA387269}"/>
              </a:ext>
            </a:extLst>
          </p:cNvPr>
          <p:cNvCxnSpPr>
            <a:cxnSpLocks/>
          </p:cNvCxnSpPr>
          <p:nvPr/>
        </p:nvCxnSpPr>
        <p:spPr>
          <a:xfrm>
            <a:off x="347313" y="2223436"/>
            <a:ext cx="0" cy="245444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FD3D60A-5588-1217-9A0A-5F59932C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800" smtClean="0"/>
              <a:t>2</a:t>
            </a:fld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92733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1BA0B-4A4A-DA6A-97FC-B6F3DD99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77" y="0"/>
            <a:ext cx="11680723" cy="1333500"/>
          </a:xfrm>
        </p:spPr>
        <p:txBody>
          <a:bodyPr>
            <a:normAutofit/>
          </a:bodyPr>
          <a:lstStyle/>
          <a:p>
            <a:r>
              <a:rPr lang="ru-RU" sz="7200" dirty="0"/>
              <a:t>Эпидемиология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0D14D1-434B-8D68-E15E-A0A42B0F50A9}"/>
              </a:ext>
            </a:extLst>
          </p:cNvPr>
          <p:cNvSpPr txBox="1"/>
          <p:nvPr/>
        </p:nvSpPr>
        <p:spPr>
          <a:xfrm>
            <a:off x="409677" y="1041112"/>
            <a:ext cx="118950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accent1"/>
                </a:solidFill>
              </a:rPr>
              <a:t>встречается редко, но агрессивная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E08C6-1B5A-8B57-57FF-1B8184B61806}"/>
              </a:ext>
            </a:extLst>
          </p:cNvPr>
          <p:cNvSpPr txBox="1"/>
          <p:nvPr/>
        </p:nvSpPr>
        <p:spPr>
          <a:xfrm>
            <a:off x="0" y="6488668"/>
            <a:ext cx="4063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(Сангинов </a:t>
            </a:r>
            <a:r>
              <a:rPr lang="en-US" dirty="0">
                <a:solidFill>
                  <a:schemeClr val="tx2"/>
                </a:solidFill>
              </a:rPr>
              <a:t>et al. 2019; </a:t>
            </a:r>
            <a:r>
              <a:rPr lang="da-DK" dirty="0">
                <a:solidFill>
                  <a:schemeClr val="tx2"/>
                </a:solidFill>
              </a:rPr>
              <a:t>И.а et al. 2017</a:t>
            </a:r>
            <a:r>
              <a:rPr lang="en-US" dirty="0">
                <a:solidFill>
                  <a:schemeClr val="tx2"/>
                </a:solidFill>
              </a:rPr>
              <a:t>)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29" name="Объект 28">
            <a:extLst>
              <a:ext uri="{FF2B5EF4-FFF2-40B4-BE49-F238E27FC236}">
                <a16:creationId xmlns:a16="http://schemas.microsoft.com/office/drawing/2014/main" id="{AFED94DE-3722-4DE2-0210-FE084459FE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4703685"/>
              </p:ext>
            </p:extLst>
          </p:nvPr>
        </p:nvGraphicFramePr>
        <p:xfrm>
          <a:off x="409677" y="1825624"/>
          <a:ext cx="11227266" cy="46630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6AB5F7-9A82-5C3B-203E-7ECF6555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-27131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800" smtClean="0"/>
              <a:t>3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2443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D78D7-F6D6-527D-E7E0-B84D6DCD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14" y="117263"/>
            <a:ext cx="11781972" cy="1524000"/>
          </a:xfrm>
        </p:spPr>
        <p:txBody>
          <a:bodyPr>
            <a:normAutofit/>
          </a:bodyPr>
          <a:lstStyle/>
          <a:p>
            <a:pPr algn="r"/>
            <a:r>
              <a:rPr lang="ru-RU" sz="7200" dirty="0" err="1"/>
              <a:t>Хориокарцинома</a:t>
            </a:r>
            <a:endParaRPr lang="ru-RU" sz="6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43A6E0-91E5-510E-E8C1-B99C9ACA822D}"/>
              </a:ext>
            </a:extLst>
          </p:cNvPr>
          <p:cNvSpPr txBox="1"/>
          <p:nvPr/>
        </p:nvSpPr>
        <p:spPr>
          <a:xfrm>
            <a:off x="205014" y="1296177"/>
            <a:ext cx="117819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4000" b="1" dirty="0">
                <a:solidFill>
                  <a:schemeClr val="accent1"/>
                </a:solidFill>
              </a:rPr>
              <a:t>— наиболее злокачественная неоплазия </a:t>
            </a:r>
            <a:r>
              <a:rPr lang="ru-RU" sz="4000" b="1" dirty="0" err="1">
                <a:solidFill>
                  <a:schemeClr val="accent1"/>
                </a:solidFill>
              </a:rPr>
              <a:t>трофобластической</a:t>
            </a:r>
            <a:r>
              <a:rPr lang="ru-RU" sz="4000" b="1" dirty="0">
                <a:solidFill>
                  <a:schemeClr val="accent1"/>
                </a:solidFill>
              </a:rPr>
              <a:t> ткани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83F1C3-E556-23DE-5A87-29E0C59F90D5}"/>
              </a:ext>
            </a:extLst>
          </p:cNvPr>
          <p:cNvSpPr txBox="1"/>
          <p:nvPr/>
        </p:nvSpPr>
        <p:spPr>
          <a:xfrm>
            <a:off x="0" y="6488668"/>
            <a:ext cx="10432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(Horowitz et al. 2021; Jiao et al. 2016; Stabile et al. 2023</a:t>
            </a:r>
            <a:r>
              <a:rPr lang="ru-RU" dirty="0">
                <a:solidFill>
                  <a:schemeClr val="tx2"/>
                </a:solidFill>
              </a:rPr>
              <a:t>; </a:t>
            </a:r>
            <a:r>
              <a:rPr lang="en-US" dirty="0">
                <a:solidFill>
                  <a:schemeClr val="tx2"/>
                </a:solidFill>
              </a:rPr>
              <a:t>Amalina et al. 2023</a:t>
            </a:r>
            <a:r>
              <a:rPr lang="ru-RU" dirty="0">
                <a:solidFill>
                  <a:schemeClr val="tx2"/>
                </a:solidFill>
              </a:rPr>
              <a:t>; Сангинов </a:t>
            </a:r>
            <a:r>
              <a:rPr lang="en-US" dirty="0">
                <a:solidFill>
                  <a:schemeClr val="tx2"/>
                </a:solidFill>
              </a:rPr>
              <a:t>et al. 2019)</a:t>
            </a:r>
            <a:endParaRPr lang="ru-RU" dirty="0">
              <a:solidFill>
                <a:schemeClr val="tx2"/>
              </a:solidFill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94BED51-5102-4078-8016-AA292F65B65F}"/>
              </a:ext>
            </a:extLst>
          </p:cNvPr>
          <p:cNvGrpSpPr/>
          <p:nvPr/>
        </p:nvGrpSpPr>
        <p:grpSpPr>
          <a:xfrm>
            <a:off x="535713" y="3903971"/>
            <a:ext cx="8597900" cy="646331"/>
            <a:chOff x="535713" y="5206187"/>
            <a:chExt cx="8597900" cy="64633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A76F833-6291-D5E5-4B89-2FC3AA8628BC}"/>
                </a:ext>
              </a:extLst>
            </p:cNvPr>
            <p:cNvSpPr txBox="1"/>
            <p:nvPr/>
          </p:nvSpPr>
          <p:spPr>
            <a:xfrm>
              <a:off x="992913" y="5206187"/>
              <a:ext cx="81407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3600" dirty="0"/>
                <a:t>Метастатический потенциал</a:t>
              </a:r>
            </a:p>
          </p:txBody>
        </p:sp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AE85EEC5-3A5A-13BF-772D-4367F951366E}"/>
                </a:ext>
              </a:extLst>
            </p:cNvPr>
            <p:cNvGrpSpPr/>
            <p:nvPr/>
          </p:nvGrpSpPr>
          <p:grpSpPr>
            <a:xfrm>
              <a:off x="535713" y="5281002"/>
              <a:ext cx="476250" cy="476950"/>
              <a:chOff x="535713" y="5281002"/>
              <a:chExt cx="476250" cy="476950"/>
            </a:xfrm>
          </p:grpSpPr>
          <p:sp>
            <p:nvSpPr>
              <p:cNvPr id="45" name="Прямоугольник: скругленные углы 44">
                <a:extLst>
                  <a:ext uri="{FF2B5EF4-FFF2-40B4-BE49-F238E27FC236}">
                    <a16:creationId xmlns:a16="http://schemas.microsoft.com/office/drawing/2014/main" id="{DB27956A-433F-6326-60BD-E9DA87214345}"/>
                  </a:ext>
                </a:extLst>
              </p:cNvPr>
              <p:cNvSpPr/>
              <p:nvPr/>
            </p:nvSpPr>
            <p:spPr>
              <a:xfrm>
                <a:off x="535713" y="5300752"/>
                <a:ext cx="457200" cy="457200"/>
              </a:xfrm>
              <a:prstGeom prst="roundRect">
                <a:avLst>
                  <a:gd name="adj" fmla="val 2666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49" name="Рисунок 48" descr="Статистика со сплошной заливкой">
                <a:extLst>
                  <a:ext uri="{FF2B5EF4-FFF2-40B4-BE49-F238E27FC236}">
                    <a16:creationId xmlns:a16="http://schemas.microsoft.com/office/drawing/2014/main" id="{C93C95C2-5CCD-FE05-97D8-E7352638B4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24407" b="21684"/>
              <a:stretch/>
            </p:blipFill>
            <p:spPr>
              <a:xfrm>
                <a:off x="590156" y="5281002"/>
                <a:ext cx="421807" cy="437004"/>
              </a:xfrm>
              <a:prstGeom prst="rect">
                <a:avLst/>
              </a:prstGeom>
            </p:spPr>
          </p:pic>
        </p:grp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49F9D3E-CCFC-8B1D-93F8-3BCAC91BFD5C}"/>
              </a:ext>
            </a:extLst>
          </p:cNvPr>
          <p:cNvGrpSpPr/>
          <p:nvPr/>
        </p:nvGrpSpPr>
        <p:grpSpPr>
          <a:xfrm>
            <a:off x="535713" y="2913563"/>
            <a:ext cx="9385300" cy="646331"/>
            <a:chOff x="535713" y="2913563"/>
            <a:chExt cx="9385300" cy="64633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FBB6D8F-9CF4-4ED5-17EB-D7342EE9C792}"/>
                </a:ext>
              </a:extLst>
            </p:cNvPr>
            <p:cNvSpPr txBox="1"/>
            <p:nvPr/>
          </p:nvSpPr>
          <p:spPr>
            <a:xfrm>
              <a:off x="992913" y="2913563"/>
              <a:ext cx="8928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/>
                <a:t>Быстрое прогрессирование</a:t>
              </a:r>
            </a:p>
          </p:txBody>
        </p:sp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52B31090-D7BB-0AE0-DE8E-78217470A6B3}"/>
                </a:ext>
              </a:extLst>
            </p:cNvPr>
            <p:cNvGrpSpPr/>
            <p:nvPr/>
          </p:nvGrpSpPr>
          <p:grpSpPr>
            <a:xfrm>
              <a:off x="535713" y="3004289"/>
              <a:ext cx="457200" cy="457200"/>
              <a:chOff x="535713" y="3004289"/>
              <a:chExt cx="457200" cy="457200"/>
            </a:xfrm>
          </p:grpSpPr>
          <p:sp>
            <p:nvSpPr>
              <p:cNvPr id="43" name="Прямоугольник: скругленные углы 42">
                <a:extLst>
                  <a:ext uri="{FF2B5EF4-FFF2-40B4-BE49-F238E27FC236}">
                    <a16:creationId xmlns:a16="http://schemas.microsoft.com/office/drawing/2014/main" id="{147C6824-2C7F-EEA1-5ED2-A690F4DCAA4C}"/>
                  </a:ext>
                </a:extLst>
              </p:cNvPr>
              <p:cNvSpPr/>
              <p:nvPr/>
            </p:nvSpPr>
            <p:spPr>
              <a:xfrm>
                <a:off x="535713" y="3004289"/>
                <a:ext cx="457200" cy="457200"/>
              </a:xfrm>
              <a:prstGeom prst="roundRect">
                <a:avLst>
                  <a:gd name="adj" fmla="val 2666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53" name="Рисунок 52" descr="Диаграмма с подъемом со сплошной заливкой">
                <a:extLst>
                  <a:ext uri="{FF2B5EF4-FFF2-40B4-BE49-F238E27FC236}">
                    <a16:creationId xmlns:a16="http://schemas.microsoft.com/office/drawing/2014/main" id="{C80327E7-148A-4CCD-2873-A686D983FE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21275" b="22660"/>
              <a:stretch/>
            </p:blipFill>
            <p:spPr>
              <a:xfrm>
                <a:off x="613138" y="3049380"/>
                <a:ext cx="341744" cy="335728"/>
              </a:xfrm>
              <a:prstGeom prst="rect">
                <a:avLst/>
              </a:prstGeom>
            </p:spPr>
          </p:pic>
        </p:grp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7DD6061-AFC2-28F3-0A84-7BDFF5DE08D1}"/>
              </a:ext>
            </a:extLst>
          </p:cNvPr>
          <p:cNvGrpSpPr/>
          <p:nvPr/>
        </p:nvGrpSpPr>
        <p:grpSpPr>
          <a:xfrm>
            <a:off x="535713" y="4902059"/>
            <a:ext cx="8597900" cy="916846"/>
            <a:chOff x="535713" y="4902059"/>
            <a:chExt cx="8597900" cy="9168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90E564-7D29-614F-5130-679C4E3B9B0F}"/>
                </a:ext>
              </a:extLst>
            </p:cNvPr>
            <p:cNvSpPr txBox="1"/>
            <p:nvPr/>
          </p:nvSpPr>
          <p:spPr>
            <a:xfrm>
              <a:off x="992913" y="4902059"/>
              <a:ext cx="6223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3600" dirty="0" err="1"/>
                <a:t>Интраплацентарная</a:t>
              </a:r>
              <a:r>
                <a:rPr lang="ru-RU" sz="3600" dirty="0"/>
                <a:t> форма</a:t>
              </a:r>
            </a:p>
          </p:txBody>
        </p:sp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3703F1F0-36F7-575B-4489-FC7C51F8CE9E}"/>
                </a:ext>
              </a:extLst>
            </p:cNvPr>
            <p:cNvGrpSpPr/>
            <p:nvPr/>
          </p:nvGrpSpPr>
          <p:grpSpPr>
            <a:xfrm>
              <a:off x="535713" y="4992785"/>
              <a:ext cx="457200" cy="461039"/>
              <a:chOff x="535713" y="4150601"/>
              <a:chExt cx="457200" cy="461039"/>
            </a:xfrm>
          </p:grpSpPr>
          <p:sp>
            <p:nvSpPr>
              <p:cNvPr id="44" name="Прямоугольник: скругленные углы 43">
                <a:extLst>
                  <a:ext uri="{FF2B5EF4-FFF2-40B4-BE49-F238E27FC236}">
                    <a16:creationId xmlns:a16="http://schemas.microsoft.com/office/drawing/2014/main" id="{6643C921-3B44-0DA7-E50A-B624E4754987}"/>
                  </a:ext>
                </a:extLst>
              </p:cNvPr>
              <p:cNvSpPr/>
              <p:nvPr/>
            </p:nvSpPr>
            <p:spPr>
              <a:xfrm>
                <a:off x="535713" y="4154440"/>
                <a:ext cx="457200" cy="457200"/>
              </a:xfrm>
              <a:prstGeom prst="roundRect">
                <a:avLst>
                  <a:gd name="adj" fmla="val 2666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51" name="Рисунок 50" descr="Диаграмма Венна со сплошной заливкой">
                <a:extLst>
                  <a:ext uri="{FF2B5EF4-FFF2-40B4-BE49-F238E27FC236}">
                    <a16:creationId xmlns:a16="http://schemas.microsoft.com/office/drawing/2014/main" id="{1DB4714D-767F-EA69-A05C-C4D6EA07CC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5713" y="4150601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290D45-9AD2-DD3E-525C-9618363F6F55}"/>
                </a:ext>
              </a:extLst>
            </p:cNvPr>
            <p:cNvSpPr txBox="1"/>
            <p:nvPr/>
          </p:nvSpPr>
          <p:spPr>
            <a:xfrm>
              <a:off x="1011963" y="5449573"/>
              <a:ext cx="81216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/>
                <a:t>Встречается в 2,3% случаев, летальность новорожденных — 36,8% </a:t>
              </a:r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A958E9-D61A-3AE6-A27D-43CFA5AF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800" smtClean="0"/>
              <a:t>4</a:t>
            </a:fld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26718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E81ED-7406-2333-CBD0-43240BFBC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sz="7200" dirty="0"/>
              <a:t>Факторы риска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0C2DD-0598-F777-2CBE-9DB0BA04283E}"/>
              </a:ext>
            </a:extLst>
          </p:cNvPr>
          <p:cNvSpPr txBox="1"/>
          <p:nvPr/>
        </p:nvSpPr>
        <p:spPr>
          <a:xfrm>
            <a:off x="0" y="1371345"/>
            <a:ext cx="6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accent1"/>
                </a:solidFill>
                <a:latin typeface="+mj-lt"/>
              </a:rPr>
              <a:t>Возраст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973F6-A8CA-DCC4-85EF-232341CA0E33}"/>
              </a:ext>
            </a:extLst>
          </p:cNvPr>
          <p:cNvSpPr txBox="1"/>
          <p:nvPr/>
        </p:nvSpPr>
        <p:spPr>
          <a:xfrm>
            <a:off x="5994402" y="1059362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accent1"/>
                </a:solidFill>
                <a:latin typeface="+mj-lt"/>
              </a:rPr>
              <a:t>Осложнения беременности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E2296-67CE-E776-F617-5757202467C6}"/>
              </a:ext>
            </a:extLst>
          </p:cNvPr>
          <p:cNvSpPr txBox="1"/>
          <p:nvPr/>
        </p:nvSpPr>
        <p:spPr>
          <a:xfrm>
            <a:off x="717081" y="2400787"/>
            <a:ext cx="508695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</a:t>
            </a:r>
            <a:r>
              <a:rPr lang="ru-RU" sz="2400" dirty="0"/>
              <a:t>озраст матери более 40 лет</a:t>
            </a:r>
            <a:r>
              <a:rPr lang="en-US" sz="2400" dirty="0"/>
              <a:t> </a:t>
            </a:r>
            <a:r>
              <a:rPr lang="ru-RU" sz="2400" dirty="0"/>
              <a:t>увеличивает риск развития на фоне нормальной </a:t>
            </a:r>
            <a:r>
              <a:rPr lang="ru-RU" sz="2400" dirty="0" err="1"/>
              <a:t>беремености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8CE8F-05D3-FB03-7CEF-3755CF01D0A3}"/>
              </a:ext>
            </a:extLst>
          </p:cNvPr>
          <p:cNvSpPr txBox="1"/>
          <p:nvPr/>
        </p:nvSpPr>
        <p:spPr>
          <a:xfrm>
            <a:off x="717081" y="4469877"/>
            <a:ext cx="50869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странах СНГ наибольшая частота в возрасте 25–29 лет - 0.38 на 100 тыс. </a:t>
            </a:r>
            <a:endParaRPr lang="en-US" sz="2400" dirty="0"/>
          </a:p>
          <a:p>
            <a:r>
              <a:rPr lang="en-US" sz="1400" dirty="0">
                <a:solidFill>
                  <a:schemeClr val="tx2"/>
                </a:solidFill>
              </a:rPr>
              <a:t>(</a:t>
            </a:r>
            <a:r>
              <a:rPr lang="da-DK" sz="1400" dirty="0">
                <a:solidFill>
                  <a:schemeClr val="tx2"/>
                </a:solidFill>
              </a:rPr>
              <a:t>И.а et al. 2017</a:t>
            </a:r>
            <a:r>
              <a:rPr lang="en-US" sz="1400" dirty="0">
                <a:solidFill>
                  <a:schemeClr val="tx2"/>
                </a:solidFill>
              </a:rPr>
              <a:t>)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1E912-4E03-A6B2-F634-D4F1C92EBC6F}"/>
              </a:ext>
            </a:extLst>
          </p:cNvPr>
          <p:cNvSpPr txBox="1"/>
          <p:nvPr/>
        </p:nvSpPr>
        <p:spPr>
          <a:xfrm>
            <a:off x="717081" y="3613835"/>
            <a:ext cx="6143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2"/>
                </a:solidFill>
              </a:rPr>
              <a:t>(</a:t>
            </a:r>
            <a:r>
              <a:rPr lang="en-US" sz="1400" dirty="0">
                <a:solidFill>
                  <a:schemeClr val="tx2"/>
                </a:solidFill>
              </a:rPr>
              <a:t>Horowitz et al. 2021; Savage et al. 2020; Amalina et al. 2023)</a:t>
            </a:r>
            <a:endParaRPr lang="ru-RU" sz="2000" dirty="0">
              <a:solidFill>
                <a:schemeClr val="tx2"/>
              </a:solidFill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97FFC8A-824A-CD91-73E5-6AD7B9D93D5E}"/>
              </a:ext>
            </a:extLst>
          </p:cNvPr>
          <p:cNvCxnSpPr/>
          <p:nvPr/>
        </p:nvCxnSpPr>
        <p:spPr>
          <a:xfrm>
            <a:off x="685800" y="2506980"/>
            <a:ext cx="0" cy="113283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07A775E-C0F9-0D4D-F929-E08D98255BA8}"/>
              </a:ext>
            </a:extLst>
          </p:cNvPr>
          <p:cNvCxnSpPr/>
          <p:nvPr/>
        </p:nvCxnSpPr>
        <p:spPr>
          <a:xfrm>
            <a:off x="685800" y="4554211"/>
            <a:ext cx="0" cy="113283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31D37EE6-A998-20CE-D9E2-60D79AD52103}"/>
              </a:ext>
            </a:extLst>
          </p:cNvPr>
          <p:cNvGrpSpPr/>
          <p:nvPr/>
        </p:nvGrpSpPr>
        <p:grpSpPr>
          <a:xfrm>
            <a:off x="6217919" y="2470800"/>
            <a:ext cx="5177342" cy="830997"/>
            <a:chOff x="6217918" y="2400787"/>
            <a:chExt cx="5361271" cy="83099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BEBF49-95F5-2666-91F2-E3FA1C74F266}"/>
                </a:ext>
              </a:extLst>
            </p:cNvPr>
            <p:cNvSpPr txBox="1"/>
            <p:nvPr/>
          </p:nvSpPr>
          <p:spPr>
            <a:xfrm>
              <a:off x="6285295" y="2400787"/>
              <a:ext cx="52938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/>
                <a:t>Осложненная беременность – основной риск фактор</a:t>
              </a:r>
            </a:p>
          </p:txBody>
        </p: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DC8117EB-F2D3-79EF-3D93-BB83804E01EE}"/>
                </a:ext>
              </a:extLst>
            </p:cNvPr>
            <p:cNvCxnSpPr>
              <a:cxnSpLocks/>
            </p:cNvCxnSpPr>
            <p:nvPr/>
          </p:nvCxnSpPr>
          <p:spPr>
            <a:xfrm>
              <a:off x="6217918" y="2440895"/>
              <a:ext cx="0" cy="75078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A96D381-E901-59B5-7525-C99B6DFB5433}"/>
              </a:ext>
            </a:extLst>
          </p:cNvPr>
          <p:cNvGrpSpPr/>
          <p:nvPr/>
        </p:nvGrpSpPr>
        <p:grpSpPr>
          <a:xfrm>
            <a:off x="6217919" y="3705043"/>
            <a:ext cx="5467042" cy="461665"/>
            <a:chOff x="6225937" y="3556995"/>
            <a:chExt cx="5661263" cy="46166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F13C55E-4A68-033B-72D8-77AC8DD40D22}"/>
                </a:ext>
              </a:extLst>
            </p:cNvPr>
            <p:cNvSpPr txBox="1"/>
            <p:nvPr/>
          </p:nvSpPr>
          <p:spPr>
            <a:xfrm>
              <a:off x="6285295" y="3556995"/>
              <a:ext cx="56019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/>
                <a:t>75% случаев – на фоне осложнений</a:t>
              </a:r>
            </a:p>
          </p:txBody>
        </p: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FCE1CE6F-0F24-B7E5-A9A5-69D4C8D3BA52}"/>
                </a:ext>
              </a:extLst>
            </p:cNvPr>
            <p:cNvCxnSpPr>
              <a:cxnSpLocks/>
            </p:cNvCxnSpPr>
            <p:nvPr/>
          </p:nvCxnSpPr>
          <p:spPr>
            <a:xfrm>
              <a:off x="6225937" y="3613835"/>
              <a:ext cx="0" cy="404825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E19B6A42-0FAD-45AF-AB95-ECE426B8826D}"/>
              </a:ext>
            </a:extLst>
          </p:cNvPr>
          <p:cNvGrpSpPr/>
          <p:nvPr/>
        </p:nvGrpSpPr>
        <p:grpSpPr>
          <a:xfrm>
            <a:off x="6217919" y="4374729"/>
            <a:ext cx="5872483" cy="1384995"/>
            <a:chOff x="6217918" y="4469877"/>
            <a:chExt cx="6081107" cy="138499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AAB632-47E1-E35B-34D9-946272BD3004}"/>
                </a:ext>
              </a:extLst>
            </p:cNvPr>
            <p:cNvSpPr txBox="1"/>
            <p:nvPr/>
          </p:nvSpPr>
          <p:spPr>
            <a:xfrm>
              <a:off x="6285296" y="4469877"/>
              <a:ext cx="601372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/>
                <a:t>В том числе: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ru-RU" sz="2000" dirty="0"/>
                <a:t>Внематочная беременность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ru-RU" sz="2000" dirty="0"/>
                <a:t>Самопроизвольное прерывание </a:t>
              </a:r>
              <a:r>
                <a:rPr lang="ru-RU" sz="2000" dirty="0" err="1"/>
                <a:t>гестации</a:t>
              </a:r>
              <a:endParaRPr lang="ru-RU" sz="20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ru-RU" sz="2000" dirty="0"/>
                <a:t>Пузырный занос</a:t>
              </a:r>
            </a:p>
          </p:txBody>
        </p: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BAD2722F-52CD-34F5-7F9E-B16D749CB97D}"/>
                </a:ext>
              </a:extLst>
            </p:cNvPr>
            <p:cNvCxnSpPr>
              <a:cxnSpLocks/>
            </p:cNvCxnSpPr>
            <p:nvPr/>
          </p:nvCxnSpPr>
          <p:spPr>
            <a:xfrm>
              <a:off x="6217918" y="4554211"/>
              <a:ext cx="0" cy="1220947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A189E3B-BD4A-342C-CB2F-A8D5C02F3102}"/>
              </a:ext>
            </a:extLst>
          </p:cNvPr>
          <p:cNvSpPr txBox="1"/>
          <p:nvPr/>
        </p:nvSpPr>
        <p:spPr>
          <a:xfrm>
            <a:off x="6217919" y="5687042"/>
            <a:ext cx="61457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(PDQ Adult Treatment Editorial Board 2002)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9ECAFB-A91C-3BAB-F73C-1772AF40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2124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5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1778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Колба со сплошной заливкой">
            <a:extLst>
              <a:ext uri="{FF2B5EF4-FFF2-40B4-BE49-F238E27FC236}">
                <a16:creationId xmlns:a16="http://schemas.microsoft.com/office/drawing/2014/main" id="{97E82A06-1E63-E820-164E-940A66822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-1180516"/>
            <a:ext cx="8174690" cy="81746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A473C-8813-16B4-3D1C-061D4CB8B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9760"/>
            <a:ext cx="6934200" cy="2147069"/>
          </a:xfrm>
        </p:spPr>
        <p:txBody>
          <a:bodyPr>
            <a:normAutofit fontScale="90000"/>
          </a:bodyPr>
          <a:lstStyle/>
          <a:p>
            <a:r>
              <a:rPr lang="ru-RU" sz="8000" dirty="0"/>
              <a:t>Гипотеза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EB0E9-B651-B3D6-6BE8-3DD572217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06829"/>
            <a:ext cx="6867525" cy="32701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4000" dirty="0">
                <a:solidFill>
                  <a:schemeClr val="accent1"/>
                </a:solidFill>
              </a:rPr>
              <a:t>Предполагаем наличие корреляции между рисками развития </a:t>
            </a:r>
            <a:r>
              <a:rPr lang="ru-RU" sz="4000" dirty="0" err="1">
                <a:solidFill>
                  <a:schemeClr val="accent1"/>
                </a:solidFill>
              </a:rPr>
              <a:t>хориокарциномы</a:t>
            </a:r>
            <a:r>
              <a:rPr lang="ru-RU" sz="4000" dirty="0">
                <a:solidFill>
                  <a:schemeClr val="accent1"/>
                </a:solidFill>
              </a:rPr>
              <a:t>, тяжестью ее течения и полом плода </a:t>
            </a:r>
          </a:p>
        </p:txBody>
      </p:sp>
      <p:sp>
        <p:nvSpPr>
          <p:cNvPr id="8" name="Рисунок 6" descr="ДНК со сплошной заливкой">
            <a:extLst>
              <a:ext uri="{FF2B5EF4-FFF2-40B4-BE49-F238E27FC236}">
                <a16:creationId xmlns:a16="http://schemas.microsoft.com/office/drawing/2014/main" id="{39C8F5B8-1083-B80B-D59C-EFE2549DC094}"/>
              </a:ext>
            </a:extLst>
          </p:cNvPr>
          <p:cNvSpPr/>
          <p:nvPr/>
        </p:nvSpPr>
        <p:spPr>
          <a:xfrm rot="2220819">
            <a:off x="9562885" y="4333018"/>
            <a:ext cx="1011968" cy="2023937"/>
          </a:xfrm>
          <a:custGeom>
            <a:avLst/>
            <a:gdLst>
              <a:gd name="connsiteX0" fmla="*/ 842541 w 842540"/>
              <a:gd name="connsiteY0" fmla="*/ 842541 h 1685081"/>
              <a:gd name="connsiteX1" fmla="*/ 541907 w 842540"/>
              <a:gd name="connsiteY1" fmla="*/ 421270 h 1685081"/>
              <a:gd name="connsiteX2" fmla="*/ 842541 w 842540"/>
              <a:gd name="connsiteY2" fmla="*/ 0 h 1685081"/>
              <a:gd name="connsiteX3" fmla="*/ 727649 w 842540"/>
              <a:gd name="connsiteY3" fmla="*/ 0 h 1685081"/>
              <a:gd name="connsiteX4" fmla="*/ 712330 w 842540"/>
              <a:gd name="connsiteY4" fmla="*/ 95743 h 1685081"/>
              <a:gd name="connsiteX5" fmla="*/ 130211 w 842540"/>
              <a:gd name="connsiteY5" fmla="*/ 95743 h 1685081"/>
              <a:gd name="connsiteX6" fmla="*/ 114892 w 842540"/>
              <a:gd name="connsiteY6" fmla="*/ 0 h 1685081"/>
              <a:gd name="connsiteX7" fmla="*/ 0 w 842540"/>
              <a:gd name="connsiteY7" fmla="*/ 0 h 1685081"/>
              <a:gd name="connsiteX8" fmla="*/ 300634 w 842540"/>
              <a:gd name="connsiteY8" fmla="*/ 421270 h 1685081"/>
              <a:gd name="connsiteX9" fmla="*/ 0 w 842540"/>
              <a:gd name="connsiteY9" fmla="*/ 842541 h 1685081"/>
              <a:gd name="connsiteX10" fmla="*/ 300634 w 842540"/>
              <a:gd name="connsiteY10" fmla="*/ 1265726 h 1685081"/>
              <a:gd name="connsiteX11" fmla="*/ 0 w 842540"/>
              <a:gd name="connsiteY11" fmla="*/ 1685082 h 1685081"/>
              <a:gd name="connsiteX12" fmla="*/ 114892 w 842540"/>
              <a:gd name="connsiteY12" fmla="*/ 1685082 h 1685081"/>
              <a:gd name="connsiteX13" fmla="*/ 130211 w 842540"/>
              <a:gd name="connsiteY13" fmla="*/ 1589339 h 1685081"/>
              <a:gd name="connsiteX14" fmla="*/ 712330 w 842540"/>
              <a:gd name="connsiteY14" fmla="*/ 1589339 h 1685081"/>
              <a:gd name="connsiteX15" fmla="*/ 727649 w 842540"/>
              <a:gd name="connsiteY15" fmla="*/ 1685082 h 1685081"/>
              <a:gd name="connsiteX16" fmla="*/ 842541 w 842540"/>
              <a:gd name="connsiteY16" fmla="*/ 1685082 h 1685081"/>
              <a:gd name="connsiteX17" fmla="*/ 541907 w 842540"/>
              <a:gd name="connsiteY17" fmla="*/ 1265726 h 1685081"/>
              <a:gd name="connsiteX18" fmla="*/ 842541 w 842540"/>
              <a:gd name="connsiteY18" fmla="*/ 842541 h 1685081"/>
              <a:gd name="connsiteX19" fmla="*/ 114892 w 842540"/>
              <a:gd name="connsiteY19" fmla="*/ 842541 h 1685081"/>
              <a:gd name="connsiteX20" fmla="*/ 130211 w 842540"/>
              <a:gd name="connsiteY20" fmla="*/ 746798 h 1685081"/>
              <a:gd name="connsiteX21" fmla="*/ 714245 w 842540"/>
              <a:gd name="connsiteY21" fmla="*/ 746798 h 1685081"/>
              <a:gd name="connsiteX22" fmla="*/ 729564 w 842540"/>
              <a:gd name="connsiteY22" fmla="*/ 842541 h 1685081"/>
              <a:gd name="connsiteX23" fmla="*/ 714245 w 842540"/>
              <a:gd name="connsiteY23" fmla="*/ 938284 h 1685081"/>
              <a:gd name="connsiteX24" fmla="*/ 130211 w 842540"/>
              <a:gd name="connsiteY24" fmla="*/ 938284 h 1685081"/>
              <a:gd name="connsiteX25" fmla="*/ 114892 w 842540"/>
              <a:gd name="connsiteY25" fmla="*/ 842541 h 1685081"/>
              <a:gd name="connsiteX26" fmla="*/ 202976 w 842540"/>
              <a:gd name="connsiteY26" fmla="*/ 210635 h 1685081"/>
              <a:gd name="connsiteX27" fmla="*/ 637650 w 842540"/>
              <a:gd name="connsiteY27" fmla="*/ 210635 h 1685081"/>
              <a:gd name="connsiteX28" fmla="*/ 419356 w 842540"/>
              <a:gd name="connsiteY28" fmla="*/ 356165 h 1685081"/>
              <a:gd name="connsiteX29" fmla="*/ 202976 w 842540"/>
              <a:gd name="connsiteY29" fmla="*/ 210635 h 1685081"/>
              <a:gd name="connsiteX30" fmla="*/ 421270 w 842540"/>
              <a:gd name="connsiteY30" fmla="*/ 486376 h 1685081"/>
              <a:gd name="connsiteX31" fmla="*/ 639565 w 842540"/>
              <a:gd name="connsiteY31" fmla="*/ 631906 h 1685081"/>
              <a:gd name="connsiteX32" fmla="*/ 202976 w 842540"/>
              <a:gd name="connsiteY32" fmla="*/ 631906 h 1685081"/>
              <a:gd name="connsiteX33" fmla="*/ 421270 w 842540"/>
              <a:gd name="connsiteY33" fmla="*/ 486376 h 1685081"/>
              <a:gd name="connsiteX34" fmla="*/ 421270 w 842540"/>
              <a:gd name="connsiteY34" fmla="*/ 1330832 h 1685081"/>
              <a:gd name="connsiteX35" fmla="*/ 637650 w 842540"/>
              <a:gd name="connsiteY35" fmla="*/ 1474447 h 1685081"/>
              <a:gd name="connsiteX36" fmla="*/ 204891 w 842540"/>
              <a:gd name="connsiteY36" fmla="*/ 1474447 h 1685081"/>
              <a:gd name="connsiteX37" fmla="*/ 421270 w 842540"/>
              <a:gd name="connsiteY37" fmla="*/ 1330832 h 1685081"/>
              <a:gd name="connsiteX38" fmla="*/ 421270 w 842540"/>
              <a:gd name="connsiteY38" fmla="*/ 1200621 h 1685081"/>
              <a:gd name="connsiteX39" fmla="*/ 201061 w 842540"/>
              <a:gd name="connsiteY39" fmla="*/ 1053176 h 1685081"/>
              <a:gd name="connsiteX40" fmla="*/ 641480 w 842540"/>
              <a:gd name="connsiteY40" fmla="*/ 1053176 h 1685081"/>
              <a:gd name="connsiteX41" fmla="*/ 421270 w 842540"/>
              <a:gd name="connsiteY41" fmla="*/ 1200621 h 1685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42540" h="1685081">
                <a:moveTo>
                  <a:pt x="842541" y="842541"/>
                </a:moveTo>
                <a:cubicBezTo>
                  <a:pt x="842541" y="624246"/>
                  <a:pt x="697011" y="509354"/>
                  <a:pt x="541907" y="421270"/>
                </a:cubicBezTo>
                <a:cubicBezTo>
                  <a:pt x="697011" y="331272"/>
                  <a:pt x="842541" y="218295"/>
                  <a:pt x="842541" y="0"/>
                </a:cubicBezTo>
                <a:lnTo>
                  <a:pt x="727649" y="0"/>
                </a:lnTo>
                <a:cubicBezTo>
                  <a:pt x="727649" y="34468"/>
                  <a:pt x="721904" y="67020"/>
                  <a:pt x="712330" y="95743"/>
                </a:cubicBezTo>
                <a:lnTo>
                  <a:pt x="130211" y="95743"/>
                </a:lnTo>
                <a:cubicBezTo>
                  <a:pt x="120637" y="67020"/>
                  <a:pt x="114892" y="34468"/>
                  <a:pt x="114892" y="0"/>
                </a:cubicBezTo>
                <a:lnTo>
                  <a:pt x="0" y="0"/>
                </a:lnTo>
                <a:cubicBezTo>
                  <a:pt x="0" y="218295"/>
                  <a:pt x="145530" y="331272"/>
                  <a:pt x="300634" y="421270"/>
                </a:cubicBezTo>
                <a:cubicBezTo>
                  <a:pt x="145530" y="509354"/>
                  <a:pt x="0" y="624246"/>
                  <a:pt x="0" y="842541"/>
                </a:cubicBezTo>
                <a:cubicBezTo>
                  <a:pt x="0" y="1062750"/>
                  <a:pt x="145530" y="1177642"/>
                  <a:pt x="300634" y="1265726"/>
                </a:cubicBezTo>
                <a:cubicBezTo>
                  <a:pt x="145530" y="1353810"/>
                  <a:pt x="0" y="1466787"/>
                  <a:pt x="0" y="1685082"/>
                </a:cubicBezTo>
                <a:lnTo>
                  <a:pt x="114892" y="1685082"/>
                </a:lnTo>
                <a:cubicBezTo>
                  <a:pt x="114892" y="1648699"/>
                  <a:pt x="120637" y="1618062"/>
                  <a:pt x="130211" y="1589339"/>
                </a:cubicBezTo>
                <a:lnTo>
                  <a:pt x="712330" y="1589339"/>
                </a:lnTo>
                <a:cubicBezTo>
                  <a:pt x="721904" y="1618062"/>
                  <a:pt x="727649" y="1648699"/>
                  <a:pt x="727649" y="1685082"/>
                </a:cubicBezTo>
                <a:lnTo>
                  <a:pt x="842541" y="1685082"/>
                </a:lnTo>
                <a:cubicBezTo>
                  <a:pt x="842541" y="1466787"/>
                  <a:pt x="697011" y="1353810"/>
                  <a:pt x="541907" y="1265726"/>
                </a:cubicBezTo>
                <a:cubicBezTo>
                  <a:pt x="697011" y="1177642"/>
                  <a:pt x="842541" y="1062750"/>
                  <a:pt x="842541" y="842541"/>
                </a:cubicBezTo>
                <a:close/>
                <a:moveTo>
                  <a:pt x="114892" y="842541"/>
                </a:moveTo>
                <a:cubicBezTo>
                  <a:pt x="114892" y="808073"/>
                  <a:pt x="120637" y="775521"/>
                  <a:pt x="130211" y="746798"/>
                </a:cubicBezTo>
                <a:lnTo>
                  <a:pt x="714245" y="746798"/>
                </a:lnTo>
                <a:cubicBezTo>
                  <a:pt x="723819" y="775521"/>
                  <a:pt x="729564" y="808073"/>
                  <a:pt x="729564" y="842541"/>
                </a:cubicBezTo>
                <a:cubicBezTo>
                  <a:pt x="729564" y="877008"/>
                  <a:pt x="723819" y="909561"/>
                  <a:pt x="714245" y="938284"/>
                </a:cubicBezTo>
                <a:lnTo>
                  <a:pt x="130211" y="938284"/>
                </a:lnTo>
                <a:cubicBezTo>
                  <a:pt x="120637" y="909561"/>
                  <a:pt x="114892" y="877008"/>
                  <a:pt x="114892" y="842541"/>
                </a:cubicBezTo>
                <a:close/>
                <a:moveTo>
                  <a:pt x="202976" y="210635"/>
                </a:moveTo>
                <a:lnTo>
                  <a:pt x="637650" y="210635"/>
                </a:lnTo>
                <a:cubicBezTo>
                  <a:pt x="582119" y="266166"/>
                  <a:pt x="503610" y="310208"/>
                  <a:pt x="419356" y="356165"/>
                </a:cubicBezTo>
                <a:cubicBezTo>
                  <a:pt x="337016" y="310208"/>
                  <a:pt x="258507" y="266166"/>
                  <a:pt x="202976" y="210635"/>
                </a:cubicBezTo>
                <a:close/>
                <a:moveTo>
                  <a:pt x="421270" y="486376"/>
                </a:moveTo>
                <a:cubicBezTo>
                  <a:pt x="505525" y="532333"/>
                  <a:pt x="584034" y="576375"/>
                  <a:pt x="639565" y="631906"/>
                </a:cubicBezTo>
                <a:lnTo>
                  <a:pt x="202976" y="631906"/>
                </a:lnTo>
                <a:cubicBezTo>
                  <a:pt x="258507" y="576375"/>
                  <a:pt x="337016" y="530418"/>
                  <a:pt x="421270" y="486376"/>
                </a:cubicBezTo>
                <a:close/>
                <a:moveTo>
                  <a:pt x="421270" y="1330832"/>
                </a:moveTo>
                <a:cubicBezTo>
                  <a:pt x="505525" y="1374874"/>
                  <a:pt x="582119" y="1418915"/>
                  <a:pt x="637650" y="1474447"/>
                </a:cubicBezTo>
                <a:lnTo>
                  <a:pt x="204891" y="1474447"/>
                </a:lnTo>
                <a:cubicBezTo>
                  <a:pt x="260422" y="1418915"/>
                  <a:pt x="337016" y="1374874"/>
                  <a:pt x="421270" y="1330832"/>
                </a:cubicBezTo>
                <a:close/>
                <a:moveTo>
                  <a:pt x="421270" y="1200621"/>
                </a:moveTo>
                <a:cubicBezTo>
                  <a:pt x="335102" y="1154664"/>
                  <a:pt x="256592" y="1110622"/>
                  <a:pt x="201061" y="1053176"/>
                </a:cubicBezTo>
                <a:lnTo>
                  <a:pt x="641480" y="1053176"/>
                </a:lnTo>
                <a:cubicBezTo>
                  <a:pt x="585949" y="1110622"/>
                  <a:pt x="507439" y="1154664"/>
                  <a:pt x="421270" y="1200621"/>
                </a:cubicBezTo>
                <a:close/>
              </a:path>
            </a:pathLst>
          </a:custGeom>
          <a:solidFill>
            <a:schemeClr val="bg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18FF12-3260-B6B0-3865-C355EF36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6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453366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AE5C195-69EA-E73C-2BD8-03996A8632E8}"/>
              </a:ext>
            </a:extLst>
          </p:cNvPr>
          <p:cNvGrpSpPr/>
          <p:nvPr/>
        </p:nvGrpSpPr>
        <p:grpSpPr>
          <a:xfrm>
            <a:off x="2986402" y="323967"/>
            <a:ext cx="6219196" cy="6210064"/>
            <a:chOff x="2251704" y="-409652"/>
            <a:chExt cx="7688591" cy="7677301"/>
          </a:xfrm>
        </p:grpSpPr>
        <p:sp>
          <p:nvSpPr>
            <p:cNvPr id="6" name="Рисунок 4" descr="Одна шестеренка со сплошной заливкой">
              <a:extLst>
                <a:ext uri="{FF2B5EF4-FFF2-40B4-BE49-F238E27FC236}">
                  <a16:creationId xmlns:a16="http://schemas.microsoft.com/office/drawing/2014/main" id="{A7C6BFCC-B214-58C7-81D9-06EF423F21B6}"/>
                </a:ext>
              </a:extLst>
            </p:cNvPr>
            <p:cNvSpPr/>
            <p:nvPr/>
          </p:nvSpPr>
          <p:spPr>
            <a:xfrm>
              <a:off x="2251704" y="-409652"/>
              <a:ext cx="7688591" cy="7677301"/>
            </a:xfrm>
            <a:custGeom>
              <a:avLst/>
              <a:gdLst>
                <a:gd name="connsiteX0" fmla="*/ 3838651 w 7688591"/>
                <a:gd name="connsiteY0" fmla="*/ 5193469 h 7677301"/>
                <a:gd name="connsiteX1" fmla="*/ 2483833 w 7688591"/>
                <a:gd name="connsiteY1" fmla="*/ 3838651 h 7677301"/>
                <a:gd name="connsiteX2" fmla="*/ 3838651 w 7688591"/>
                <a:gd name="connsiteY2" fmla="*/ 2483833 h 7677301"/>
                <a:gd name="connsiteX3" fmla="*/ 5193469 w 7688591"/>
                <a:gd name="connsiteY3" fmla="*/ 3838651 h 7677301"/>
                <a:gd name="connsiteX4" fmla="*/ 3838651 w 7688591"/>
                <a:gd name="connsiteY4" fmla="*/ 5193469 h 7677301"/>
                <a:gd name="connsiteX5" fmla="*/ 6886991 w 7688591"/>
                <a:gd name="connsiteY5" fmla="*/ 2991890 h 7677301"/>
                <a:gd name="connsiteX6" fmla="*/ 6593447 w 7688591"/>
                <a:gd name="connsiteY6" fmla="*/ 2291900 h 7677301"/>
                <a:gd name="connsiteX7" fmla="*/ 6875701 w 7688591"/>
                <a:gd name="connsiteY7" fmla="*/ 1445139 h 7677301"/>
                <a:gd name="connsiteX8" fmla="*/ 6232162 w 7688591"/>
                <a:gd name="connsiteY8" fmla="*/ 801601 h 7677301"/>
                <a:gd name="connsiteX9" fmla="*/ 5385401 w 7688591"/>
                <a:gd name="connsiteY9" fmla="*/ 1083854 h 7677301"/>
                <a:gd name="connsiteX10" fmla="*/ 4674122 w 7688591"/>
                <a:gd name="connsiteY10" fmla="*/ 790310 h 7677301"/>
                <a:gd name="connsiteX11" fmla="*/ 4290257 w 7688591"/>
                <a:gd name="connsiteY11" fmla="*/ 0 h 7677301"/>
                <a:gd name="connsiteX12" fmla="*/ 3387045 w 7688591"/>
                <a:gd name="connsiteY12" fmla="*/ 0 h 7677301"/>
                <a:gd name="connsiteX13" fmla="*/ 2991890 w 7688591"/>
                <a:gd name="connsiteY13" fmla="*/ 790310 h 7677301"/>
                <a:gd name="connsiteX14" fmla="*/ 2291900 w 7688591"/>
                <a:gd name="connsiteY14" fmla="*/ 1083854 h 7677301"/>
                <a:gd name="connsiteX15" fmla="*/ 1445139 w 7688591"/>
                <a:gd name="connsiteY15" fmla="*/ 801601 h 7677301"/>
                <a:gd name="connsiteX16" fmla="*/ 801601 w 7688591"/>
                <a:gd name="connsiteY16" fmla="*/ 1445139 h 7677301"/>
                <a:gd name="connsiteX17" fmla="*/ 1083854 w 7688591"/>
                <a:gd name="connsiteY17" fmla="*/ 2291900 h 7677301"/>
                <a:gd name="connsiteX18" fmla="*/ 790310 w 7688591"/>
                <a:gd name="connsiteY18" fmla="*/ 3003180 h 7677301"/>
                <a:gd name="connsiteX19" fmla="*/ 0 w 7688591"/>
                <a:gd name="connsiteY19" fmla="*/ 3387045 h 7677301"/>
                <a:gd name="connsiteX20" fmla="*/ 0 w 7688591"/>
                <a:gd name="connsiteY20" fmla="*/ 4290257 h 7677301"/>
                <a:gd name="connsiteX21" fmla="*/ 790310 w 7688591"/>
                <a:gd name="connsiteY21" fmla="*/ 4685412 h 7677301"/>
                <a:gd name="connsiteX22" fmla="*/ 1083854 w 7688591"/>
                <a:gd name="connsiteY22" fmla="*/ 5385401 h 7677301"/>
                <a:gd name="connsiteX23" fmla="*/ 801601 w 7688591"/>
                <a:gd name="connsiteY23" fmla="*/ 6232162 h 7677301"/>
                <a:gd name="connsiteX24" fmla="*/ 1445139 w 7688591"/>
                <a:gd name="connsiteY24" fmla="*/ 6875701 h 7677301"/>
                <a:gd name="connsiteX25" fmla="*/ 2291900 w 7688591"/>
                <a:gd name="connsiteY25" fmla="*/ 6593447 h 7677301"/>
                <a:gd name="connsiteX26" fmla="*/ 3003180 w 7688591"/>
                <a:gd name="connsiteY26" fmla="*/ 6886991 h 7677301"/>
                <a:gd name="connsiteX27" fmla="*/ 3398335 w 7688591"/>
                <a:gd name="connsiteY27" fmla="*/ 7677302 h 7677301"/>
                <a:gd name="connsiteX28" fmla="*/ 4301547 w 7688591"/>
                <a:gd name="connsiteY28" fmla="*/ 7677302 h 7677301"/>
                <a:gd name="connsiteX29" fmla="*/ 4696702 w 7688591"/>
                <a:gd name="connsiteY29" fmla="*/ 6886991 h 7677301"/>
                <a:gd name="connsiteX30" fmla="*/ 5396691 w 7688591"/>
                <a:gd name="connsiteY30" fmla="*/ 6593447 h 7677301"/>
                <a:gd name="connsiteX31" fmla="*/ 6243453 w 7688591"/>
                <a:gd name="connsiteY31" fmla="*/ 6875701 h 7677301"/>
                <a:gd name="connsiteX32" fmla="*/ 6886991 w 7688591"/>
                <a:gd name="connsiteY32" fmla="*/ 6232162 h 7677301"/>
                <a:gd name="connsiteX33" fmla="*/ 6604737 w 7688591"/>
                <a:gd name="connsiteY33" fmla="*/ 5385401 h 7677301"/>
                <a:gd name="connsiteX34" fmla="*/ 6898281 w 7688591"/>
                <a:gd name="connsiteY34" fmla="*/ 4674122 h 7677301"/>
                <a:gd name="connsiteX35" fmla="*/ 7688592 w 7688591"/>
                <a:gd name="connsiteY35" fmla="*/ 4278967 h 7677301"/>
                <a:gd name="connsiteX36" fmla="*/ 7688592 w 7688591"/>
                <a:gd name="connsiteY36" fmla="*/ 3375755 h 7677301"/>
                <a:gd name="connsiteX37" fmla="*/ 6886991 w 7688591"/>
                <a:gd name="connsiteY37" fmla="*/ 2991890 h 7677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7688591" h="7677301">
                  <a:moveTo>
                    <a:pt x="3838651" y="5193469"/>
                  </a:moveTo>
                  <a:cubicBezTo>
                    <a:pt x="3093501" y="5193469"/>
                    <a:pt x="2483833" y="4583801"/>
                    <a:pt x="2483833" y="3838651"/>
                  </a:cubicBezTo>
                  <a:cubicBezTo>
                    <a:pt x="2483833" y="3093501"/>
                    <a:pt x="3093501" y="2483833"/>
                    <a:pt x="3838651" y="2483833"/>
                  </a:cubicBezTo>
                  <a:cubicBezTo>
                    <a:pt x="4583801" y="2483833"/>
                    <a:pt x="5193469" y="3093501"/>
                    <a:pt x="5193469" y="3838651"/>
                  </a:cubicBezTo>
                  <a:cubicBezTo>
                    <a:pt x="5193469" y="4583801"/>
                    <a:pt x="4583801" y="5193469"/>
                    <a:pt x="3838651" y="5193469"/>
                  </a:cubicBezTo>
                  <a:close/>
                  <a:moveTo>
                    <a:pt x="6886991" y="2991890"/>
                  </a:moveTo>
                  <a:cubicBezTo>
                    <a:pt x="6819250" y="2743506"/>
                    <a:pt x="6717639" y="2506413"/>
                    <a:pt x="6593447" y="2291900"/>
                  </a:cubicBezTo>
                  <a:lnTo>
                    <a:pt x="6875701" y="1445139"/>
                  </a:lnTo>
                  <a:lnTo>
                    <a:pt x="6232162" y="801601"/>
                  </a:lnTo>
                  <a:lnTo>
                    <a:pt x="5385401" y="1083854"/>
                  </a:lnTo>
                  <a:cubicBezTo>
                    <a:pt x="5159598" y="959663"/>
                    <a:pt x="4922505" y="858051"/>
                    <a:pt x="4674122" y="790310"/>
                  </a:cubicBezTo>
                  <a:lnTo>
                    <a:pt x="4290257" y="0"/>
                  </a:lnTo>
                  <a:lnTo>
                    <a:pt x="3387045" y="0"/>
                  </a:lnTo>
                  <a:lnTo>
                    <a:pt x="2991890" y="790310"/>
                  </a:lnTo>
                  <a:cubicBezTo>
                    <a:pt x="2743506" y="858051"/>
                    <a:pt x="2506413" y="959663"/>
                    <a:pt x="2291900" y="1083854"/>
                  </a:cubicBezTo>
                  <a:lnTo>
                    <a:pt x="1445139" y="801601"/>
                  </a:lnTo>
                  <a:lnTo>
                    <a:pt x="801601" y="1445139"/>
                  </a:lnTo>
                  <a:lnTo>
                    <a:pt x="1083854" y="2291900"/>
                  </a:lnTo>
                  <a:cubicBezTo>
                    <a:pt x="959663" y="2517703"/>
                    <a:pt x="858051" y="2754797"/>
                    <a:pt x="790310" y="3003180"/>
                  </a:cubicBezTo>
                  <a:lnTo>
                    <a:pt x="0" y="3387045"/>
                  </a:lnTo>
                  <a:lnTo>
                    <a:pt x="0" y="4290257"/>
                  </a:lnTo>
                  <a:lnTo>
                    <a:pt x="790310" y="4685412"/>
                  </a:lnTo>
                  <a:cubicBezTo>
                    <a:pt x="858051" y="4933795"/>
                    <a:pt x="959663" y="5170888"/>
                    <a:pt x="1083854" y="5385401"/>
                  </a:cubicBezTo>
                  <a:lnTo>
                    <a:pt x="801601" y="6232162"/>
                  </a:lnTo>
                  <a:lnTo>
                    <a:pt x="1445139" y="6875701"/>
                  </a:lnTo>
                  <a:lnTo>
                    <a:pt x="2291900" y="6593447"/>
                  </a:lnTo>
                  <a:cubicBezTo>
                    <a:pt x="2517703" y="6717639"/>
                    <a:pt x="2754797" y="6819250"/>
                    <a:pt x="3003180" y="6886991"/>
                  </a:cubicBezTo>
                  <a:lnTo>
                    <a:pt x="3398335" y="7677302"/>
                  </a:lnTo>
                  <a:lnTo>
                    <a:pt x="4301547" y="7677302"/>
                  </a:lnTo>
                  <a:lnTo>
                    <a:pt x="4696702" y="6886991"/>
                  </a:lnTo>
                  <a:cubicBezTo>
                    <a:pt x="4945085" y="6819250"/>
                    <a:pt x="5182179" y="6717639"/>
                    <a:pt x="5396691" y="6593447"/>
                  </a:cubicBezTo>
                  <a:lnTo>
                    <a:pt x="6243453" y="6875701"/>
                  </a:lnTo>
                  <a:lnTo>
                    <a:pt x="6886991" y="6232162"/>
                  </a:lnTo>
                  <a:lnTo>
                    <a:pt x="6604737" y="5385401"/>
                  </a:lnTo>
                  <a:cubicBezTo>
                    <a:pt x="6728929" y="5159598"/>
                    <a:pt x="6830540" y="4922505"/>
                    <a:pt x="6898281" y="4674122"/>
                  </a:cubicBezTo>
                  <a:lnTo>
                    <a:pt x="7688592" y="4278967"/>
                  </a:lnTo>
                  <a:lnTo>
                    <a:pt x="7688592" y="3375755"/>
                  </a:lnTo>
                  <a:lnTo>
                    <a:pt x="6886991" y="299189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128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BB2F6465-0ECC-BA4D-40B8-6DF0FE526BAF}"/>
                </a:ext>
              </a:extLst>
            </p:cNvPr>
            <p:cNvSpPr/>
            <p:nvPr/>
          </p:nvSpPr>
          <p:spPr>
            <a:xfrm>
              <a:off x="3886200" y="1219200"/>
              <a:ext cx="4419600" cy="4419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E5ABA-5930-7FC6-BA17-3E72B8A5B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9354"/>
            <a:ext cx="10515600" cy="5643789"/>
          </a:xfrm>
        </p:spPr>
        <p:txBody>
          <a:bodyPr>
            <a:normAutofit/>
          </a:bodyPr>
          <a:lstStyle/>
          <a:p>
            <a:pPr algn="ctr"/>
            <a:r>
              <a:rPr lang="ru-RU" sz="9600" dirty="0"/>
              <a:t>анализ данных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07CEC1-6295-266D-CF20-CC4555D9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7</a:t>
            </a:fld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232858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4CF92-1089-D090-9E84-3A14288FE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72" y="375901"/>
            <a:ext cx="11469528" cy="1325563"/>
          </a:xfrm>
        </p:spPr>
        <p:txBody>
          <a:bodyPr>
            <a:normAutofit/>
          </a:bodyPr>
          <a:lstStyle/>
          <a:p>
            <a:pPr algn="r"/>
            <a:r>
              <a:rPr lang="ru-RU" sz="7200" dirty="0"/>
              <a:t>Исходные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BC12B6-4632-1994-B430-29BC73542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465008"/>
            <a:ext cx="10706100" cy="14624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Данные эксперимента Медицинского колледжа, Университета Филиппин, Манила </a:t>
            </a:r>
            <a:r>
              <a:rPr lang="ru-RU" sz="2200" dirty="0"/>
              <a:t>(</a:t>
            </a:r>
            <a:r>
              <a:rPr lang="ru-RU" sz="2200" dirty="0" err="1"/>
              <a:t>BioProject</a:t>
            </a:r>
            <a:r>
              <a:rPr lang="ru-RU" sz="2200" dirty="0"/>
              <a:t> </a:t>
            </a:r>
            <a:r>
              <a:rPr lang="ru-RU" sz="2200" dirty="0" err="1"/>
              <a:t>id</a:t>
            </a:r>
            <a:r>
              <a:rPr lang="ru-RU" sz="2200" dirty="0"/>
              <a:t>: PRJNA1215956)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5D2AB72-684C-0352-063F-AD007926504D}"/>
              </a:ext>
            </a:extLst>
          </p:cNvPr>
          <p:cNvGrpSpPr/>
          <p:nvPr/>
        </p:nvGrpSpPr>
        <p:grpSpPr>
          <a:xfrm>
            <a:off x="314788" y="2499259"/>
            <a:ext cx="722968" cy="745993"/>
            <a:chOff x="314789" y="2633347"/>
            <a:chExt cx="722968" cy="745993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56F1F13F-822A-A298-AB54-A1D6A7819352}"/>
                </a:ext>
              </a:extLst>
            </p:cNvPr>
            <p:cNvSpPr/>
            <p:nvPr/>
          </p:nvSpPr>
          <p:spPr>
            <a:xfrm>
              <a:off x="314792" y="2656375"/>
              <a:ext cx="722965" cy="72296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Рисунок 6" descr="Школа со сплошной заливкой">
              <a:extLst>
                <a:ext uri="{FF2B5EF4-FFF2-40B4-BE49-F238E27FC236}">
                  <a16:creationId xmlns:a16="http://schemas.microsoft.com/office/drawing/2014/main" id="{1CF41BBB-E378-4712-5704-D866D1A9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4789" y="2633347"/>
              <a:ext cx="722965" cy="722965"/>
            </a:xfrm>
            <a:prstGeom prst="rect">
              <a:avLst/>
            </a:prstGeom>
          </p:spPr>
        </p:pic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0E5C0871-D0B9-A8CB-C69D-5E6231FAA278}"/>
              </a:ext>
            </a:extLst>
          </p:cNvPr>
          <p:cNvGrpSpPr/>
          <p:nvPr/>
        </p:nvGrpSpPr>
        <p:grpSpPr>
          <a:xfrm>
            <a:off x="314792" y="3927476"/>
            <a:ext cx="11497636" cy="1969770"/>
            <a:chOff x="314792" y="4318001"/>
            <a:chExt cx="11497636" cy="1969770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2529C4F6-F783-26AB-09AC-E22B9C08C66B}"/>
                </a:ext>
              </a:extLst>
            </p:cNvPr>
            <p:cNvGrpSpPr/>
            <p:nvPr/>
          </p:nvGrpSpPr>
          <p:grpSpPr>
            <a:xfrm>
              <a:off x="314792" y="4433572"/>
              <a:ext cx="722965" cy="722965"/>
              <a:chOff x="314792" y="4433571"/>
              <a:chExt cx="722965" cy="722965"/>
            </a:xfrm>
          </p:grpSpPr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1943B26E-2611-7502-0A57-1BB0C56FF76F}"/>
                  </a:ext>
                </a:extLst>
              </p:cNvPr>
              <p:cNvSpPr/>
              <p:nvPr/>
            </p:nvSpPr>
            <p:spPr>
              <a:xfrm>
                <a:off x="314792" y="4433571"/>
                <a:ext cx="722965" cy="722965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9" name="Рисунок 8" descr="Пробирки со сплошной заливкой">
                <a:extLst>
                  <a:ext uri="{FF2B5EF4-FFF2-40B4-BE49-F238E27FC236}">
                    <a16:creationId xmlns:a16="http://schemas.microsoft.com/office/drawing/2014/main" id="{44DA7CE9-0A5E-4D5B-3B5A-26DB0E5AE7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79572" y="4498352"/>
                <a:ext cx="593401" cy="593401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4A1A4B-9464-55A9-606C-4660B3C1DD1A}"/>
                </a:ext>
              </a:extLst>
            </p:cNvPr>
            <p:cNvSpPr txBox="1"/>
            <p:nvPr/>
          </p:nvSpPr>
          <p:spPr>
            <a:xfrm>
              <a:off x="1143000" y="4318001"/>
              <a:ext cx="10669428" cy="19697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just">
                <a:buNone/>
              </a:pPr>
              <a:r>
                <a:rPr lang="ru-RU" sz="2800" dirty="0"/>
                <a:t>12 контрольных образцов РНК секвенирования клеток хориона </a:t>
              </a:r>
              <a:r>
                <a:rPr lang="ru-RU" sz="2800" dirty="0" err="1"/>
                <a:t>трофобласта</a:t>
              </a:r>
              <a:r>
                <a:rPr lang="ru-RU" sz="2800" dirty="0"/>
                <a:t> человека</a:t>
              </a:r>
              <a:endParaRPr lang="ru-RU" dirty="0"/>
            </a:p>
            <a:p>
              <a:pPr marL="457200" indent="-457200" algn="just">
                <a:buClr>
                  <a:schemeClr val="accent1"/>
                </a:buClr>
                <a:buSzPct val="120000"/>
                <a:buFont typeface="Wingdings" panose="05000000000000000000" pitchFamily="2" charset="2"/>
                <a:buChar char="§"/>
              </a:pPr>
              <a:r>
                <a:rPr lang="ru-RU" sz="2200" dirty="0"/>
                <a:t>18 млн. ридов в каждом образце</a:t>
              </a:r>
            </a:p>
            <a:p>
              <a:pPr marL="457200" indent="-457200" algn="just">
                <a:buClr>
                  <a:schemeClr val="accent1"/>
                </a:buClr>
                <a:buSzPct val="120000"/>
                <a:buFont typeface="Wingdings" panose="05000000000000000000" pitchFamily="2" charset="2"/>
                <a:buChar char="§"/>
              </a:pPr>
              <a:r>
                <a:rPr lang="ru-RU" sz="2200" dirty="0"/>
                <a:t>длина </a:t>
              </a:r>
              <a:r>
                <a:rPr lang="ru-RU" sz="2200" dirty="0" err="1"/>
                <a:t>рида</a:t>
              </a:r>
              <a:r>
                <a:rPr lang="ru-RU" sz="2200" dirty="0"/>
                <a:t> – 148 </a:t>
              </a:r>
              <a:r>
                <a:rPr lang="ru-RU" sz="2200" dirty="0" err="1"/>
                <a:t>нк</a:t>
              </a:r>
              <a:endParaRPr lang="ru-RU" sz="2200" dirty="0"/>
            </a:p>
            <a:p>
              <a:pPr marL="457200" indent="-457200" algn="just">
                <a:buClr>
                  <a:schemeClr val="accent1"/>
                </a:buClr>
                <a:buSzPct val="120000"/>
                <a:buFont typeface="Wingdings" panose="05000000000000000000" pitchFamily="2" charset="2"/>
                <a:buChar char="§"/>
              </a:pPr>
              <a:r>
                <a:rPr lang="ru-RU" sz="2200" dirty="0"/>
                <a:t>средний </a:t>
              </a:r>
              <a:r>
                <a:rPr lang="en-US" sz="2200" dirty="0"/>
                <a:t>P</a:t>
              </a:r>
              <a:r>
                <a:rPr lang="ru-RU" sz="2200" dirty="0" err="1"/>
                <a:t>hred</a:t>
              </a:r>
              <a:r>
                <a:rPr lang="ru-RU" sz="2200" dirty="0"/>
                <a:t> </a:t>
              </a:r>
              <a:r>
                <a:rPr lang="ru-RU" sz="2200" dirty="0" err="1"/>
                <a:t>score</a:t>
              </a:r>
              <a:r>
                <a:rPr lang="ru-RU" sz="2200" dirty="0"/>
                <a:t> &gt;30</a:t>
              </a:r>
            </a:p>
          </p:txBody>
        </p:sp>
      </p:grp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80AA9893-9E4E-C26D-013C-DBBEFB1A436E}"/>
              </a:ext>
            </a:extLst>
          </p:cNvPr>
          <p:cNvCxnSpPr/>
          <p:nvPr/>
        </p:nvCxnSpPr>
        <p:spPr>
          <a:xfrm>
            <a:off x="379572" y="1568918"/>
            <a:ext cx="1146952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3A320D-7E2C-4C41-36FD-C0A58F03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0775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8</a:t>
            </a:fld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1236268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00536E9-56F2-A9FC-3439-CCB60F8EB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849" y="2003720"/>
            <a:ext cx="5915025" cy="1008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/>
              <a:t>Псевдовыравнивание</a:t>
            </a:r>
            <a:r>
              <a:rPr lang="ru-RU" dirty="0"/>
              <a:t> алгоритмом </a:t>
            </a:r>
            <a:r>
              <a:rPr lang="en-US" dirty="0"/>
              <a:t>Kallisto </a:t>
            </a:r>
            <a:r>
              <a:rPr lang="en-US" sz="2000" dirty="0"/>
              <a:t>(Bray et al. 2016)</a:t>
            </a:r>
            <a:endParaRPr lang="ru-RU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51C1B0-7089-937C-0CD0-DCA96F0AAEA7}"/>
              </a:ext>
            </a:extLst>
          </p:cNvPr>
          <p:cNvSpPr txBox="1"/>
          <p:nvPr/>
        </p:nvSpPr>
        <p:spPr>
          <a:xfrm>
            <a:off x="1085849" y="3467579"/>
            <a:ext cx="59150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800" dirty="0"/>
              <a:t>Референсный транскриптом от</a:t>
            </a:r>
            <a:r>
              <a:rPr lang="en-US" sz="2800" dirty="0"/>
              <a:t> </a:t>
            </a:r>
            <a:r>
              <a:rPr lang="en-US" sz="2800" dirty="0" err="1"/>
              <a:t>patcherlab</a:t>
            </a:r>
            <a:r>
              <a:rPr lang="ru-RU" sz="2800" dirty="0"/>
              <a:t> на основе </a:t>
            </a:r>
            <a:r>
              <a:rPr lang="en-US" sz="2800" dirty="0"/>
              <a:t>GRCh38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635D968-EEA3-BAA9-D080-B1611E56F1BF}"/>
              </a:ext>
            </a:extLst>
          </p:cNvPr>
          <p:cNvSpPr txBox="1"/>
          <p:nvPr/>
        </p:nvSpPr>
        <p:spPr>
          <a:xfrm>
            <a:off x="1085849" y="4877063"/>
            <a:ext cx="59150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800" dirty="0"/>
              <a:t>В среднем выравнено 87% ридов в каждом образце</a:t>
            </a:r>
            <a:endParaRPr lang="en-US" sz="2800" dirty="0"/>
          </a:p>
        </p:txBody>
      </p:sp>
      <p:sp>
        <p:nvSpPr>
          <p:cNvPr id="89" name="Прямоугольник: скругленные углы 88">
            <a:extLst>
              <a:ext uri="{FF2B5EF4-FFF2-40B4-BE49-F238E27FC236}">
                <a16:creationId xmlns:a16="http://schemas.microsoft.com/office/drawing/2014/main" id="{2130B9B8-DE8F-400C-236C-87E3C0A7278D}"/>
              </a:ext>
            </a:extLst>
          </p:cNvPr>
          <p:cNvSpPr/>
          <p:nvPr/>
        </p:nvSpPr>
        <p:spPr>
          <a:xfrm>
            <a:off x="362883" y="2026748"/>
            <a:ext cx="722965" cy="72296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91" name="Прямоугольник: скругленные углы 90">
            <a:extLst>
              <a:ext uri="{FF2B5EF4-FFF2-40B4-BE49-F238E27FC236}">
                <a16:creationId xmlns:a16="http://schemas.microsoft.com/office/drawing/2014/main" id="{DAE20FE5-61BC-1EFC-A159-3FEB79862E89}"/>
              </a:ext>
            </a:extLst>
          </p:cNvPr>
          <p:cNvSpPr/>
          <p:nvPr/>
        </p:nvSpPr>
        <p:spPr>
          <a:xfrm>
            <a:off x="362883" y="3583149"/>
            <a:ext cx="722965" cy="72296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ик: скругленные углы 91">
            <a:extLst>
              <a:ext uri="{FF2B5EF4-FFF2-40B4-BE49-F238E27FC236}">
                <a16:creationId xmlns:a16="http://schemas.microsoft.com/office/drawing/2014/main" id="{4F26F222-AA12-EC71-8C15-B4C961F6BE5A}"/>
              </a:ext>
            </a:extLst>
          </p:cNvPr>
          <p:cNvSpPr/>
          <p:nvPr/>
        </p:nvSpPr>
        <p:spPr>
          <a:xfrm>
            <a:off x="362882" y="4992634"/>
            <a:ext cx="722965" cy="72296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4" name="Рисунок 93" descr="Рукопожатие со сплошной заливкой">
            <a:extLst>
              <a:ext uri="{FF2B5EF4-FFF2-40B4-BE49-F238E27FC236}">
                <a16:creationId xmlns:a16="http://schemas.microsoft.com/office/drawing/2014/main" id="{C2F5B57D-6F67-FA00-CCB8-FD3DB7E65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881" y="3622713"/>
            <a:ext cx="722965" cy="722965"/>
          </a:xfrm>
          <a:prstGeom prst="rect">
            <a:avLst/>
          </a:prstGeom>
        </p:spPr>
      </p:pic>
      <p:pic>
        <p:nvPicPr>
          <p:cNvPr id="96" name="Рисунок 95" descr="Список со сплошной заливкой">
            <a:extLst>
              <a:ext uri="{FF2B5EF4-FFF2-40B4-BE49-F238E27FC236}">
                <a16:creationId xmlns:a16="http://schemas.microsoft.com/office/drawing/2014/main" id="{75D77E09-FABE-C24E-3A88-E20798B82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709" y="5044952"/>
            <a:ext cx="623307" cy="623307"/>
          </a:xfrm>
          <a:prstGeom prst="rect">
            <a:avLst/>
          </a:prstGeom>
        </p:spPr>
      </p:pic>
      <p:sp>
        <p:nvSpPr>
          <p:cNvPr id="101" name="Полилиния: фигура 100">
            <a:extLst>
              <a:ext uri="{FF2B5EF4-FFF2-40B4-BE49-F238E27FC236}">
                <a16:creationId xmlns:a16="http://schemas.microsoft.com/office/drawing/2014/main" id="{24E7C6B9-5FF1-5F4B-78C8-5FF898F835A5}"/>
              </a:ext>
            </a:extLst>
          </p:cNvPr>
          <p:cNvSpPr/>
          <p:nvPr/>
        </p:nvSpPr>
        <p:spPr>
          <a:xfrm>
            <a:off x="459143" y="2386517"/>
            <a:ext cx="530420" cy="204474"/>
          </a:xfrm>
          <a:custGeom>
            <a:avLst/>
            <a:gdLst>
              <a:gd name="connsiteX0" fmla="*/ 18083 w 530420"/>
              <a:gd name="connsiteY0" fmla="*/ 83937 h 204474"/>
              <a:gd name="connsiteX1" fmla="*/ 468713 w 530420"/>
              <a:gd name="connsiteY1" fmla="*/ 83937 h 204474"/>
              <a:gd name="connsiteX2" fmla="*/ 415187 w 530420"/>
              <a:gd name="connsiteY2" fmla="*/ 30411 h 204474"/>
              <a:gd name="connsiteX3" fmla="*/ 416089 w 530420"/>
              <a:gd name="connsiteY3" fmla="*/ 4853 h 204474"/>
              <a:gd name="connsiteX4" fmla="*/ 440745 w 530420"/>
              <a:gd name="connsiteY4" fmla="*/ 4853 h 204474"/>
              <a:gd name="connsiteX5" fmla="*/ 525132 w 530420"/>
              <a:gd name="connsiteY5" fmla="*/ 89241 h 204474"/>
              <a:gd name="connsiteX6" fmla="*/ 525132 w 530420"/>
              <a:gd name="connsiteY6" fmla="*/ 114799 h 204474"/>
              <a:gd name="connsiteX7" fmla="*/ 440745 w 530420"/>
              <a:gd name="connsiteY7" fmla="*/ 199186 h 204474"/>
              <a:gd name="connsiteX8" fmla="*/ 415187 w 530420"/>
              <a:gd name="connsiteY8" fmla="*/ 199186 h 204474"/>
              <a:gd name="connsiteX9" fmla="*/ 415187 w 530420"/>
              <a:gd name="connsiteY9" fmla="*/ 173629 h 204474"/>
              <a:gd name="connsiteX10" fmla="*/ 468713 w 530420"/>
              <a:gd name="connsiteY10" fmla="*/ 120103 h 204474"/>
              <a:gd name="connsiteX11" fmla="*/ 18083 w 530420"/>
              <a:gd name="connsiteY11" fmla="*/ 120103 h 204474"/>
              <a:gd name="connsiteX12" fmla="*/ 0 w 530420"/>
              <a:gd name="connsiteY12" fmla="*/ 102020 h 204474"/>
              <a:gd name="connsiteX13" fmla="*/ 18083 w 530420"/>
              <a:gd name="connsiteY13" fmla="*/ 83937 h 204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0420" h="204474">
                <a:moveTo>
                  <a:pt x="18083" y="83937"/>
                </a:moveTo>
                <a:lnTo>
                  <a:pt x="468713" y="83937"/>
                </a:lnTo>
                <a:lnTo>
                  <a:pt x="415187" y="30411"/>
                </a:lnTo>
                <a:cubicBezTo>
                  <a:pt x="408379" y="23104"/>
                  <a:pt x="408783" y="11662"/>
                  <a:pt x="416089" y="4853"/>
                </a:cubicBezTo>
                <a:cubicBezTo>
                  <a:pt x="423034" y="-1618"/>
                  <a:pt x="433800" y="-1618"/>
                  <a:pt x="440745" y="4853"/>
                </a:cubicBezTo>
                <a:lnTo>
                  <a:pt x="525132" y="89241"/>
                </a:lnTo>
                <a:cubicBezTo>
                  <a:pt x="532183" y="96301"/>
                  <a:pt x="532183" y="107738"/>
                  <a:pt x="525132" y="114799"/>
                </a:cubicBezTo>
                <a:lnTo>
                  <a:pt x="440745" y="199186"/>
                </a:lnTo>
                <a:cubicBezTo>
                  <a:pt x="433684" y="206237"/>
                  <a:pt x="422247" y="206237"/>
                  <a:pt x="415187" y="199186"/>
                </a:cubicBezTo>
                <a:cubicBezTo>
                  <a:pt x="408136" y="192126"/>
                  <a:pt x="408136" y="180689"/>
                  <a:pt x="415187" y="173629"/>
                </a:cubicBezTo>
                <a:lnTo>
                  <a:pt x="468713" y="120103"/>
                </a:lnTo>
                <a:lnTo>
                  <a:pt x="18083" y="120103"/>
                </a:lnTo>
                <a:cubicBezTo>
                  <a:pt x="8096" y="120103"/>
                  <a:pt x="0" y="112007"/>
                  <a:pt x="0" y="102020"/>
                </a:cubicBezTo>
                <a:cubicBezTo>
                  <a:pt x="0" y="92033"/>
                  <a:pt x="8096" y="83937"/>
                  <a:pt x="18083" y="83937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2" name="Полилиния: фигура 101">
            <a:extLst>
              <a:ext uri="{FF2B5EF4-FFF2-40B4-BE49-F238E27FC236}">
                <a16:creationId xmlns:a16="http://schemas.microsoft.com/office/drawing/2014/main" id="{48045874-0FBB-3C41-5466-8484A9B398F8}"/>
              </a:ext>
            </a:extLst>
          </p:cNvPr>
          <p:cNvSpPr/>
          <p:nvPr/>
        </p:nvSpPr>
        <p:spPr>
          <a:xfrm>
            <a:off x="459159" y="2192729"/>
            <a:ext cx="530420" cy="205376"/>
          </a:xfrm>
          <a:custGeom>
            <a:avLst/>
            <a:gdLst>
              <a:gd name="connsiteX0" fmla="*/ 512338 w 530420"/>
              <a:gd name="connsiteY0" fmla="*/ 84839 h 205376"/>
              <a:gd name="connsiteX1" fmla="*/ 61708 w 530420"/>
              <a:gd name="connsiteY1" fmla="*/ 84839 h 205376"/>
              <a:gd name="connsiteX2" fmla="*/ 115233 w 530420"/>
              <a:gd name="connsiteY2" fmla="*/ 31313 h 205376"/>
              <a:gd name="connsiteX3" fmla="*/ 116136 w 530420"/>
              <a:gd name="connsiteY3" fmla="*/ 5756 h 205376"/>
              <a:gd name="connsiteX4" fmla="*/ 90578 w 530420"/>
              <a:gd name="connsiteY4" fmla="*/ 4853 h 205376"/>
              <a:gd name="connsiteX5" fmla="*/ 89676 w 530420"/>
              <a:gd name="connsiteY5" fmla="*/ 5756 h 205376"/>
              <a:gd name="connsiteX6" fmla="*/ 5288 w 530420"/>
              <a:gd name="connsiteY6" fmla="*/ 90143 h 205376"/>
              <a:gd name="connsiteX7" fmla="*/ 5288 w 530420"/>
              <a:gd name="connsiteY7" fmla="*/ 115701 h 205376"/>
              <a:gd name="connsiteX8" fmla="*/ 89676 w 530420"/>
              <a:gd name="connsiteY8" fmla="*/ 200088 h 205376"/>
              <a:gd name="connsiteX9" fmla="*/ 115233 w 530420"/>
              <a:gd name="connsiteY9" fmla="*/ 200088 h 205376"/>
              <a:gd name="connsiteX10" fmla="*/ 115233 w 530420"/>
              <a:gd name="connsiteY10" fmla="*/ 174531 h 205376"/>
              <a:gd name="connsiteX11" fmla="*/ 61708 w 530420"/>
              <a:gd name="connsiteY11" fmla="*/ 121005 h 205376"/>
              <a:gd name="connsiteX12" fmla="*/ 512338 w 530420"/>
              <a:gd name="connsiteY12" fmla="*/ 121005 h 205376"/>
              <a:gd name="connsiteX13" fmla="*/ 530421 w 530420"/>
              <a:gd name="connsiteY13" fmla="*/ 102922 h 205376"/>
              <a:gd name="connsiteX14" fmla="*/ 512338 w 530420"/>
              <a:gd name="connsiteY14" fmla="*/ 84839 h 20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0420" h="205376">
                <a:moveTo>
                  <a:pt x="512338" y="84839"/>
                </a:moveTo>
                <a:lnTo>
                  <a:pt x="61708" y="84839"/>
                </a:lnTo>
                <a:lnTo>
                  <a:pt x="115233" y="31313"/>
                </a:lnTo>
                <a:cubicBezTo>
                  <a:pt x="122540" y="24505"/>
                  <a:pt x="122944" y="13062"/>
                  <a:pt x="116136" y="5756"/>
                </a:cubicBezTo>
                <a:cubicBezTo>
                  <a:pt x="109328" y="-1551"/>
                  <a:pt x="97885" y="-1955"/>
                  <a:pt x="90578" y="4853"/>
                </a:cubicBezTo>
                <a:cubicBezTo>
                  <a:pt x="90267" y="5143"/>
                  <a:pt x="89966" y="5445"/>
                  <a:pt x="89676" y="5756"/>
                </a:cubicBezTo>
                <a:lnTo>
                  <a:pt x="5288" y="90143"/>
                </a:lnTo>
                <a:cubicBezTo>
                  <a:pt x="-1763" y="97203"/>
                  <a:pt x="-1763" y="108640"/>
                  <a:pt x="5288" y="115701"/>
                </a:cubicBezTo>
                <a:lnTo>
                  <a:pt x="89676" y="200088"/>
                </a:lnTo>
                <a:cubicBezTo>
                  <a:pt x="96736" y="207139"/>
                  <a:pt x="108173" y="207139"/>
                  <a:pt x="115233" y="200088"/>
                </a:cubicBezTo>
                <a:cubicBezTo>
                  <a:pt x="122285" y="193028"/>
                  <a:pt x="122285" y="181591"/>
                  <a:pt x="115233" y="174531"/>
                </a:cubicBezTo>
                <a:lnTo>
                  <a:pt x="61708" y="121005"/>
                </a:lnTo>
                <a:lnTo>
                  <a:pt x="512338" y="121005"/>
                </a:lnTo>
                <a:cubicBezTo>
                  <a:pt x="522325" y="121005"/>
                  <a:pt x="530421" y="112909"/>
                  <a:pt x="530421" y="102922"/>
                </a:cubicBezTo>
                <a:cubicBezTo>
                  <a:pt x="530421" y="92935"/>
                  <a:pt x="522325" y="84839"/>
                  <a:pt x="512338" y="84839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5" name="Заголовок 1">
            <a:extLst>
              <a:ext uri="{FF2B5EF4-FFF2-40B4-BE49-F238E27FC236}">
                <a16:creationId xmlns:a16="http://schemas.microsoft.com/office/drawing/2014/main" id="{152DC9F6-6F79-AE17-301E-DA2EC51CFD36}"/>
              </a:ext>
            </a:extLst>
          </p:cNvPr>
          <p:cNvSpPr txBox="1">
            <a:spLocks/>
          </p:cNvSpPr>
          <p:nvPr/>
        </p:nvSpPr>
        <p:spPr>
          <a:xfrm>
            <a:off x="210482" y="136525"/>
            <a:ext cx="10219393" cy="1516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/>
              <a:t>Анализ данных: </a:t>
            </a:r>
            <a:br>
              <a:rPr lang="ru-RU" dirty="0">
                <a:solidFill>
                  <a:schemeClr val="accent1"/>
                </a:solidFill>
              </a:rPr>
            </a:br>
            <a:r>
              <a:rPr lang="ru-RU" b="1" dirty="0" err="1">
                <a:solidFill>
                  <a:schemeClr val="accent1"/>
                </a:solidFill>
                <a:latin typeface="+mn-lt"/>
              </a:rPr>
              <a:t>псевдовыравнивание</a:t>
            </a:r>
            <a:endParaRPr lang="ru-RU" sz="6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A69750B-D14D-E9B7-EE46-77D1F06703B0}"/>
              </a:ext>
            </a:extLst>
          </p:cNvPr>
          <p:cNvSpPr txBox="1"/>
          <p:nvPr/>
        </p:nvSpPr>
        <p:spPr>
          <a:xfrm>
            <a:off x="7000874" y="5937309"/>
            <a:ext cx="51044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Процент выровненных ридов для каждого образца</a:t>
            </a:r>
          </a:p>
        </p:txBody>
      </p:sp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16666D79-A825-D410-97F9-11AEE3CDB0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455" y="1688566"/>
            <a:ext cx="5153744" cy="424874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7B208C-A1B8-28FE-F3A5-9854C3F54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-46038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9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989095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1A82C67-59D0-2D94-CAED-DEBD90B9D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618" y="3975795"/>
            <a:ext cx="6467475" cy="1917584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r>
              <a:rPr lang="ru-RU" sz="2400" dirty="0"/>
              <a:t>Алгоритм </a:t>
            </a:r>
            <a:r>
              <a:rPr lang="en-US" sz="2400" dirty="0"/>
              <a:t>DESeq2</a:t>
            </a:r>
            <a:br>
              <a:rPr lang="ru-RU" sz="2400" dirty="0"/>
            </a:br>
            <a:r>
              <a:rPr lang="en-US" sz="1800" dirty="0">
                <a:solidFill>
                  <a:schemeClr val="tx2"/>
                </a:solidFill>
              </a:rPr>
              <a:t>(Love, Huber, and Anders 2014)</a:t>
            </a:r>
            <a:endParaRPr lang="ru-RU" sz="1800" dirty="0">
              <a:solidFill>
                <a:schemeClr val="tx2"/>
              </a:solidFill>
            </a:endParaRPr>
          </a:p>
          <a:p>
            <a:pPr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r>
              <a:rPr lang="ru-RU" sz="2400" dirty="0"/>
              <a:t>Метод </a:t>
            </a:r>
            <a:r>
              <a:rPr lang="en-US" sz="2400" dirty="0"/>
              <a:t>Wald-test</a:t>
            </a:r>
            <a:endParaRPr lang="ru-RU" sz="2400" dirty="0"/>
          </a:p>
          <a:p>
            <a:pPr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r>
              <a:rPr lang="ru-RU" sz="2400" dirty="0"/>
              <a:t>Оценка только белок-кодирующих генов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48C0A6AE-51F9-94B6-57F4-3AF402A1702A}"/>
              </a:ext>
            </a:extLst>
          </p:cNvPr>
          <p:cNvGrpSpPr/>
          <p:nvPr/>
        </p:nvGrpSpPr>
        <p:grpSpPr>
          <a:xfrm>
            <a:off x="7020857" y="1836479"/>
            <a:ext cx="5104469" cy="5021521"/>
            <a:chOff x="172382" y="1652627"/>
            <a:chExt cx="5104469" cy="50215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848BBD-CBA5-70AA-A941-2DE1834B2DB0}"/>
                </a:ext>
              </a:extLst>
            </p:cNvPr>
            <p:cNvSpPr txBox="1"/>
            <p:nvPr/>
          </p:nvSpPr>
          <p:spPr>
            <a:xfrm>
              <a:off x="172383" y="6150928"/>
              <a:ext cx="51044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/>
                <a:t>График log2FoldChange от p-</a:t>
              </a:r>
              <a:r>
                <a:rPr lang="ru-RU" sz="1400" dirty="0" err="1"/>
                <a:t>value</a:t>
              </a:r>
              <a:r>
                <a:rPr lang="ru-RU" sz="1400" dirty="0"/>
                <a:t>. В качестве пороговых значений выбраны p-</a:t>
              </a:r>
              <a:r>
                <a:rPr lang="ru-RU" sz="1400" dirty="0" err="1"/>
                <a:t>value</a:t>
              </a:r>
              <a:r>
                <a:rPr lang="ru-RU" sz="1400" dirty="0"/>
                <a:t>=0.01, |log2FoldChange|=0.58</a:t>
              </a:r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24A48E2D-9754-55C0-B2AA-E188BF32C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382" y="1652627"/>
              <a:ext cx="4875868" cy="4424621"/>
            </a:xfrm>
            <a:prstGeom prst="rect">
              <a:avLst/>
            </a:prstGeom>
          </p:spPr>
        </p:pic>
      </p:grp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F5E6253-1357-B787-34D6-7FF1244903C2}"/>
              </a:ext>
            </a:extLst>
          </p:cNvPr>
          <p:cNvSpPr txBox="1">
            <a:spLocks/>
          </p:cNvSpPr>
          <p:nvPr/>
        </p:nvSpPr>
        <p:spPr>
          <a:xfrm>
            <a:off x="210482" y="136525"/>
            <a:ext cx="10219393" cy="1516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/>
              <a:t>Анализ данных: </a:t>
            </a:r>
            <a:br>
              <a:rPr lang="ru-RU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  <a:latin typeface="+mn-lt"/>
              </a:rPr>
              <a:t>дифференциальная экспрессия</a:t>
            </a:r>
            <a:endParaRPr lang="ru-RU" sz="6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F60630-2F92-2F25-1AA4-B160A22144F9}"/>
              </a:ext>
            </a:extLst>
          </p:cNvPr>
          <p:cNvSpPr txBox="1"/>
          <p:nvPr/>
        </p:nvSpPr>
        <p:spPr>
          <a:xfrm>
            <a:off x="466724" y="2439292"/>
            <a:ext cx="63912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Есть дифференциальная экспрессия генов в клетках хориона эмбрионов разных полов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B10D9A6-6FEA-BE75-AAB5-B22C38454699}"/>
              </a:ext>
            </a:extLst>
          </p:cNvPr>
          <p:cNvCxnSpPr>
            <a:cxnSpLocks/>
          </p:cNvCxnSpPr>
          <p:nvPr/>
        </p:nvCxnSpPr>
        <p:spPr>
          <a:xfrm>
            <a:off x="361950" y="2550764"/>
            <a:ext cx="0" cy="116205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8AC56C-AB63-B482-FFEA-049CE6BD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0946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10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221401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A528F41-AB78-8B4A-ADB9-D1862186C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24102"/>
            <a:ext cx="6028393" cy="4833897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1"/>
                </a:solidFill>
              </a:rPr>
              <a:t>Gene set enrichment analysis</a:t>
            </a:r>
            <a:r>
              <a:rPr lang="ru-RU" sz="2400" b="1" dirty="0">
                <a:solidFill>
                  <a:schemeClr val="accent1"/>
                </a:solidFill>
              </a:rPr>
              <a:t> </a:t>
            </a:r>
            <a:r>
              <a:rPr lang="ru-RU" sz="2400" dirty="0"/>
              <a:t>с коллекцией </a:t>
            </a:r>
            <a:br>
              <a:rPr lang="ru-RU" sz="2400" dirty="0"/>
            </a:br>
            <a:r>
              <a:rPr lang="ru-RU" sz="2400" dirty="0"/>
              <a:t>Human </a:t>
            </a:r>
            <a:r>
              <a:rPr lang="ru-RU" sz="2400" dirty="0" err="1"/>
              <a:t>MSigDB</a:t>
            </a:r>
            <a:r>
              <a:rPr lang="ru-RU" sz="2400" dirty="0"/>
              <a:t> v2024.1.Hs C6: наборы онкогенных сигнатурных генов. </a:t>
            </a:r>
          </a:p>
          <a:p>
            <a:pPr marL="0" indent="0">
              <a:buClr>
                <a:schemeClr val="accent1"/>
              </a:buClr>
              <a:buNone/>
            </a:pPr>
            <a:endParaRPr lang="ru-RU" sz="2400" dirty="0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sz="2400" dirty="0"/>
              <a:t>есть значимые (FDR q-</a:t>
            </a:r>
            <a:r>
              <a:rPr lang="ru-RU" sz="2400" dirty="0" err="1"/>
              <a:t>value</a:t>
            </a:r>
            <a:r>
              <a:rPr lang="ru-RU" sz="2400" dirty="0"/>
              <a:t>&lt;0.1) различия в экспрессии генов из 6 групп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D88FF23-E500-DEDF-B6AE-4CEEA43E0A37}"/>
              </a:ext>
            </a:extLst>
          </p:cNvPr>
          <p:cNvSpPr txBox="1">
            <a:spLocks/>
          </p:cNvSpPr>
          <p:nvPr/>
        </p:nvSpPr>
        <p:spPr>
          <a:xfrm>
            <a:off x="210482" y="136525"/>
            <a:ext cx="10219393" cy="1516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/>
              <a:t>Анализ данных: </a:t>
            </a:r>
            <a:br>
              <a:rPr lang="ru-RU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  <a:latin typeface="+mn-lt"/>
              </a:rPr>
              <a:t>функциональный анализ</a:t>
            </a:r>
            <a:endParaRPr lang="ru-RU" sz="6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FBB6C-0A12-ADF1-0D73-D9C8D9AD5995}"/>
              </a:ext>
            </a:extLst>
          </p:cNvPr>
          <p:cNvSpPr txBox="1"/>
          <p:nvPr/>
        </p:nvSpPr>
        <p:spPr>
          <a:xfrm>
            <a:off x="-27642" y="6488667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(Subramanian et al. 2005)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23811B-9987-6A82-A2FF-BEE57CCE9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2024102"/>
            <a:ext cx="5953125" cy="25964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ED3E4E-4F5F-DE70-7269-C87A086932BD}"/>
              </a:ext>
            </a:extLst>
          </p:cNvPr>
          <p:cNvSpPr txBox="1"/>
          <p:nvPr/>
        </p:nvSpPr>
        <p:spPr>
          <a:xfrm>
            <a:off x="210482" y="4534873"/>
            <a:ext cx="5953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Исправленное q-</a:t>
            </a:r>
            <a:r>
              <a:rPr lang="ru-RU" sz="1600" dirty="0" err="1"/>
              <a:t>value</a:t>
            </a:r>
            <a:r>
              <a:rPr lang="ru-RU" sz="1600" dirty="0"/>
              <a:t> генных наборов по результатам GSEA. Интересующие нас наборы выделены красным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9C8A89-2CA5-54DE-FAF3-1276A069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11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8815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8C3A-D14B-8D4F-FF40-8F539317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AC71370-463C-7DE4-D378-5DD024348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2" y="1887578"/>
            <a:ext cx="5413563" cy="4833897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sz="2400" dirty="0"/>
              <a:t>Группы интереса: </a:t>
            </a:r>
            <a:br>
              <a:rPr lang="ru-RU" sz="2400" dirty="0"/>
            </a:br>
            <a:r>
              <a:rPr lang="en-US" sz="2400" b="1" dirty="0">
                <a:solidFill>
                  <a:schemeClr val="accent1"/>
                </a:solidFill>
              </a:rPr>
              <a:t>IL2_UP.V1_UP</a:t>
            </a:r>
            <a:r>
              <a:rPr lang="ru-RU" sz="2400" b="1" dirty="0">
                <a:solidFill>
                  <a:schemeClr val="accent1"/>
                </a:solidFill>
              </a:rPr>
              <a:t>;</a:t>
            </a:r>
            <a:r>
              <a:rPr lang="en-US" sz="2400" b="1" dirty="0">
                <a:solidFill>
                  <a:schemeClr val="accent1"/>
                </a:solidFill>
              </a:rPr>
              <a:t> IL15_UP.V1_UP</a:t>
            </a:r>
            <a:r>
              <a:rPr lang="ru-RU" sz="2400" b="1" dirty="0">
                <a:solidFill>
                  <a:schemeClr val="accent1"/>
                </a:solidFill>
              </a:rPr>
              <a:t>, </a:t>
            </a:r>
            <a:r>
              <a:rPr lang="ru-RU" sz="2400" dirty="0"/>
              <a:t>ассоциированные с сигнальными путями интерлейкинов </a:t>
            </a:r>
            <a:br>
              <a:rPr lang="ru-RU" sz="2400" dirty="0"/>
            </a:br>
            <a:r>
              <a:rPr lang="ru-RU" sz="2400" dirty="0"/>
              <a:t>(</a:t>
            </a:r>
            <a:r>
              <a:rPr lang="en-US" sz="2400" dirty="0"/>
              <a:t>q-</a:t>
            </a:r>
            <a:r>
              <a:rPr lang="en-US" sz="2400" dirty="0" err="1"/>
              <a:t>val</a:t>
            </a:r>
            <a:r>
              <a:rPr lang="en-US" sz="2400" dirty="0"/>
              <a:t> 0,086; 0.077)</a:t>
            </a: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sz="2400" dirty="0"/>
              <a:t>Может свидетельствовать о различной активности иммунных процессов</a:t>
            </a:r>
            <a:endParaRPr lang="en-US" sz="2400" dirty="0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ru-RU" sz="2400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C1A12BC-DE02-FF9A-6496-B000735AD287}"/>
              </a:ext>
            </a:extLst>
          </p:cNvPr>
          <p:cNvSpPr txBox="1">
            <a:spLocks/>
          </p:cNvSpPr>
          <p:nvPr/>
        </p:nvSpPr>
        <p:spPr>
          <a:xfrm>
            <a:off x="210482" y="136525"/>
            <a:ext cx="10219393" cy="1516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/>
              <a:t>Анализ данных: </a:t>
            </a:r>
            <a:br>
              <a:rPr lang="ru-RU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  <a:latin typeface="+mn-lt"/>
              </a:rPr>
              <a:t>функциональный анализ</a:t>
            </a:r>
            <a:endParaRPr lang="ru-RU" sz="6600" b="1" dirty="0">
              <a:solidFill>
                <a:schemeClr val="accent1"/>
              </a:solidFill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03BD69-3A0F-5874-33A2-DE72ADC1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5" y="1457865"/>
            <a:ext cx="6562725" cy="4238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2B8877-DBC7-984A-2922-5A06E53002A4}"/>
              </a:ext>
            </a:extLst>
          </p:cNvPr>
          <p:cNvSpPr txBox="1"/>
          <p:nvPr/>
        </p:nvSpPr>
        <p:spPr>
          <a:xfrm>
            <a:off x="5819775" y="5744260"/>
            <a:ext cx="5528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200" dirty="0"/>
              <a:t>Тепловые карты отображающие представленность генов из групп генов ассоциированных с IL2 и IL15. Заметна дифференциация образцов на 2 кластера, соотносящимися с фенотипическими группам (полом)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0563A6-FE8F-B4E0-AD81-9313EDD6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12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126022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43AC39B-ED19-5969-DE76-844D1C4A71A7}"/>
              </a:ext>
            </a:extLst>
          </p:cNvPr>
          <p:cNvSpPr txBox="1">
            <a:spLocks/>
          </p:cNvSpPr>
          <p:nvPr/>
        </p:nvSpPr>
        <p:spPr>
          <a:xfrm>
            <a:off x="210482" y="136525"/>
            <a:ext cx="10219393" cy="1516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/>
              <a:t>Анализ данных: </a:t>
            </a:r>
            <a:br>
              <a:rPr lang="ru-RU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  <a:latin typeface="+mn-lt"/>
              </a:rPr>
              <a:t>объединение результатов</a:t>
            </a:r>
            <a:endParaRPr lang="ru-RU" sz="6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67FE2-5B29-8691-4508-B470D75DC50D}"/>
              </a:ext>
            </a:extLst>
          </p:cNvPr>
          <p:cNvSpPr txBox="1"/>
          <p:nvPr/>
        </p:nvSpPr>
        <p:spPr>
          <a:xfrm>
            <a:off x="6096000" y="5923050"/>
            <a:ext cx="58855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Дифференциальная экспрессия генов, вовлеченных в сигнальные </a:t>
            </a:r>
            <a:r>
              <a:rPr lang="ru-RU" sz="1400" dirty="0" err="1"/>
              <a:t>сигнальные</a:t>
            </a:r>
            <a:r>
              <a:rPr lang="ru-RU" sz="1400" dirty="0"/>
              <a:t> пути IL2 и IL15. </a:t>
            </a:r>
            <a:r>
              <a:rPr lang="ru-RU" sz="1400" dirty="0" err="1"/>
              <a:t>Пророговые</a:t>
            </a:r>
            <a:r>
              <a:rPr lang="ru-RU" sz="1400" dirty="0"/>
              <a:t> значения p-</a:t>
            </a:r>
            <a:r>
              <a:rPr lang="ru-RU" sz="1400" dirty="0" err="1"/>
              <a:t>value</a:t>
            </a:r>
            <a:r>
              <a:rPr lang="ru-RU" sz="1400" dirty="0"/>
              <a:t>=0.01, |log2 </a:t>
            </a:r>
            <a:r>
              <a:rPr lang="ru-RU" sz="1400" dirty="0" err="1"/>
              <a:t>Fold</a:t>
            </a:r>
            <a:r>
              <a:rPr lang="ru-RU" sz="1400" dirty="0"/>
              <a:t> Change|=0.5</a:t>
            </a:r>
            <a:r>
              <a:rPr lang="en-US" sz="1400" dirty="0"/>
              <a:t>7</a:t>
            </a:r>
            <a:endParaRPr lang="ru-RU" sz="1400" dirty="0"/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2834DDEC-C5E9-FD7A-564D-55A7E16DE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2200" y="1652627"/>
            <a:ext cx="5809318" cy="4138573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2EF4F65-D00C-2FF6-3F93-91974A8E3D6D}"/>
              </a:ext>
            </a:extLst>
          </p:cNvPr>
          <p:cNvSpPr txBox="1"/>
          <p:nvPr/>
        </p:nvSpPr>
        <p:spPr>
          <a:xfrm>
            <a:off x="210482" y="3655441"/>
            <a:ext cx="58855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Ген </a:t>
            </a:r>
            <a:r>
              <a:rPr lang="ru-RU" b="1" dirty="0">
                <a:solidFill>
                  <a:schemeClr val="accent1"/>
                </a:solidFill>
              </a:rPr>
              <a:t>TNFRSF12A</a:t>
            </a:r>
            <a:r>
              <a:rPr lang="ru-RU" b="1" dirty="0"/>
              <a:t>, демонстрирующие достоверное и значительное увеличение экспрессии в мужских </a:t>
            </a:r>
            <a:r>
              <a:rPr lang="ru-RU" b="1" dirty="0" err="1"/>
              <a:t>трофобластах</a:t>
            </a:r>
            <a:r>
              <a:rPr lang="ru-RU" b="1" dirty="0"/>
              <a:t> в сравнении с женскими</a:t>
            </a:r>
            <a:endParaRPr lang="en-US" b="1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-log10(p-value)= 5.837; log2FoldChange = 1.3566</a:t>
            </a:r>
            <a:endParaRPr lang="ru-RU" dirty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5C3C0644-D49A-8B4C-E01B-D9C5397E973B}"/>
              </a:ext>
            </a:extLst>
          </p:cNvPr>
          <p:cNvCxnSpPr>
            <a:cxnSpLocks/>
          </p:cNvCxnSpPr>
          <p:nvPr/>
        </p:nvCxnSpPr>
        <p:spPr>
          <a:xfrm>
            <a:off x="142875" y="3655441"/>
            <a:ext cx="0" cy="139352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B7BD99CF-B846-19C7-69E1-3763988CAECF}"/>
              </a:ext>
            </a:extLst>
          </p:cNvPr>
          <p:cNvSpPr/>
          <p:nvPr/>
        </p:nvSpPr>
        <p:spPr>
          <a:xfrm>
            <a:off x="9147175" y="1891675"/>
            <a:ext cx="710734" cy="21652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A37BF1-86B3-B2BF-B0B5-D6594FCBB6C6}"/>
              </a:ext>
            </a:extLst>
          </p:cNvPr>
          <p:cNvSpPr txBox="1"/>
          <p:nvPr/>
        </p:nvSpPr>
        <p:spPr>
          <a:xfrm>
            <a:off x="210482" y="2108200"/>
            <a:ext cx="5885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Сопоставление результатов дифференциальной экспрессии и </a:t>
            </a:r>
            <a:r>
              <a:rPr lang="en-US" dirty="0"/>
              <a:t>GSEA</a:t>
            </a:r>
            <a:r>
              <a:rPr lang="ru-RU" dirty="0"/>
              <a:t> для определения конкретных генов, связанных с </a:t>
            </a:r>
            <a:r>
              <a:rPr lang="ru-RU" dirty="0" err="1"/>
              <a:t>с</a:t>
            </a:r>
            <a:r>
              <a:rPr lang="ru-RU" dirty="0"/>
              <a:t> иммунными реакциями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0BA307C-421D-CCD9-5213-1E416D325C5E}"/>
              </a:ext>
            </a:extLst>
          </p:cNvPr>
          <p:cNvCxnSpPr>
            <a:cxnSpLocks/>
          </p:cNvCxnSpPr>
          <p:nvPr/>
        </p:nvCxnSpPr>
        <p:spPr>
          <a:xfrm>
            <a:off x="142875" y="2168607"/>
            <a:ext cx="0" cy="78162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65A7E7-A700-8D51-9926-E9C1FBC4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-46038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13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65245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В яблочко со сплошной заливкой">
            <a:extLst>
              <a:ext uri="{FF2B5EF4-FFF2-40B4-BE49-F238E27FC236}">
                <a16:creationId xmlns:a16="http://schemas.microsoft.com/office/drawing/2014/main" id="{00A9C525-6891-7931-C5FB-92AC50D85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287" y="-225425"/>
            <a:ext cx="7083425" cy="7083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0A7BB-2DFE-584F-9284-05C0ADE85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1675"/>
            <a:ext cx="10515600" cy="2914650"/>
          </a:xfrm>
        </p:spPr>
        <p:txBody>
          <a:bodyPr>
            <a:normAutofit/>
          </a:bodyPr>
          <a:lstStyle/>
          <a:p>
            <a:pPr algn="ctr"/>
            <a:r>
              <a:rPr lang="ru-RU" sz="9600" dirty="0"/>
              <a:t>Результаты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172D51-1593-F1AC-C8E9-2D0A48A3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14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458175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-Q9NP84-F1_camera-spin">
            <a:hlinkClick r:id="" action="ppaction://media"/>
            <a:extLst>
              <a:ext uri="{FF2B5EF4-FFF2-40B4-BE49-F238E27FC236}">
                <a16:creationId xmlns:a16="http://schemas.microsoft.com/office/drawing/2014/main" id="{EFC36F27-BB8E-EF16-59E7-4930983971E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35058" t="7171" r="33815" b="4998"/>
          <a:stretch/>
        </p:blipFill>
        <p:spPr>
          <a:xfrm>
            <a:off x="8610601" y="287487"/>
            <a:ext cx="3589956" cy="602342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E1F55-2E10-33C1-A03D-BDF49387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2" y="287487"/>
            <a:ext cx="11570896" cy="1325563"/>
          </a:xfrm>
        </p:spPr>
        <p:txBody>
          <a:bodyPr>
            <a:normAutofit/>
          </a:bodyPr>
          <a:lstStyle/>
          <a:p>
            <a:r>
              <a:rPr lang="en-US" sz="6600" dirty="0"/>
              <a:t>TNFRSF12A</a:t>
            </a:r>
            <a:endParaRPr lang="ru-RU" sz="6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3C7FC7-0F82-5DA2-6A09-E2D590F8B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552" y="1391354"/>
            <a:ext cx="8962843" cy="2037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b="1" dirty="0">
                <a:solidFill>
                  <a:schemeClr val="accent1"/>
                </a:solidFill>
              </a:rPr>
              <a:t>мембранный рецептор фактора некроза опухоли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CCB54-C5DB-1D9D-788A-1EBCA79ED941}"/>
              </a:ext>
            </a:extLst>
          </p:cNvPr>
          <p:cNvSpPr txBox="1"/>
          <p:nvPr/>
        </p:nvSpPr>
        <p:spPr>
          <a:xfrm>
            <a:off x="0" y="6343171"/>
            <a:ext cx="5926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(Ikner and Ashkenazi 201</a:t>
            </a:r>
            <a:r>
              <a:rPr lang="ru-RU" sz="1400" dirty="0"/>
              <a:t>1</a:t>
            </a:r>
            <a:r>
              <a:rPr lang="en-US" sz="1400" dirty="0"/>
              <a:t>) (Wang et al. 2017) </a:t>
            </a:r>
            <a:br>
              <a:rPr lang="en-US" sz="1400" dirty="0"/>
            </a:br>
            <a:r>
              <a:rPr lang="de-DE" sz="1400" dirty="0"/>
              <a:t>(Abend, </a:t>
            </a:r>
            <a:r>
              <a:rPr lang="de-DE" sz="1400" dirty="0" err="1"/>
              <a:t>Uldrick</a:t>
            </a:r>
            <a:r>
              <a:rPr lang="de-DE" sz="1400" dirty="0"/>
              <a:t>, and Ziegelbauer 2010) (Winkles 2008)</a:t>
            </a:r>
            <a:endParaRPr lang="ru-RU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BA67F7-7493-CF88-EE5F-6C484C9B30F5}"/>
              </a:ext>
            </a:extLst>
          </p:cNvPr>
          <p:cNvSpPr txBox="1"/>
          <p:nvPr/>
        </p:nvSpPr>
        <p:spPr>
          <a:xfrm>
            <a:off x="8610600" y="6181106"/>
            <a:ext cx="3581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Структура </a:t>
            </a:r>
            <a:r>
              <a:rPr lang="en-US" dirty="0"/>
              <a:t>TNFRSF12A</a:t>
            </a:r>
            <a:r>
              <a:rPr lang="ru-RU" dirty="0"/>
              <a:t> </a:t>
            </a:r>
            <a:br>
              <a:rPr lang="ru-RU" dirty="0"/>
            </a:br>
            <a:r>
              <a:rPr lang="ru-RU" sz="1400" dirty="0">
                <a:solidFill>
                  <a:schemeClr val="tx2"/>
                </a:solidFill>
              </a:rPr>
              <a:t>(</a:t>
            </a:r>
            <a:r>
              <a:rPr lang="en-US" sz="1400" dirty="0">
                <a:solidFill>
                  <a:schemeClr val="tx2"/>
                </a:solidFill>
              </a:rPr>
              <a:t>AF-Q9NP84-F1-v4</a:t>
            </a:r>
            <a:r>
              <a:rPr lang="ru-RU" sz="1400" dirty="0">
                <a:solidFill>
                  <a:schemeClr val="tx2"/>
                </a:solidFill>
              </a:rPr>
              <a:t>)</a:t>
            </a:r>
            <a:r>
              <a:rPr lang="en-US" sz="1400" dirty="0">
                <a:solidFill>
                  <a:schemeClr val="tx2"/>
                </a:solidFill>
              </a:rPr>
              <a:t> (Varadi et al. 2024)</a:t>
            </a:r>
            <a:endParaRPr lang="ru-RU" dirty="0">
              <a:solidFill>
                <a:schemeClr val="tx2"/>
              </a:solidFill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3E62102A-9289-09B4-B736-66AC10DB201D}"/>
              </a:ext>
            </a:extLst>
          </p:cNvPr>
          <p:cNvGrpSpPr/>
          <p:nvPr/>
        </p:nvGrpSpPr>
        <p:grpSpPr>
          <a:xfrm>
            <a:off x="428380" y="3106975"/>
            <a:ext cx="8845015" cy="523220"/>
            <a:chOff x="593722" y="3134710"/>
            <a:chExt cx="8845015" cy="5232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26B76E-AF7C-ABD7-091B-97DD484C24D5}"/>
                </a:ext>
              </a:extLst>
            </p:cNvPr>
            <p:cNvSpPr txBox="1"/>
            <p:nvPr/>
          </p:nvSpPr>
          <p:spPr>
            <a:xfrm>
              <a:off x="1033731" y="3134710"/>
              <a:ext cx="84050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dirty="0"/>
                <a:t>Лиганд – </a:t>
              </a:r>
              <a:r>
                <a:rPr lang="ru-RU" sz="2800" dirty="0" err="1"/>
                <a:t>провоспалительный</a:t>
              </a:r>
              <a:r>
                <a:rPr lang="ru-RU" sz="2800" dirty="0"/>
                <a:t> цитокин TWEAK</a:t>
              </a:r>
            </a:p>
          </p:txBody>
        </p:sp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1A84AA19-11D2-A64B-4D44-7C9E3B4308AB}"/>
                </a:ext>
              </a:extLst>
            </p:cNvPr>
            <p:cNvGrpSpPr/>
            <p:nvPr/>
          </p:nvGrpSpPr>
          <p:grpSpPr>
            <a:xfrm>
              <a:off x="593722" y="3193775"/>
              <a:ext cx="440008" cy="443873"/>
              <a:chOff x="593722" y="3193775"/>
              <a:chExt cx="440008" cy="443873"/>
            </a:xfrm>
          </p:grpSpPr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C6CD5F37-A88A-1ECA-3EF2-D20036757621}"/>
                  </a:ext>
                </a:extLst>
              </p:cNvPr>
              <p:cNvSpPr/>
              <p:nvPr/>
            </p:nvSpPr>
            <p:spPr>
              <a:xfrm>
                <a:off x="593723" y="3197641"/>
                <a:ext cx="440007" cy="440007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16" name="Рисунок 15" descr="Фрагменты головоломки со сплошной заливкой">
                <a:extLst>
                  <a:ext uri="{FF2B5EF4-FFF2-40B4-BE49-F238E27FC236}">
                    <a16:creationId xmlns:a16="http://schemas.microsoft.com/office/drawing/2014/main" id="{788BF210-84EF-402F-BAB7-AD419EB3F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93722" y="3193775"/>
                <a:ext cx="440007" cy="440007"/>
              </a:xfrm>
              <a:prstGeom prst="rect">
                <a:avLst/>
              </a:prstGeom>
            </p:spPr>
          </p:pic>
        </p:grp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D9BF4AF-1A43-615E-9095-D0D09ECF8D6B}"/>
              </a:ext>
            </a:extLst>
          </p:cNvPr>
          <p:cNvGrpSpPr/>
          <p:nvPr/>
        </p:nvGrpSpPr>
        <p:grpSpPr>
          <a:xfrm>
            <a:off x="428382" y="4143503"/>
            <a:ext cx="6366354" cy="523220"/>
            <a:chOff x="593724" y="4171238"/>
            <a:chExt cx="6366354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C6F6AF1-2F46-D7DA-1B30-432D1C8E495E}"/>
                </a:ext>
              </a:extLst>
            </p:cNvPr>
            <p:cNvSpPr txBox="1"/>
            <p:nvPr/>
          </p:nvSpPr>
          <p:spPr>
            <a:xfrm>
              <a:off x="1033731" y="4171238"/>
              <a:ext cx="59263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dirty="0"/>
                <a:t>Регулирует клеточный цикл</a:t>
              </a:r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BEBC1FF5-ECC9-0D10-AF2B-D11D5D0A6CE7}"/>
                </a:ext>
              </a:extLst>
            </p:cNvPr>
            <p:cNvGrpSpPr/>
            <p:nvPr/>
          </p:nvGrpSpPr>
          <p:grpSpPr>
            <a:xfrm>
              <a:off x="593724" y="4216006"/>
              <a:ext cx="440005" cy="442874"/>
              <a:chOff x="593724" y="4164270"/>
              <a:chExt cx="440005" cy="442874"/>
            </a:xfrm>
          </p:grpSpPr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15F294FE-F757-4048-77AC-33C0F7DB9746}"/>
                  </a:ext>
                </a:extLst>
              </p:cNvPr>
              <p:cNvSpPr/>
              <p:nvPr/>
            </p:nvSpPr>
            <p:spPr>
              <a:xfrm>
                <a:off x="593724" y="4167139"/>
                <a:ext cx="440005" cy="440005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18" name="Рисунок 17" descr="Стрелка: поворот вправо со сплошной заливкой">
                <a:extLst>
                  <a:ext uri="{FF2B5EF4-FFF2-40B4-BE49-F238E27FC236}">
                    <a16:creationId xmlns:a16="http://schemas.microsoft.com/office/drawing/2014/main" id="{EBDC3B32-246D-1EF0-0A04-9723344CC6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93724" y="4164270"/>
                <a:ext cx="440005" cy="440005"/>
              </a:xfrm>
              <a:prstGeom prst="rect">
                <a:avLst/>
              </a:prstGeom>
            </p:spPr>
          </p:pic>
        </p:grp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9E407FD1-EF4E-1CFD-ED55-CBE81D48483C}"/>
              </a:ext>
            </a:extLst>
          </p:cNvPr>
          <p:cNvGrpSpPr/>
          <p:nvPr/>
        </p:nvGrpSpPr>
        <p:grpSpPr>
          <a:xfrm>
            <a:off x="428381" y="5172143"/>
            <a:ext cx="6607892" cy="523220"/>
            <a:chOff x="593723" y="5199878"/>
            <a:chExt cx="6607892" cy="52322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F99CBB-A04B-4A1A-4DF6-4A5867933D96}"/>
                </a:ext>
              </a:extLst>
            </p:cNvPr>
            <p:cNvSpPr txBox="1"/>
            <p:nvPr/>
          </p:nvSpPr>
          <p:spPr>
            <a:xfrm>
              <a:off x="1033729" y="5199878"/>
              <a:ext cx="616788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/>
                <a:t>Вовлечен в пути NF-</a:t>
              </a:r>
              <a:r>
                <a:rPr lang="ru-RU" sz="2800" dirty="0" err="1"/>
                <a:t>kB</a:t>
              </a:r>
              <a:endParaRPr lang="ru-RU" sz="2800" dirty="0"/>
            </a:p>
          </p:txBody>
        </p:sp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C3AEE185-CE7C-8777-2AE3-CC3A64631327}"/>
                </a:ext>
              </a:extLst>
            </p:cNvPr>
            <p:cNvGrpSpPr/>
            <p:nvPr/>
          </p:nvGrpSpPr>
          <p:grpSpPr>
            <a:xfrm>
              <a:off x="593723" y="5244970"/>
              <a:ext cx="433038" cy="435906"/>
              <a:chOff x="593723" y="5244970"/>
              <a:chExt cx="433038" cy="435906"/>
            </a:xfrm>
          </p:grpSpPr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537EF398-5A24-8052-DF58-931CE241C39B}"/>
                  </a:ext>
                </a:extLst>
              </p:cNvPr>
              <p:cNvSpPr/>
              <p:nvPr/>
            </p:nvSpPr>
            <p:spPr>
              <a:xfrm>
                <a:off x="593724" y="5247839"/>
                <a:ext cx="433037" cy="433037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0" name="Рисунок 19" descr="Шестеренки со сплошной заливкой">
                <a:extLst>
                  <a:ext uri="{FF2B5EF4-FFF2-40B4-BE49-F238E27FC236}">
                    <a16:creationId xmlns:a16="http://schemas.microsoft.com/office/drawing/2014/main" id="{203A56FF-60A1-CBEE-F267-B57D5FFDB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93723" y="5244970"/>
                <a:ext cx="433037" cy="433037"/>
              </a:xfrm>
              <a:prstGeom prst="rect">
                <a:avLst/>
              </a:prstGeom>
            </p:spPr>
          </p:pic>
        </p:grp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F78399-D9D2-F836-B497-4F0263D8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15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5819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530D7249-5964-91C8-0252-2BF119671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1472" y="1985472"/>
            <a:ext cx="7030528" cy="4194178"/>
          </a:xfr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7F144DD-32B8-4FDD-45A5-C20153A37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51" y="208035"/>
            <a:ext cx="11723298" cy="1325563"/>
          </a:xfrm>
        </p:spPr>
        <p:txBody>
          <a:bodyPr>
            <a:normAutofit/>
          </a:bodyPr>
          <a:lstStyle/>
          <a:p>
            <a:r>
              <a:rPr lang="ru-RU" sz="7200" dirty="0"/>
              <a:t>Сигнальные пути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48999-6287-5022-B35E-ED1004A46611}"/>
              </a:ext>
            </a:extLst>
          </p:cNvPr>
          <p:cNvSpPr txBox="1"/>
          <p:nvPr/>
        </p:nvSpPr>
        <p:spPr>
          <a:xfrm>
            <a:off x="234352" y="1377366"/>
            <a:ext cx="11723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NF-kB – </a:t>
            </a:r>
            <a:r>
              <a:rPr lang="ru-RU" sz="2800" b="1" dirty="0">
                <a:solidFill>
                  <a:srgbClr val="FF0000"/>
                </a:solidFill>
              </a:rPr>
              <a:t>основной каскад </a:t>
            </a:r>
            <a:r>
              <a:rPr lang="en-US" sz="2800" b="1" dirty="0">
                <a:solidFill>
                  <a:srgbClr val="FF0000"/>
                </a:solidFill>
              </a:rPr>
              <a:t>TNFRSF12A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B517D6AC-CB90-03C9-5595-8A421D37050D}"/>
              </a:ext>
            </a:extLst>
          </p:cNvPr>
          <p:cNvGrpSpPr/>
          <p:nvPr/>
        </p:nvGrpSpPr>
        <p:grpSpPr>
          <a:xfrm>
            <a:off x="234351" y="2189735"/>
            <a:ext cx="5155359" cy="3785652"/>
            <a:chOff x="6802290" y="2470236"/>
            <a:chExt cx="5155359" cy="378565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A1CFD8-AFBB-9AD1-87ED-B3C509E63BAF}"/>
                </a:ext>
              </a:extLst>
            </p:cNvPr>
            <p:cNvSpPr txBox="1"/>
            <p:nvPr/>
          </p:nvSpPr>
          <p:spPr>
            <a:xfrm>
              <a:off x="7118949" y="2470236"/>
              <a:ext cx="4838700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Взаимодействует с </a:t>
              </a:r>
              <a:r>
                <a:rPr lang="en-US" sz="2000" dirty="0"/>
                <a:t>RELA</a:t>
              </a:r>
            </a:p>
            <a:p>
              <a:endParaRPr lang="en-US" sz="2000" dirty="0"/>
            </a:p>
            <a:p>
              <a:r>
                <a:rPr lang="ru-RU" sz="2000" dirty="0"/>
                <a:t>Образуется димер </a:t>
              </a:r>
              <a:r>
                <a:rPr lang="en-US" sz="2000" dirty="0"/>
                <a:t>NF-kB (p50/RELA)</a:t>
              </a:r>
            </a:p>
            <a:p>
              <a:endParaRPr lang="en-US" sz="2000" dirty="0"/>
            </a:p>
            <a:p>
              <a:r>
                <a:rPr lang="en-US" sz="2000" dirty="0"/>
                <a:t>NF-kB </a:t>
              </a:r>
              <a:r>
                <a:rPr lang="ru-RU" sz="2000" dirty="0"/>
                <a:t>стимулирует активность множества генов в ядре</a:t>
              </a:r>
            </a:p>
            <a:p>
              <a:endParaRPr lang="ru-RU" sz="2000" dirty="0"/>
            </a:p>
            <a:p>
              <a:r>
                <a:rPr lang="en-US" sz="2000" dirty="0"/>
                <a:t>BRIC3 </a:t>
              </a:r>
              <a:r>
                <a:rPr lang="ru-RU" sz="2000" dirty="0"/>
                <a:t>и </a:t>
              </a:r>
              <a:r>
                <a:rPr lang="en-US" sz="2000" dirty="0"/>
                <a:t>MMP-9 </a:t>
              </a:r>
              <a:r>
                <a:rPr lang="ru-RU" sz="2000" dirty="0"/>
                <a:t>напрямую влияют на пролиферацию, миграцию, адгезию</a:t>
              </a:r>
            </a:p>
            <a:p>
              <a:endParaRPr lang="ru-RU" sz="2000" dirty="0"/>
            </a:p>
            <a:p>
              <a:r>
                <a:rPr lang="en-US" sz="2000" dirty="0"/>
                <a:t>NAMPT </a:t>
              </a:r>
              <a:r>
                <a:rPr lang="ru-RU" sz="2000" dirty="0"/>
                <a:t>через </a:t>
              </a:r>
              <a:r>
                <a:rPr lang="en-US" sz="2000" dirty="0"/>
                <a:t>NAD</a:t>
              </a:r>
              <a:r>
                <a:rPr lang="ru-RU" sz="2000" dirty="0"/>
                <a:t>+ воздействует на метаболизм глюкозы</a:t>
              </a:r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63DCF238-7ED2-FA70-87FA-0ACCCAE7C186}"/>
                </a:ext>
              </a:extLst>
            </p:cNvPr>
            <p:cNvSpPr/>
            <p:nvPr/>
          </p:nvSpPr>
          <p:spPr>
            <a:xfrm>
              <a:off x="6835628" y="2512424"/>
              <a:ext cx="295275" cy="2952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latin typeface="+mj-lt"/>
                </a:rPr>
                <a:t>1</a:t>
              </a:r>
              <a:endParaRPr lang="ru-RU" dirty="0">
                <a:latin typeface="+mj-lt"/>
              </a:endParaRPr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68845D1C-F5B3-2CD2-BC45-E94114B81D88}"/>
                </a:ext>
              </a:extLst>
            </p:cNvPr>
            <p:cNvSpPr/>
            <p:nvPr/>
          </p:nvSpPr>
          <p:spPr>
            <a:xfrm>
              <a:off x="6835628" y="3124262"/>
              <a:ext cx="295275" cy="2952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latin typeface="+mj-lt"/>
                </a:rPr>
                <a:t>2</a:t>
              </a:r>
            </a:p>
          </p:txBody>
        </p:sp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C3A5DF64-EA36-7947-5762-809CD1D5E62F}"/>
                </a:ext>
              </a:extLst>
            </p:cNvPr>
            <p:cNvGrpSpPr/>
            <p:nvPr/>
          </p:nvGrpSpPr>
          <p:grpSpPr>
            <a:xfrm>
              <a:off x="6802290" y="3669686"/>
              <a:ext cx="361950" cy="369332"/>
              <a:chOff x="8245328" y="2285570"/>
              <a:chExt cx="361950" cy="369332"/>
            </a:xfrm>
          </p:grpSpPr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3EAFE176-107C-6E64-AC24-61430CC22910}"/>
                  </a:ext>
                </a:extLst>
              </p:cNvPr>
              <p:cNvSpPr/>
              <p:nvPr/>
            </p:nvSpPr>
            <p:spPr>
              <a:xfrm>
                <a:off x="8278665" y="2359627"/>
                <a:ext cx="295275" cy="295275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2000" dirty="0">
                  <a:latin typeface="+mj-lt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3CF8A7-FE4D-BC37-2A61-0A7319FCE835}"/>
                  </a:ext>
                </a:extLst>
              </p:cNvPr>
              <p:cNvSpPr txBox="1"/>
              <p:nvPr/>
            </p:nvSpPr>
            <p:spPr>
              <a:xfrm>
                <a:off x="8245328" y="2285570"/>
                <a:ext cx="3619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800" dirty="0">
                    <a:solidFill>
                      <a:schemeClr val="bg1"/>
                    </a:solidFill>
                    <a:latin typeface="+mj-lt"/>
                  </a:rPr>
                  <a:t>3</a:t>
                </a:r>
              </a:p>
            </p:txBody>
          </p: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0296F585-FED7-AAE8-8DF8-C6D12E1E20CB}"/>
                </a:ext>
              </a:extLst>
            </p:cNvPr>
            <p:cNvGrpSpPr/>
            <p:nvPr/>
          </p:nvGrpSpPr>
          <p:grpSpPr>
            <a:xfrm>
              <a:off x="6802290" y="4572774"/>
              <a:ext cx="361950" cy="369332"/>
              <a:chOff x="8245328" y="2285570"/>
              <a:chExt cx="361950" cy="369332"/>
            </a:xfrm>
          </p:grpSpPr>
          <p:sp>
            <p:nvSpPr>
              <p:cNvPr id="21" name="Прямоугольник: скругленные углы 20">
                <a:extLst>
                  <a:ext uri="{FF2B5EF4-FFF2-40B4-BE49-F238E27FC236}">
                    <a16:creationId xmlns:a16="http://schemas.microsoft.com/office/drawing/2014/main" id="{35A9EC7A-227D-FA89-0C0B-D0AE13087D1C}"/>
                  </a:ext>
                </a:extLst>
              </p:cNvPr>
              <p:cNvSpPr/>
              <p:nvPr/>
            </p:nvSpPr>
            <p:spPr>
              <a:xfrm>
                <a:off x="8278665" y="2359627"/>
                <a:ext cx="295275" cy="295275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2000" dirty="0">
                  <a:latin typeface="+mj-lt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A46A24-AAB1-EECB-AF8D-4BE984D9619C}"/>
                  </a:ext>
                </a:extLst>
              </p:cNvPr>
              <p:cNvSpPr txBox="1"/>
              <p:nvPr/>
            </p:nvSpPr>
            <p:spPr>
              <a:xfrm>
                <a:off x="8245328" y="2285570"/>
                <a:ext cx="3619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800" dirty="0">
                    <a:solidFill>
                      <a:schemeClr val="bg1"/>
                    </a:solidFill>
                    <a:latin typeface="+mj-lt"/>
                  </a:rPr>
                  <a:t>4</a:t>
                </a:r>
              </a:p>
            </p:txBody>
          </p:sp>
        </p:grpSp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7C2907F0-21F7-6CF9-FEBE-D70BA4B7FB10}"/>
                </a:ext>
              </a:extLst>
            </p:cNvPr>
            <p:cNvGrpSpPr/>
            <p:nvPr/>
          </p:nvGrpSpPr>
          <p:grpSpPr>
            <a:xfrm>
              <a:off x="6802290" y="5502649"/>
              <a:ext cx="361950" cy="369332"/>
              <a:chOff x="8245328" y="2285570"/>
              <a:chExt cx="361950" cy="369332"/>
            </a:xfrm>
          </p:grpSpPr>
          <p:sp>
            <p:nvSpPr>
              <p:cNvPr id="24" name="Прямоугольник: скругленные углы 23">
                <a:extLst>
                  <a:ext uri="{FF2B5EF4-FFF2-40B4-BE49-F238E27FC236}">
                    <a16:creationId xmlns:a16="http://schemas.microsoft.com/office/drawing/2014/main" id="{1BEB88F5-0FEA-8F78-E33C-11C237C29591}"/>
                  </a:ext>
                </a:extLst>
              </p:cNvPr>
              <p:cNvSpPr/>
              <p:nvPr/>
            </p:nvSpPr>
            <p:spPr>
              <a:xfrm>
                <a:off x="8278665" y="2359627"/>
                <a:ext cx="295275" cy="295275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2000" dirty="0">
                  <a:latin typeface="+mj-lt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5D0974-5CE9-C0FC-7D43-6A7827F67821}"/>
                  </a:ext>
                </a:extLst>
              </p:cNvPr>
              <p:cNvSpPr txBox="1"/>
              <p:nvPr/>
            </p:nvSpPr>
            <p:spPr>
              <a:xfrm>
                <a:off x="8245328" y="2285570"/>
                <a:ext cx="3619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800" dirty="0">
                    <a:solidFill>
                      <a:schemeClr val="bg1"/>
                    </a:solidFill>
                    <a:latin typeface="+mj-lt"/>
                  </a:rPr>
                  <a:t>5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557238C-D0C0-5095-0DCD-AA87C1EF3E5F}"/>
              </a:ext>
            </a:extLst>
          </p:cNvPr>
          <p:cNvSpPr txBox="1"/>
          <p:nvPr/>
        </p:nvSpPr>
        <p:spPr>
          <a:xfrm>
            <a:off x="5691996" y="6110647"/>
            <a:ext cx="596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tx2"/>
                </a:solidFill>
              </a:rPr>
              <a:t>Схема сигнального каскада </a:t>
            </a:r>
            <a:r>
              <a:rPr lang="en-US" sz="1400" dirty="0">
                <a:solidFill>
                  <a:schemeClr val="tx2"/>
                </a:solidFill>
              </a:rPr>
              <a:t>NF-kB </a:t>
            </a:r>
            <a:r>
              <a:rPr lang="ru-RU" sz="1400" dirty="0">
                <a:solidFill>
                  <a:schemeClr val="tx2"/>
                </a:solidFill>
              </a:rPr>
              <a:t>для </a:t>
            </a:r>
            <a:r>
              <a:rPr lang="en-US" sz="1400" dirty="0">
                <a:solidFill>
                  <a:schemeClr val="tx2"/>
                </a:solidFill>
              </a:rPr>
              <a:t>TNFSF12A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3F28FC-A386-4E23-C3AB-5D10915EF124}"/>
              </a:ext>
            </a:extLst>
          </p:cNvPr>
          <p:cNvSpPr txBox="1"/>
          <p:nvPr/>
        </p:nvSpPr>
        <p:spPr>
          <a:xfrm>
            <a:off x="0" y="6535930"/>
            <a:ext cx="12068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(Wang et al. 2017)</a:t>
            </a:r>
            <a:r>
              <a:rPr lang="ru-RU" sz="1400" dirty="0"/>
              <a:t> </a:t>
            </a:r>
            <a:r>
              <a:rPr lang="de-DE" sz="1400" dirty="0"/>
              <a:t>(Abend, </a:t>
            </a:r>
            <a:r>
              <a:rPr lang="de-DE" sz="1400" dirty="0" err="1"/>
              <a:t>Uldrick</a:t>
            </a:r>
            <a:r>
              <a:rPr lang="de-DE" sz="1400" dirty="0"/>
              <a:t>, and Ziegelbauer 2010)</a:t>
            </a:r>
            <a:r>
              <a:rPr lang="ru-RU" sz="1400" dirty="0"/>
              <a:t> </a:t>
            </a:r>
            <a:r>
              <a:rPr lang="en-US" sz="1400" dirty="0"/>
              <a:t>(Wang et al. 2025)</a:t>
            </a:r>
            <a:r>
              <a:rPr lang="ru-RU" sz="1400" dirty="0"/>
              <a:t> </a:t>
            </a:r>
            <a:r>
              <a:rPr lang="en-US" sz="1400" dirty="0"/>
              <a:t>(Wang et al. 2025)</a:t>
            </a:r>
            <a:r>
              <a:rPr lang="ru-RU" sz="1400" dirty="0"/>
              <a:t> </a:t>
            </a:r>
            <a:r>
              <a:rPr lang="en-US" sz="1400" dirty="0"/>
              <a:t>(Sim et al. 2024)</a:t>
            </a:r>
            <a:endParaRPr lang="ru-RU" sz="1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B84860-C99A-3508-4811-E9646058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748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A42CD4-5F01-4932-613E-9B32EECA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78" y="20122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TNFRSF12A </a:t>
            </a:r>
            <a:r>
              <a:rPr lang="ru-RU" sz="7200" dirty="0"/>
              <a:t>и онкология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32C3C5-E5CC-6696-0FD1-BEEC1DB45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978" y="1253331"/>
            <a:ext cx="11706044" cy="5840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 err="1">
                <a:solidFill>
                  <a:srgbClr val="FF0000"/>
                </a:solidFill>
              </a:rPr>
              <a:t>оверэкспрессия</a:t>
            </a:r>
            <a:r>
              <a:rPr lang="ru-RU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TNFRSF12A</a:t>
            </a:r>
            <a:r>
              <a:rPr lang="ru-RU" sz="3200" b="1" dirty="0">
                <a:solidFill>
                  <a:srgbClr val="FF0000"/>
                </a:solidFill>
              </a:rPr>
              <a:t> снижает выживаемость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C44D8E-9B04-A8A6-415E-240977D3737C}"/>
              </a:ext>
            </a:extLst>
          </p:cNvPr>
          <p:cNvSpPr txBox="1"/>
          <p:nvPr/>
        </p:nvSpPr>
        <p:spPr>
          <a:xfrm>
            <a:off x="7225523" y="6211669"/>
            <a:ext cx="4644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Кривые выживаемости пациенток с раком груди в зависимости от уровня экспрессии TNFRSF12A по данным </a:t>
            </a:r>
            <a:r>
              <a:rPr lang="ru-RU" sz="1200" dirty="0" err="1"/>
              <a:t>KMPlotter</a:t>
            </a:r>
            <a:r>
              <a:rPr lang="ru-RU" sz="1200" dirty="0"/>
              <a:t>. p-</a:t>
            </a:r>
            <a:r>
              <a:rPr lang="ru-RU" sz="1200" dirty="0" err="1"/>
              <a:t>value</a:t>
            </a:r>
            <a:r>
              <a:rPr lang="ru-RU" sz="1200" dirty="0"/>
              <a:t>=0.0018 </a:t>
            </a:r>
            <a:r>
              <a:rPr lang="en-US" sz="1200" dirty="0"/>
              <a:t>(Győrffy 2021)</a:t>
            </a:r>
            <a:endParaRPr lang="ru-RU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1A6DDB-C02A-242E-1287-BEAE6A5939A0}"/>
              </a:ext>
            </a:extLst>
          </p:cNvPr>
          <p:cNvSpPr txBox="1"/>
          <p:nvPr/>
        </p:nvSpPr>
        <p:spPr>
          <a:xfrm>
            <a:off x="475890" y="1948235"/>
            <a:ext cx="6847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Повышенная экспрессия TNFRSF12A значимо (p&lt;10⁶) увеличивает чувствительность теломеразы</a:t>
            </a:r>
            <a:r>
              <a:rPr lang="en-US" dirty="0"/>
              <a:t> </a:t>
            </a:r>
            <a:r>
              <a:rPr lang="ru-RU" sz="1200" dirty="0">
                <a:solidFill>
                  <a:schemeClr val="tx2"/>
                </a:solidFill>
              </a:rPr>
              <a:t>(</a:t>
            </a:r>
            <a:r>
              <a:rPr lang="ru-RU" sz="1200" dirty="0" err="1">
                <a:solidFill>
                  <a:schemeClr val="tx2"/>
                </a:solidFill>
              </a:rPr>
              <a:t>Tan</a:t>
            </a:r>
            <a:r>
              <a:rPr lang="ru-RU" sz="1200" dirty="0">
                <a:solidFill>
                  <a:schemeClr val="tx2"/>
                </a:solidFill>
              </a:rPr>
              <a:t> </a:t>
            </a:r>
            <a:r>
              <a:rPr lang="ru-RU" sz="1200" dirty="0" err="1">
                <a:solidFill>
                  <a:schemeClr val="tx2"/>
                </a:solidFill>
              </a:rPr>
              <a:t>et</a:t>
            </a:r>
            <a:r>
              <a:rPr lang="ru-RU" sz="1200" dirty="0">
                <a:solidFill>
                  <a:schemeClr val="tx2"/>
                </a:solidFill>
              </a:rPr>
              <a:t> </a:t>
            </a:r>
            <a:r>
              <a:rPr lang="ru-RU" sz="1200" dirty="0" err="1">
                <a:solidFill>
                  <a:schemeClr val="tx2"/>
                </a:solidFill>
              </a:rPr>
              <a:t>al</a:t>
            </a:r>
            <a:r>
              <a:rPr lang="ru-RU" sz="1200" dirty="0">
                <a:solidFill>
                  <a:schemeClr val="tx2"/>
                </a:solidFill>
              </a:rPr>
              <a:t>. 2018)</a:t>
            </a:r>
            <a:endParaRPr lang="ru-RU" sz="1800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6F13E-CB82-9EEA-653E-362FF2B292A1}"/>
              </a:ext>
            </a:extLst>
          </p:cNvPr>
          <p:cNvSpPr txBox="1"/>
          <p:nvPr/>
        </p:nvSpPr>
        <p:spPr>
          <a:xfrm>
            <a:off x="475890" y="2889534"/>
            <a:ext cx="67496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1"/>
                </a:solidFill>
              </a:rPr>
              <a:t>Уровень экспрессии </a:t>
            </a:r>
            <a:r>
              <a:rPr lang="en-US" sz="2000" b="1" dirty="0">
                <a:solidFill>
                  <a:schemeClr val="accent1"/>
                </a:solidFill>
              </a:rPr>
              <a:t>TNFRSF12A</a:t>
            </a:r>
            <a:r>
              <a:rPr lang="ru-RU" sz="2000" b="1" dirty="0">
                <a:solidFill>
                  <a:schemeClr val="accent1"/>
                </a:solidFill>
              </a:rPr>
              <a:t> коррелирует с более низкой выживаемостью у пациентов с</a:t>
            </a:r>
          </a:p>
          <a:p>
            <a:endParaRPr lang="ru-RU" b="1" dirty="0">
              <a:solidFill>
                <a:schemeClr val="accent1"/>
              </a:solidFill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глиомой и глиобластомой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уротелиальной</a:t>
            </a:r>
            <a:r>
              <a:rPr lang="ru-RU" dirty="0"/>
              <a:t> карциномой мочевого пузыря,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плоскоклеточной карциномой шейки матки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эндоцервикальной</a:t>
            </a:r>
            <a:r>
              <a:rPr lang="ru-RU" dirty="0"/>
              <a:t> аденокарциномой,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аденокарциномой толстой кишки,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гепатоцеллюлярной карциномой печени;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аденокарциномой легкого,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плоскоклеточной карциномой легкого;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аденокарциномы поджелудочной железы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9A3D76A-1863-EE2F-056E-62E1D70B4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522" y="1734919"/>
            <a:ext cx="4400550" cy="44767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2A0F151-61F5-E67C-6A64-7B47EE7539EC}"/>
              </a:ext>
            </a:extLst>
          </p:cNvPr>
          <p:cNvSpPr txBox="1"/>
          <p:nvPr/>
        </p:nvSpPr>
        <p:spPr>
          <a:xfrm>
            <a:off x="475888" y="6304927"/>
            <a:ext cx="617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(Wang et al. 2025)</a:t>
            </a:r>
            <a:r>
              <a:rPr lang="ru-RU" sz="1400" dirty="0">
                <a:solidFill>
                  <a:schemeClr val="tx2"/>
                </a:solidFill>
              </a:rPr>
              <a:t> </a:t>
            </a:r>
            <a:r>
              <a:rPr lang="en-US" sz="1400" dirty="0">
                <a:solidFill>
                  <a:schemeClr val="tx2"/>
                </a:solidFill>
              </a:rPr>
              <a:t>(Tan et al. 2018)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F4096F-4A51-62F7-F24E-D8FE6DC7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5797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17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169347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E589EF1-BC42-11F3-6D02-F00D08A5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978" y="5453959"/>
            <a:ext cx="10626306" cy="1311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Мыши с повешенной экспрессией лиганда TNFRSF12A</a:t>
            </a:r>
            <a:r>
              <a:rPr lang="en-US" sz="2000" dirty="0"/>
              <a:t> (TWEAK) </a:t>
            </a:r>
            <a:r>
              <a:rPr lang="ru-RU" sz="2000" dirty="0"/>
              <a:t>демонстрировали увеличенные как темпы роста отдельных опухолей, так и образование новых метастатических очагов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1BA45DC-9C03-266B-AC63-A20200C0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78" y="20122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TNFRSF12A </a:t>
            </a:r>
            <a:r>
              <a:rPr lang="ru-RU" sz="7200" dirty="0"/>
              <a:t>и онкология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B52CA62-4B89-F034-9E90-C22FD4062E8A}"/>
              </a:ext>
            </a:extLst>
          </p:cNvPr>
          <p:cNvSpPr txBox="1">
            <a:spLocks/>
          </p:cNvSpPr>
          <p:nvPr/>
        </p:nvSpPr>
        <p:spPr>
          <a:xfrm>
            <a:off x="242978" y="1253331"/>
            <a:ext cx="11706044" cy="584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rgbClr val="FF0000"/>
                </a:solidFill>
              </a:rPr>
              <a:t>TNFRSF12A</a:t>
            </a:r>
            <a:r>
              <a:rPr lang="ru-RU" sz="3200" b="1" dirty="0">
                <a:solidFill>
                  <a:srgbClr val="FF0000"/>
                </a:solidFill>
              </a:rPr>
              <a:t> стимулирует </a:t>
            </a:r>
            <a:r>
              <a:rPr lang="ru-RU" sz="3200" b="1" dirty="0" err="1">
                <a:solidFill>
                  <a:srgbClr val="FF0000"/>
                </a:solidFill>
              </a:rPr>
              <a:t>метостазы</a:t>
            </a:r>
            <a:endParaRPr lang="ru-RU" sz="3200" b="1" dirty="0">
              <a:solidFill>
                <a:srgbClr val="FF0000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9DB9A1-A3D1-0816-45EE-89E0977B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78" y="1741547"/>
            <a:ext cx="7686675" cy="34956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2B19882-1347-DBBB-04B3-C017520FB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52" y="1837426"/>
            <a:ext cx="3123773" cy="3399796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A9CA3-49C6-7CB9-D658-84A2820F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-15514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18</a:t>
            </a:fld>
            <a:endParaRPr lang="ru-RU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F2A2C4-E5A3-6C0E-AC41-C478B815994A}"/>
              </a:ext>
            </a:extLst>
          </p:cNvPr>
          <p:cNvSpPr txBox="1"/>
          <p:nvPr/>
        </p:nvSpPr>
        <p:spPr>
          <a:xfrm>
            <a:off x="0" y="6488668"/>
            <a:ext cx="619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(Sim et al. 2024)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9875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Беременная женщина со сплошной заливкой">
            <a:extLst>
              <a:ext uri="{FF2B5EF4-FFF2-40B4-BE49-F238E27FC236}">
                <a16:creationId xmlns:a16="http://schemas.microsoft.com/office/drawing/2014/main" id="{C6BCC0A6-B778-AA91-9354-4BF2FCF26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848127" y="-660599"/>
            <a:ext cx="9236101" cy="105253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11D9C-D57F-0E83-307F-7DA9CE82E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60438"/>
            <a:ext cx="10515600" cy="1325563"/>
          </a:xfrm>
        </p:spPr>
        <p:txBody>
          <a:bodyPr>
            <a:normAutofit/>
          </a:bodyPr>
          <a:lstStyle/>
          <a:p>
            <a:r>
              <a:rPr lang="ru-RU" sz="8000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F671EC-A114-FCC9-7972-4827EE54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893" y="2310394"/>
            <a:ext cx="7030529" cy="1150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TNFRSF12A </a:t>
            </a:r>
            <a:r>
              <a:rPr lang="ru-RU" dirty="0" err="1"/>
              <a:t>оверэкспрессирован</a:t>
            </a:r>
            <a:r>
              <a:rPr lang="ru-RU" dirty="0"/>
              <a:t> в </a:t>
            </a:r>
            <a:r>
              <a:rPr lang="ru-RU" dirty="0" err="1"/>
              <a:t>трофобласте</a:t>
            </a:r>
            <a:r>
              <a:rPr lang="ru-RU" dirty="0"/>
              <a:t> мужских эмбрионов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E9FCE-1432-A1E3-E0F1-22A31C93CFDA}"/>
              </a:ext>
            </a:extLst>
          </p:cNvPr>
          <p:cNvSpPr txBox="1"/>
          <p:nvPr/>
        </p:nvSpPr>
        <p:spPr>
          <a:xfrm>
            <a:off x="1047462" y="3694123"/>
            <a:ext cx="72202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Мужской пол эмбриона является фактором способствующим увеличения риска формирования </a:t>
            </a:r>
            <a:r>
              <a:rPr lang="ru-RU" sz="2800" dirty="0" err="1"/>
              <a:t>хориокарциномы</a:t>
            </a:r>
            <a:r>
              <a:rPr lang="ru-RU" sz="2800" dirty="0"/>
              <a:t> и утяжеления течения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D9CF3-9242-7AC1-B16D-BB89AC7542EB}"/>
              </a:ext>
            </a:extLst>
          </p:cNvPr>
          <p:cNvSpPr txBox="1"/>
          <p:nvPr/>
        </p:nvSpPr>
        <p:spPr>
          <a:xfrm>
            <a:off x="487153" y="1347995"/>
            <a:ext cx="9885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1"/>
                </a:solidFill>
              </a:rPr>
              <a:t>Гипотеза нашего исследования подтвердилась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5DE2096-5FD0-5104-A9E6-8A0FC8A66AA2}"/>
              </a:ext>
            </a:extLst>
          </p:cNvPr>
          <p:cNvGrpSpPr/>
          <p:nvPr/>
        </p:nvGrpSpPr>
        <p:grpSpPr>
          <a:xfrm>
            <a:off x="628075" y="2310394"/>
            <a:ext cx="419818" cy="419818"/>
            <a:chOff x="838200" y="2903597"/>
            <a:chExt cx="419818" cy="419818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B644E18A-E9F7-C180-8CFF-591C4A771A0E}"/>
                </a:ext>
              </a:extLst>
            </p:cNvPr>
            <p:cNvSpPr/>
            <p:nvPr/>
          </p:nvSpPr>
          <p:spPr>
            <a:xfrm>
              <a:off x="838200" y="2903597"/>
              <a:ext cx="419818" cy="41981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" name="Рисунок 7" descr="Линейчатая диаграмма со сплошной заливкой">
              <a:extLst>
                <a:ext uri="{FF2B5EF4-FFF2-40B4-BE49-F238E27FC236}">
                  <a16:creationId xmlns:a16="http://schemas.microsoft.com/office/drawing/2014/main" id="{7BBE7BFA-C596-0E49-269D-49D1D9346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7222" y="2940648"/>
              <a:ext cx="345716" cy="345716"/>
            </a:xfrm>
            <a:prstGeom prst="rect">
              <a:avLst/>
            </a:prstGeom>
          </p:spPr>
        </p:pic>
      </p:grp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D83DE65-965E-2367-527B-4C467AD92991}"/>
              </a:ext>
            </a:extLst>
          </p:cNvPr>
          <p:cNvSpPr/>
          <p:nvPr/>
        </p:nvSpPr>
        <p:spPr>
          <a:xfrm>
            <a:off x="628075" y="3739240"/>
            <a:ext cx="419818" cy="4198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/>
          </a:p>
        </p:txBody>
      </p:sp>
      <p:pic>
        <p:nvPicPr>
          <p:cNvPr id="18" name="Рисунок 17" descr="Предупреждение со сплошной заливкой">
            <a:extLst>
              <a:ext uri="{FF2B5EF4-FFF2-40B4-BE49-F238E27FC236}">
                <a16:creationId xmlns:a16="http://schemas.microsoft.com/office/drawing/2014/main" id="{58F18032-2012-25E7-8E6C-71D765CD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3024" y="3774189"/>
            <a:ext cx="349920" cy="349920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29B516-E5E4-DC2C-E881-853E8D34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19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992465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BF671-98DA-74B0-C00D-20CF4520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Доступ к данным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3D16C3-14E8-9874-E4F7-BDB08CE93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7199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Код, использованный для анализа и промежуточные результаты доступны в репозитории проекта: </a:t>
            </a:r>
            <a:r>
              <a:rPr lang="ru-RU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https://github.com/apicomplexa/PlacentaCancer</a:t>
            </a:r>
            <a:r>
              <a:rPr lang="ru-RU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F53023-0656-9071-EBCD-7A812042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20</a:t>
            </a:fld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3518276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B673D-B4C1-9C1A-F260-CA09311E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5050"/>
          </a:xfrm>
        </p:spPr>
        <p:txBody>
          <a:bodyPr/>
          <a:lstStyle/>
          <a:p>
            <a:r>
              <a:rPr lang="ru-RU" dirty="0"/>
              <a:t>Библиография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0D9A68-CCDD-6892-7AB1-F7561E1E3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0100"/>
            <a:ext cx="10515600" cy="6057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400" dirty="0"/>
              <a:t>1. [Электронный ресурс]. </a:t>
            </a:r>
            <a:r>
              <a:rPr lang="en-US" sz="1400" dirty="0"/>
              <a:t>URL: https://www.ncbi.nlm.nih.gov/bioproject/PRJNA1215956 (</a:t>
            </a:r>
            <a:r>
              <a:rPr lang="ru-RU" sz="1400" dirty="0"/>
              <a:t>дата обращения: 23.02.2025).</a:t>
            </a:r>
          </a:p>
          <a:p>
            <a:pPr marL="0" indent="0">
              <a:buNone/>
            </a:pPr>
            <a:r>
              <a:rPr lang="ru-RU" sz="1400" dirty="0"/>
              <a:t>2. </a:t>
            </a:r>
            <a:r>
              <a:rPr lang="en-US" sz="1400" dirty="0"/>
              <a:t>Release v1 · </a:t>
            </a:r>
            <a:r>
              <a:rPr lang="en-US" sz="1400" dirty="0" err="1"/>
              <a:t>Pachterlab</a:t>
            </a:r>
            <a:r>
              <a:rPr lang="en-US" sz="1400" dirty="0"/>
              <a:t>/Kallisto-Transcriptome-Indices · GitHub [</a:t>
            </a:r>
            <a:r>
              <a:rPr lang="ru-RU" sz="1400" dirty="0"/>
              <a:t>Электронный ресурс]. </a:t>
            </a:r>
            <a:r>
              <a:rPr lang="en-US" sz="1400" dirty="0"/>
              <a:t>URL: https://github.com/pachterlab/kallisto-transcriptome-indices/releases/tag/v1 (</a:t>
            </a:r>
            <a:r>
              <a:rPr lang="ru-RU" sz="1400" dirty="0"/>
              <a:t>дата обращения: 23.02.2025).</a:t>
            </a:r>
          </a:p>
          <a:p>
            <a:pPr marL="0" indent="0">
              <a:buNone/>
            </a:pPr>
            <a:r>
              <a:rPr lang="ru-RU" sz="1400" dirty="0"/>
              <a:t>3. </a:t>
            </a:r>
            <a:r>
              <a:rPr lang="en-US" sz="1400" dirty="0"/>
              <a:t>Abend J. R., Uldrick T., Ziegelbauer J. M. Regulation of Tumor Necrosis Factor-Like Weak Inducer of Apoptosis Receptor Protein (TWEAKR) Expression by Kaposi’s Sarcoma-Associated Herpesvirus MicroRNA Prevents TWEAK-Induced Apoptosis and Inflammatory Cytokine Expression // Journal of Virology. 2010. № 23 (84). C. 12139–12151.</a:t>
            </a:r>
          </a:p>
          <a:p>
            <a:pPr marL="0" indent="0">
              <a:buNone/>
            </a:pPr>
            <a:r>
              <a:rPr lang="en-US" sz="1400" dirty="0"/>
              <a:t>4. Amalina M. A. F. [</a:t>
            </a:r>
            <a:r>
              <a:rPr lang="ru-RU" sz="1400" dirty="0"/>
              <a:t>и др.]. </a:t>
            </a:r>
            <a:r>
              <a:rPr lang="en-US" sz="1400" dirty="0"/>
              <a:t>Epidemiology of Gestational Choriocarcinoma: A Systematic Review // OALib. 2023. № 03 (10). C. 1–11.</a:t>
            </a:r>
          </a:p>
          <a:p>
            <a:pPr marL="0" indent="0">
              <a:buNone/>
            </a:pPr>
            <a:r>
              <a:rPr lang="en-US" sz="1400" dirty="0"/>
              <a:t>5. Bray N. L. [</a:t>
            </a:r>
            <a:r>
              <a:rPr lang="ru-RU" sz="1400" dirty="0"/>
              <a:t>и др.]. </a:t>
            </a:r>
            <a:r>
              <a:rPr lang="en-US" sz="1400" dirty="0"/>
              <a:t>Near-Optimal Probabilistic RNA-seq Quantification // Nature Biotechnology. 2016. № 5 (34). C. 525–527.</a:t>
            </a:r>
          </a:p>
          <a:p>
            <a:pPr marL="0" indent="0">
              <a:buNone/>
            </a:pPr>
            <a:r>
              <a:rPr lang="en-US" sz="1400" dirty="0"/>
              <a:t>6. Győrffy B. Survival Analysis across the Entire Transcriptome Identifies Biomarkers with the Highest Prognostic Power in Breast Cancer // Computational and Structural Biotechnology Journal. 2021. (19). C. 4101–4109.</a:t>
            </a:r>
          </a:p>
          <a:p>
            <a:pPr marL="0" indent="0">
              <a:buNone/>
            </a:pPr>
            <a:r>
              <a:rPr lang="en-US" sz="1400" dirty="0"/>
              <a:t>7. Horowitz N. S. [</a:t>
            </a:r>
            <a:r>
              <a:rPr lang="ru-RU" sz="1400" dirty="0"/>
              <a:t>и др.]. </a:t>
            </a:r>
            <a:r>
              <a:rPr lang="en-US" sz="1400" dirty="0"/>
              <a:t>Epidemiology, Diagnosis, and Treatment of Gestational Trophoblastic Disease: A Society of Gynecologic Oncology Evidenced-Based Review and Recommendation // Gynecologic Oncology. 2021. № 3 (163). C. 605–613.</a:t>
            </a:r>
          </a:p>
          <a:p>
            <a:pPr marL="0" indent="0">
              <a:buNone/>
            </a:pPr>
            <a:r>
              <a:rPr lang="en-US" sz="1400" dirty="0"/>
              <a:t>8. Horowitz N. S. [</a:t>
            </a:r>
            <a:r>
              <a:rPr lang="ru-RU" sz="1400" dirty="0"/>
              <a:t>и др.]. </a:t>
            </a:r>
            <a:r>
              <a:rPr lang="en-US" sz="1400" dirty="0"/>
              <a:t>Epidemiology, Diagnosis, and Treatment of Gestational Trophoblastic Disease: A Society of Gynecologic Oncology Evidenced-Based Review and Recommendation // Gynecologic Oncology. 2021. № 3 (163). C. 605–613.</a:t>
            </a:r>
          </a:p>
          <a:p>
            <a:pPr marL="0" indent="0">
              <a:buNone/>
            </a:pPr>
            <a:r>
              <a:rPr lang="en-US" sz="1400" dirty="0"/>
              <a:t>9. Ikner A., Ashkenazi A. TWEAK Induces Apoptosis through a Death-Signaling Complex Comprising Receptor-Interacting Protein 1 (RIP1), </a:t>
            </a:r>
            <a:r>
              <a:rPr lang="en-US" sz="1400" dirty="0" err="1"/>
              <a:t>Fas</a:t>
            </a:r>
            <a:r>
              <a:rPr lang="en-US" sz="1400" dirty="0"/>
              <a:t>-associated Death Domain (FADD), and Caspase-8 // The Journal of Biological Chemistry. 2011. № 24 (286). C. 21546–21554.</a:t>
            </a:r>
          </a:p>
          <a:p>
            <a:pPr marL="0" indent="0">
              <a:buNone/>
            </a:pPr>
            <a:r>
              <a:rPr lang="en-US" sz="1400" dirty="0"/>
              <a:t>10. Jiao L. [</a:t>
            </a:r>
            <a:r>
              <a:rPr lang="ru-RU" sz="1400" dirty="0"/>
              <a:t>и др.]. </a:t>
            </a:r>
            <a:r>
              <a:rPr lang="en-US" sz="1400" dirty="0" err="1"/>
              <a:t>Intraplacental</a:t>
            </a:r>
            <a:r>
              <a:rPr lang="en-US" sz="1400" dirty="0"/>
              <a:t> Choriocarcinoma: Systematic Review and Management Guidance // Gynecologic Oncology. 2016. № 3 (141). C. 624–631.</a:t>
            </a:r>
          </a:p>
          <a:p>
            <a:pPr marL="0" indent="0">
              <a:buNone/>
            </a:pPr>
            <a:r>
              <a:rPr lang="en-US" sz="1400" dirty="0"/>
              <a:t>11. Li G. [</a:t>
            </a:r>
            <a:r>
              <a:rPr lang="ru-RU" sz="1400" dirty="0"/>
              <a:t>и др.]. </a:t>
            </a:r>
            <a:r>
              <a:rPr lang="en-US" sz="1400" dirty="0"/>
              <a:t>Fn14-Targeted </a:t>
            </a:r>
            <a:r>
              <a:rPr lang="en-US" sz="1400" dirty="0" err="1"/>
              <a:t>BiTE</a:t>
            </a:r>
            <a:r>
              <a:rPr lang="en-US" sz="1400" dirty="0"/>
              <a:t> and CAR-T Cells Demonstrate Potent Preclinical Activity against Glioblastoma // </a:t>
            </a:r>
            <a:r>
              <a:rPr lang="en-US" sz="1400" dirty="0" err="1"/>
              <a:t>Oncoimmunology</a:t>
            </a:r>
            <a:r>
              <a:rPr lang="en-US" sz="1400" dirty="0"/>
              <a:t>. № 1 (10). C. 1983306.</a:t>
            </a:r>
          </a:p>
          <a:p>
            <a:pPr marL="0" indent="0">
              <a:buNone/>
            </a:pPr>
            <a:r>
              <a:rPr lang="en-US" sz="1400" dirty="0"/>
              <a:t>12. Love M. I., Huber W., Anders S. Moderated Estimation of Fold Change and Dispersion for RNA-seq Data with DESeq2 // Genome Biology. 2014. № 12, 12 (15). C. 1–21.</a:t>
            </a:r>
          </a:p>
          <a:p>
            <a:pPr marL="0" indent="0">
              <a:buNone/>
            </a:pPr>
            <a:endParaRPr lang="ru-RU" sz="14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3BC8B4-A954-9CD9-7BC0-239EDAF5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21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12735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B8CE8-8A48-3224-D7F3-895629B77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69B9F-7960-33F8-6716-516C8A0A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5050"/>
          </a:xfrm>
        </p:spPr>
        <p:txBody>
          <a:bodyPr/>
          <a:lstStyle/>
          <a:p>
            <a:r>
              <a:rPr lang="ru-RU" dirty="0"/>
              <a:t>Библиография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9A8A41-073A-9062-0BA1-03E1BB315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0100"/>
            <a:ext cx="10515600" cy="60579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/>
              <a:t>13. PDQ Adult Treatment Editorial Board Gestational Trophoblastic Disease Treatment (PDQ®): Health Professional Version Bethesda (MD): National Cancer Institute (US), 2002.</a:t>
            </a:r>
          </a:p>
          <a:p>
            <a:pPr marL="0" indent="0">
              <a:buNone/>
            </a:pPr>
            <a:r>
              <a:rPr lang="en-US" sz="1400" dirty="0"/>
              <a:t>14. PubChem TNFR2 Non-Canonical NF-kB Pathway [</a:t>
            </a:r>
            <a:r>
              <a:rPr lang="ru-RU" sz="1400" dirty="0"/>
              <a:t>Электронный ресурс]. </a:t>
            </a:r>
            <a:r>
              <a:rPr lang="en-US" sz="1400" dirty="0"/>
              <a:t>URL: https://pubchem.ncbi.nlm.nih.gov/pathway/Reactome:R-HSA-5668541 (</a:t>
            </a:r>
            <a:r>
              <a:rPr lang="ru-RU" sz="1400" dirty="0"/>
              <a:t>дата обращения: 11.03.2025).</a:t>
            </a:r>
          </a:p>
          <a:p>
            <a:pPr marL="0" indent="0">
              <a:buNone/>
            </a:pPr>
            <a:r>
              <a:rPr lang="ru-RU" sz="1400" dirty="0"/>
              <a:t>15. </a:t>
            </a:r>
            <a:r>
              <a:rPr lang="en-US" sz="1400" dirty="0"/>
              <a:t>PubChem TNFRSF12A - TNF Receptor Superfamily Member 12A (Human) [</a:t>
            </a:r>
            <a:r>
              <a:rPr lang="ru-RU" sz="1400" dirty="0"/>
              <a:t>Электронный ресурс]. </a:t>
            </a:r>
            <a:r>
              <a:rPr lang="en-US" sz="1400" dirty="0"/>
              <a:t>URL: https://pubchem.ncbi.nlm.nih.gov/gene/TNFRSF12A/human (</a:t>
            </a:r>
            <a:r>
              <a:rPr lang="ru-RU" sz="1400" dirty="0"/>
              <a:t>дата обращения: 11.03.2025).</a:t>
            </a:r>
          </a:p>
          <a:p>
            <a:pPr marL="0" indent="0">
              <a:buNone/>
            </a:pPr>
            <a:r>
              <a:rPr lang="ru-RU" sz="1400" dirty="0"/>
              <a:t>16. </a:t>
            </a:r>
            <a:r>
              <a:rPr lang="en-US" sz="1400" dirty="0"/>
              <a:t>Savage P. [</a:t>
            </a:r>
            <a:r>
              <a:rPr lang="ru-RU" sz="1400" dirty="0"/>
              <a:t>и др.]. </a:t>
            </a:r>
            <a:r>
              <a:rPr lang="en-US" sz="1400" dirty="0"/>
              <a:t>Demographics, Natural History and Treatment Outcomes of Non-Molar Gestational Choriocarcinoma: A UK Population Study // BJOG: An International Journal of Obstetrics &amp; </a:t>
            </a:r>
            <a:r>
              <a:rPr lang="en-US" sz="1400" dirty="0" err="1"/>
              <a:t>Gynaecology</a:t>
            </a:r>
            <a:r>
              <a:rPr lang="en-US" sz="1400" dirty="0"/>
              <a:t>. 2020. № 9 (127). C. 1102–1107.</a:t>
            </a:r>
          </a:p>
          <a:p>
            <a:pPr marL="0" indent="0">
              <a:buNone/>
            </a:pPr>
            <a:r>
              <a:rPr lang="en-US" sz="1400" dirty="0"/>
              <a:t>17. Savage P. [</a:t>
            </a:r>
            <a:r>
              <a:rPr lang="ru-RU" sz="1400" dirty="0"/>
              <a:t>и др.]. </a:t>
            </a:r>
            <a:r>
              <a:rPr lang="en-US" sz="1400" dirty="0"/>
              <a:t>Chemogenomic Profiling of Breast Cancer Patient-Derived Xenografts Reveals Targetable Vulnerabilities for Difficult-to-Treat Tumors // Communications Biology. 2020. № 1 (3). C. 1–15.</a:t>
            </a:r>
          </a:p>
          <a:p>
            <a:pPr marL="0" indent="0">
              <a:buNone/>
            </a:pPr>
            <a:r>
              <a:rPr lang="en-US" sz="1400" dirty="0"/>
              <a:t>18. Sim N. [</a:t>
            </a:r>
            <a:r>
              <a:rPr lang="ru-RU" sz="1400" dirty="0"/>
              <a:t>и др.]. </a:t>
            </a:r>
            <a:r>
              <a:rPr lang="en-US" sz="1400" dirty="0"/>
              <a:t>TWEAK/Fn14 </a:t>
            </a:r>
            <a:r>
              <a:rPr lang="en-US" sz="1400" dirty="0" err="1"/>
              <a:t>Signalling</a:t>
            </a:r>
            <a:r>
              <a:rPr lang="en-US" sz="1400" dirty="0"/>
              <a:t> Driven Super-Enhancer Reprogramming Promotes pro-Metastatic Metabolic Rewiring in Triple-Negative Breast Cancer // Nature Communications. 2024. № 1 (15). C. 5638.</a:t>
            </a:r>
          </a:p>
          <a:p>
            <a:pPr marL="0" indent="0">
              <a:buNone/>
            </a:pPr>
            <a:r>
              <a:rPr lang="en-US" sz="1400" dirty="0"/>
              <a:t>19. Stabile G. [</a:t>
            </a:r>
            <a:r>
              <a:rPr lang="ru-RU" sz="1400" dirty="0"/>
              <a:t>и др.]. </a:t>
            </a:r>
            <a:r>
              <a:rPr lang="en-US" sz="1400" dirty="0"/>
              <a:t>Maternal and Fetal Outcomes of </a:t>
            </a:r>
            <a:r>
              <a:rPr lang="en-US" sz="1400" dirty="0" err="1"/>
              <a:t>Intraplacental</a:t>
            </a:r>
            <a:r>
              <a:rPr lang="en-US" sz="1400" dirty="0"/>
              <a:t> Choriocarcinoma Complicated by </a:t>
            </a:r>
            <a:r>
              <a:rPr lang="en-US" sz="1400" dirty="0" err="1"/>
              <a:t>Fetomaternal</a:t>
            </a:r>
            <a:r>
              <a:rPr lang="en-US" sz="1400" dirty="0"/>
              <a:t> Hemorrhage: A Systematic Review // The Journal of Maternal-Fetal &amp; Neonatal Medicine. 2023.</a:t>
            </a:r>
          </a:p>
          <a:p>
            <a:pPr marL="0" indent="0">
              <a:buNone/>
            </a:pPr>
            <a:r>
              <a:rPr lang="en-US" sz="1400" dirty="0"/>
              <a:t>20. Subramanian A. [</a:t>
            </a:r>
            <a:r>
              <a:rPr lang="ru-RU" sz="1400" dirty="0"/>
              <a:t>и др.]. </a:t>
            </a:r>
            <a:r>
              <a:rPr lang="en-US" sz="1400" dirty="0"/>
              <a:t>Gene Set Enrichment Analysis: A Knowledge-Based Approach for Interpreting Genome-Wide Expression Profiles // Proceedings of the National Academy of Sciences. 2005. № 43 (102). C. 15545–15550.</a:t>
            </a:r>
          </a:p>
          <a:p>
            <a:pPr marL="0" indent="0">
              <a:buNone/>
            </a:pPr>
            <a:r>
              <a:rPr lang="en-US" sz="1400" dirty="0"/>
              <a:t>21. Tan D. [</a:t>
            </a:r>
            <a:r>
              <a:rPr lang="ru-RU" sz="1400" dirty="0"/>
              <a:t>и др.]. </a:t>
            </a:r>
            <a:r>
              <a:rPr lang="en-US" sz="1400" dirty="0"/>
              <a:t>Overexpression of Fn14 in Gliomas: Tumor Progression and Poor Prognosis // Future Oncology (London, England). 2018. № 13 (14). C. 1273–1284.</a:t>
            </a:r>
          </a:p>
          <a:p>
            <a:pPr marL="0" indent="0">
              <a:buNone/>
            </a:pPr>
            <a:r>
              <a:rPr lang="en-US" sz="1400" dirty="0"/>
              <a:t>22. Wang C. [</a:t>
            </a:r>
            <a:r>
              <a:rPr lang="ru-RU" sz="1400" dirty="0"/>
              <a:t>и др.]. </a:t>
            </a:r>
            <a:r>
              <a:rPr lang="en-US" sz="1400" dirty="0"/>
              <a:t>The Oncogenic Role of TNFRSF12A in Colorectal Cancer and Pan-Cancer Bioinformatics Analysis // Cancer Research and Treatment : Official Journal of Korean Cancer Association. 2025. № 1 (57). C. 212–228.</a:t>
            </a:r>
          </a:p>
          <a:p>
            <a:pPr marL="0" indent="0">
              <a:buNone/>
            </a:pPr>
            <a:r>
              <a:rPr lang="en-US" sz="1400" dirty="0"/>
              <a:t>23. Wang T. [</a:t>
            </a:r>
            <a:r>
              <a:rPr lang="ru-RU" sz="1400" dirty="0"/>
              <a:t>и др.]. </a:t>
            </a:r>
            <a:r>
              <a:rPr lang="en-US" sz="1400" dirty="0"/>
              <a:t>Knockdown of the Differentially Expressed Gene TNFRSF12A Inhibits Hepatocellular Carcinoma Cell Proliferation and Migration in Vitro // Molecular Medicine Reports. 2017. № 3 (15). C. 1172–1178.</a:t>
            </a:r>
          </a:p>
          <a:p>
            <a:pPr marL="0" indent="0">
              <a:buNone/>
            </a:pPr>
            <a:r>
              <a:rPr lang="en-US" sz="1400" dirty="0"/>
              <a:t>24. Winkles J. A. The TWEAK–Fn14 Cytokine–Receptor Axis: Discovery, Biology and Therapeutic Targeting // Nature Reviews Drug Discovery. 2008. № 5 (7). C. 411–425.</a:t>
            </a:r>
          </a:p>
          <a:p>
            <a:pPr marL="0" indent="0">
              <a:buNone/>
            </a:pPr>
            <a:r>
              <a:rPr lang="en-US" sz="1400" dirty="0"/>
              <a:t>25. Xu Q., Fan G., Shao S. Role of TNFRSF12A in Cell Proliferation, Apoptosis, and Proinflammatory Cytokine Expression by Regulating the MAPK and NF-</a:t>
            </a:r>
            <a:r>
              <a:rPr lang="el-GR" sz="1400" dirty="0"/>
              <a:t>κ</a:t>
            </a:r>
            <a:r>
              <a:rPr lang="en-US" sz="1400" dirty="0"/>
              <a:t>B Pathways in Thyroid Cancer Cells // Cytokine. 2025. (186). C. 156841.</a:t>
            </a:r>
          </a:p>
          <a:p>
            <a:pPr marL="0" indent="0">
              <a:buNone/>
            </a:pPr>
            <a:r>
              <a:rPr lang="en-US" sz="1400" dirty="0"/>
              <a:t>26. </a:t>
            </a:r>
            <a:r>
              <a:rPr lang="ru-RU" sz="1400" dirty="0" err="1"/>
              <a:t>И.а</a:t>
            </a:r>
            <a:r>
              <a:rPr lang="ru-RU" sz="1400" dirty="0"/>
              <a:t> К. [и др.]. </a:t>
            </a:r>
            <a:r>
              <a:rPr lang="ru-RU" sz="1400" dirty="0" err="1"/>
              <a:t>Хориокарцинома</a:t>
            </a:r>
            <a:r>
              <a:rPr lang="ru-RU" sz="1400" dirty="0"/>
              <a:t> Матки - Эпидемиология и Результаты Лечения // Злокачественные опухоли. 2017. № Спецвыпуск 1, Спецвыпуск 1. </a:t>
            </a:r>
            <a:r>
              <a:rPr lang="en-US" sz="1400" dirty="0"/>
              <a:t>C. 162–163.</a:t>
            </a:r>
          </a:p>
          <a:p>
            <a:pPr marL="0" indent="0">
              <a:buNone/>
            </a:pPr>
            <a:r>
              <a:rPr lang="en-US" sz="1400" dirty="0"/>
              <a:t>27. </a:t>
            </a:r>
            <a:r>
              <a:rPr lang="ru-RU" sz="1400" dirty="0"/>
              <a:t>Сангинов Д. Р. [и др.]. Вопросы Эпидемиологии, Диагностики И Лечения Злокачественных </a:t>
            </a:r>
            <a:r>
              <a:rPr lang="ru-RU" sz="1400" dirty="0" err="1"/>
              <a:t>Трофобластических</a:t>
            </a:r>
            <a:r>
              <a:rPr lang="ru-RU" sz="1400" dirty="0"/>
              <a:t> Опухолей // Вестник Последипломного Образования В Сфере Здравоохранения. 2019. № 2. </a:t>
            </a:r>
            <a:r>
              <a:rPr lang="en-US" sz="1400" dirty="0"/>
              <a:t>C. 92–99.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8A5F1E-B38C-C3CF-674F-8D2D5211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22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928540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4C51A-BB74-9F93-27DD-F5A5F890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7675" y="2766218"/>
            <a:ext cx="680085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7200" dirty="0"/>
              <a:t>Спасибо за внимание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79CEF2-6B94-8CDD-59FF-50B404DDA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42950"/>
            <a:ext cx="53721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EB5851-91E1-AD67-3156-7027D13F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8F6716-5746-4431-A327-86DBC51A0C45}" type="slidenum">
              <a:rPr lang="ru-RU" sz="1600" smtClean="0"/>
              <a:t>23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9119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43474-F00F-360E-A270-A9151F0F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Полные результаты </a:t>
            </a:r>
            <a:r>
              <a:rPr lang="en-US" dirty="0"/>
              <a:t>GSEA</a:t>
            </a: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0CF8FC0-4F7A-323E-952B-1E51CE13D2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668735"/>
              </p:ext>
            </p:extLst>
          </p:nvPr>
        </p:nvGraphicFramePr>
        <p:xfrm>
          <a:off x="362857" y="1456267"/>
          <a:ext cx="11553371" cy="4900084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4333609">
                  <a:extLst>
                    <a:ext uri="{9D8B030D-6E8A-4147-A177-3AD203B41FA5}">
                      <a16:colId xmlns:a16="http://schemas.microsoft.com/office/drawing/2014/main" val="308471232"/>
                    </a:ext>
                  </a:extLst>
                </a:gridCol>
                <a:gridCol w="1444536">
                  <a:extLst>
                    <a:ext uri="{9D8B030D-6E8A-4147-A177-3AD203B41FA5}">
                      <a16:colId xmlns:a16="http://schemas.microsoft.com/office/drawing/2014/main" val="2028342129"/>
                    </a:ext>
                  </a:extLst>
                </a:gridCol>
                <a:gridCol w="1444536">
                  <a:extLst>
                    <a:ext uri="{9D8B030D-6E8A-4147-A177-3AD203B41FA5}">
                      <a16:colId xmlns:a16="http://schemas.microsoft.com/office/drawing/2014/main" val="2499574707"/>
                    </a:ext>
                  </a:extLst>
                </a:gridCol>
                <a:gridCol w="1856010">
                  <a:extLst>
                    <a:ext uri="{9D8B030D-6E8A-4147-A177-3AD203B41FA5}">
                      <a16:colId xmlns:a16="http://schemas.microsoft.com/office/drawing/2014/main" val="758842127"/>
                    </a:ext>
                  </a:extLst>
                </a:gridCol>
                <a:gridCol w="1237340">
                  <a:extLst>
                    <a:ext uri="{9D8B030D-6E8A-4147-A177-3AD203B41FA5}">
                      <a16:colId xmlns:a16="http://schemas.microsoft.com/office/drawing/2014/main" val="1997798309"/>
                    </a:ext>
                  </a:extLst>
                </a:gridCol>
                <a:gridCol w="1237340">
                  <a:extLst>
                    <a:ext uri="{9D8B030D-6E8A-4147-A177-3AD203B41FA5}">
                      <a16:colId xmlns:a16="http://schemas.microsoft.com/office/drawing/2014/main" val="286827358"/>
                    </a:ext>
                  </a:extLst>
                </a:gridCol>
              </a:tblGrid>
              <a:tr h="70001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Term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ES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NES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FDR q-val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Tag %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Gene %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92084798"/>
                  </a:ext>
                </a:extLst>
              </a:tr>
              <a:tr h="70001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IL2_UP.V1_UP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0.46556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1.73694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0.08575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76/175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17.10%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7065547"/>
                  </a:ext>
                </a:extLst>
              </a:tr>
              <a:tr h="70001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IL15_UP.V1_UP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0.42228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1.71622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0.07622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72/172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20.05%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1120510"/>
                  </a:ext>
                </a:extLst>
              </a:tr>
              <a:tr h="70001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PDGF_ERK_DN.V1_DN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0.39326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1.65229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0.09519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41/142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10.83%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0621224"/>
                  </a:ext>
                </a:extLst>
              </a:tr>
              <a:tr h="70001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CSR_EARLY_UP.V1_UP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0.50768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1.63631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0.08954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56/152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11.77%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5855577"/>
                  </a:ext>
                </a:extLst>
              </a:tr>
              <a:tr h="70001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ESC_J1_UP_EARLY.V1_DN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0.36585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1.61166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0.09613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37/168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10.13%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2717649"/>
                  </a:ext>
                </a:extLst>
              </a:tr>
              <a:tr h="70001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BMI1_DN.V1_UP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0.47340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1.61079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0.08463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62/144</a:t>
                      </a:r>
                      <a:endParaRPr lang="ru-RU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17.86%</a:t>
                      </a:r>
                      <a:endParaRPr lang="ru-RU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9429263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CABDCC-57E1-2EE4-5943-805F5A3C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8678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8">
      <a:dk1>
        <a:sysClr val="windowText" lastClr="000000"/>
      </a:dk1>
      <a:lt1>
        <a:srgbClr val="FFFFFF"/>
      </a:lt1>
      <a:dk2>
        <a:srgbClr val="3A3838"/>
      </a:dk2>
      <a:lt2>
        <a:srgbClr val="E7E6E6"/>
      </a:lt2>
      <a:accent1>
        <a:srgbClr val="F83110"/>
      </a:accent1>
      <a:accent2>
        <a:srgbClr val="5C95FA"/>
      </a:accent2>
      <a:accent3>
        <a:srgbClr val="FAA15C"/>
      </a:accent3>
      <a:accent4>
        <a:srgbClr val="5CE8FA"/>
      </a:accent4>
      <a:accent5>
        <a:srgbClr val="4ED39C"/>
      </a:accent5>
      <a:accent6>
        <a:srgbClr val="AF8CC3"/>
      </a:accent6>
      <a:hlink>
        <a:srgbClr val="5CE8FA"/>
      </a:hlink>
      <a:folHlink>
        <a:srgbClr val="AF8CC3"/>
      </a:folHlink>
    </a:clrScheme>
    <a:fontScheme name="Другая 5">
      <a:majorFont>
        <a:latin typeface="Raleway Black"/>
        <a:ea typeface=""/>
        <a:cs typeface=""/>
      </a:majorFont>
      <a:minorFont>
        <a:latin typeface="Ralewa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2067</TotalTime>
  <Words>2137</Words>
  <Application>Microsoft Office PowerPoint</Application>
  <PresentationFormat>Широкоэкранный</PresentationFormat>
  <Paragraphs>223</Paragraphs>
  <Slides>24</Slides>
  <Notes>3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</vt:lpstr>
      <vt:lpstr>Raleway</vt:lpstr>
      <vt:lpstr>Raleway Black</vt:lpstr>
      <vt:lpstr>Wingdings</vt:lpstr>
      <vt:lpstr>Тема Office</vt:lpstr>
      <vt:lpstr>Влияние пола эмбриона на риск формирования хориокарциномы и тяжесть течения</vt:lpstr>
      <vt:lpstr>Хориокарцинома</vt:lpstr>
      <vt:lpstr>Эпидемиология</vt:lpstr>
      <vt:lpstr>Хориокарцинома</vt:lpstr>
      <vt:lpstr>Факторы риска</vt:lpstr>
      <vt:lpstr>Гипотеза исследования</vt:lpstr>
      <vt:lpstr>анализ данных</vt:lpstr>
      <vt:lpstr>Исходные данные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Результаты</vt:lpstr>
      <vt:lpstr>TNFRSF12A</vt:lpstr>
      <vt:lpstr>Сигнальные пути</vt:lpstr>
      <vt:lpstr>TNFRSF12A и онкология</vt:lpstr>
      <vt:lpstr>TNFRSF12A и онкология</vt:lpstr>
      <vt:lpstr>Выводы</vt:lpstr>
      <vt:lpstr>Доступ к данным</vt:lpstr>
      <vt:lpstr>Библиография</vt:lpstr>
      <vt:lpstr>Библиография</vt:lpstr>
      <vt:lpstr>Спасибо за внимание</vt:lpstr>
      <vt:lpstr>Полные результаты GSEA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Кулиш</dc:creator>
  <cp:lastModifiedBy>Александр Кулиш</cp:lastModifiedBy>
  <cp:revision>11</cp:revision>
  <dcterms:created xsi:type="dcterms:W3CDTF">2025-03-25T11:53:59Z</dcterms:created>
  <dcterms:modified xsi:type="dcterms:W3CDTF">2025-04-10T11:35:23Z</dcterms:modified>
</cp:coreProperties>
</file>