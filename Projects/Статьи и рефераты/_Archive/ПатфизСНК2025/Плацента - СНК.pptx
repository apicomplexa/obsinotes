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8" d="100"/>
          <a:sy n="98" d="100"/>
        </p:scale>
        <p:origin x="72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060063144280878E-2"/>
          <c:y val="2.9893559761298729E-2"/>
          <c:w val="0.88302426870554229"/>
          <c:h val="0.8911347361034875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Заболеваемость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Европа</c:v>
                </c:pt>
                <c:pt idx="1">
                  <c:v>Беларусь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7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C1-4885-A035-03617373D9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56011520"/>
        <c:axId val="656011848"/>
      </c:barChart>
      <c:catAx>
        <c:axId val="656011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6011848"/>
        <c:crosses val="autoZero"/>
        <c:auto val="1"/>
        <c:lblAlgn val="ctr"/>
        <c:lblOffset val="100"/>
        <c:noMultiLvlLbl val="0"/>
      </c:catAx>
      <c:valAx>
        <c:axId val="656011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6011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EA92B-338D-413E-B220-F8590475DC6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15FF2-DCE3-41E3-873C-174D091FE6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01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15FF2-DCE3-41E3-873C-174D091FE65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0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F77B0-C87B-D85B-EF39-015943AE1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47E50E-04F9-537B-1699-FE25C73C0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858E18-6046-9F4C-8827-1FB9F542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2F6459-6420-34D4-D71D-2A2EA674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DEDD5E-1BD0-841A-80D9-273BC870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6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FDAB5-B3D5-3BA4-0A75-F8957303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A60E65-4112-72AA-7515-CB214D878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614BA-F766-8AE3-84D8-23A49A09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735FE5-8873-5BF0-A414-B1A94184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1AEB3C-6AF6-32EB-0C7D-B4934891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72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15072-8014-DED6-3CDD-78B03DD3C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E5588F-7CBF-8143-8C0E-ECA97FBF3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CA2F2-BFF0-0581-FB4A-D02E5F38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44BB1F-B4E3-3B12-9263-6852F23F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8F14E-1393-45AB-D0B5-3E8BDB47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64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8A185-DCB1-8252-5030-DAD92C71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CDDB4D-6D53-B873-7480-A75F7ECE9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5FDAEB-304D-471F-0AAB-6C1C014D2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EC52C5-C98B-82DE-3EB5-12326BE9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144C2A-3A5B-2E14-7F34-6D996860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DBBCCD-5029-FE8F-80EC-1AA8E4C2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44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E68DB-789D-BCD7-F59B-A0D3C0CB9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CC04FE-8595-0B2D-6EC8-5BBD93959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93D941-171C-AB10-596A-1F36E8755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2048D7-9F2D-DAF1-4ED4-C8F0D6F0D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8B11A5-9C12-17CC-1B00-D638CA886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1B466C-418A-D51E-BF7E-C49E9346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5DAC48-996C-3BBC-484F-A246AA3B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4328DB-5ECC-204A-CEFD-F450C1BD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31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EB0AE-1DD7-EB93-5F75-BFD47302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EC6728-793F-1196-A8ED-F626B6D8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3E8DF9-C344-0D81-3786-3AE9B36A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0A23A8-44A4-A51E-44BD-31C8A779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88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906A51-CF7C-414A-C08D-20999A8B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1D24B09-2184-CE78-59EC-7EC33ABB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A9A71A-6682-72EF-517F-10DB3AB7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9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BD3CF-70DB-E423-8DB9-B21A9FAF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077F53-8C63-D0E6-72F7-ACDB9A5A4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095B18-581F-AF94-509E-044F49A5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3E9A96-EE26-A32E-B101-088F0913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810ABB-1CEE-E412-5FE8-0A659589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2804A4-C792-AB52-DC1E-EB05B235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89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06904-1206-EDD0-2F20-D94A0898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3BBDE4-A6F4-C3A0-85D6-B3236C6F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35124B-8CB8-82E4-7C3B-B9E5E01C4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F698A7-A8ED-20C5-118E-41C8EAEA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A83045-966B-696B-132B-EA824E07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7A7FEB-586D-FC51-69B3-EBFDDED7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92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507F9-12DB-FA07-D7F4-926A567B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CA48B0-3FB2-A6AB-E2D4-4661B2455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F8F496-9D57-AD1E-81A2-C6B5DBC4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F7519A-8C25-BEA4-25EA-3135477D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FB2F1-DF05-EE4C-CC9F-C9E40C6E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97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BE3481-2E67-1F19-BF0D-0107FC37E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33A155-9D10-7C5E-5B33-8E7CDF01D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62DDEF-C89B-0398-96FD-DCCCF7E8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251BF3-B17C-CEF7-B09B-BE05488D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FBD24E-EBB8-934D-8A81-73AE07AB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94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73BE4-A167-D7A2-0AA5-77575C5E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6D8E1-E941-CC57-4BED-C935C20EB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20A5B-CDC2-7B95-5C24-CC991497E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5BD02-F61D-4159-9A4C-8DC7081C2514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14067-D9BE-3554-FEC9-64ED81E25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30B248-0FF9-BAC0-5121-E595F7090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F6716-5746-4431-A327-86DBC51A0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6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67A33-CC60-FB2C-2F08-F86BE2F98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264" y="1026702"/>
            <a:ext cx="11257472" cy="3165894"/>
          </a:xfrm>
        </p:spPr>
        <p:txBody>
          <a:bodyPr>
            <a:normAutofit fontScale="90000"/>
          </a:bodyPr>
          <a:lstStyle/>
          <a:p>
            <a:r>
              <a:rPr lang="ru-RU" dirty="0"/>
              <a:t>Влияние пола эмбриона на риск формирования </a:t>
            </a:r>
            <a:r>
              <a:rPr lang="ru-RU" dirty="0" err="1"/>
              <a:t>хориокарциномы</a:t>
            </a:r>
            <a:r>
              <a:rPr lang="ru-RU" dirty="0"/>
              <a:t> и тяжесть течения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3A6DA0-63B5-3723-258C-12B44DCA7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000" y="4382227"/>
            <a:ext cx="11520000" cy="2199736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ru-RU" b="1" dirty="0"/>
              <a:t>Авторы</a:t>
            </a:r>
            <a:r>
              <a:rPr lang="ru-RU" dirty="0"/>
              <a:t>:</a:t>
            </a:r>
          </a:p>
          <a:p>
            <a:pPr algn="r"/>
            <a:r>
              <a:rPr lang="ru-RU" dirty="0"/>
              <a:t>3 курс лечебный факультет</a:t>
            </a:r>
          </a:p>
          <a:p>
            <a:pPr algn="r"/>
            <a:r>
              <a:rPr lang="ru-RU" dirty="0" err="1"/>
              <a:t>Зоболев</a:t>
            </a:r>
            <a:r>
              <a:rPr lang="ru-RU" dirty="0"/>
              <a:t> А.</a:t>
            </a:r>
          </a:p>
          <a:p>
            <a:pPr algn="r"/>
            <a:r>
              <a:rPr lang="ru-RU" dirty="0"/>
              <a:t>Ладыгин М</a:t>
            </a:r>
          </a:p>
          <a:p>
            <a:pPr algn="r"/>
            <a:r>
              <a:rPr lang="ru-RU" b="1" dirty="0"/>
              <a:t>Руководитель</a:t>
            </a:r>
            <a:r>
              <a:rPr lang="ru-RU" dirty="0"/>
              <a:t>:</a:t>
            </a:r>
          </a:p>
          <a:p>
            <a:pPr algn="r"/>
            <a:r>
              <a:rPr lang="ru-RU" dirty="0"/>
              <a:t>к.м.н. Лебединцева Е.А.</a:t>
            </a:r>
          </a:p>
          <a:p>
            <a:pPr algn="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ACC43-5F5D-4825-5A2D-B6F5FCD080D1}"/>
              </a:ext>
            </a:extLst>
          </p:cNvPr>
          <p:cNvSpPr txBox="1"/>
          <p:nvPr/>
        </p:nvSpPr>
        <p:spPr>
          <a:xfrm>
            <a:off x="467264" y="112143"/>
            <a:ext cx="11257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Федеральное государственное </a:t>
            </a:r>
            <a:r>
              <a:rPr lang="ru-RU" dirty="0" err="1"/>
              <a:t>бюджетноеобразовательное</a:t>
            </a:r>
            <a:r>
              <a:rPr lang="ru-RU" dirty="0"/>
              <a:t> учреждение высшего образования</a:t>
            </a:r>
          </a:p>
          <a:p>
            <a:pPr algn="ctr"/>
            <a:r>
              <a:rPr lang="ru-RU" dirty="0"/>
              <a:t>«Северный государственный медицинский университет»</a:t>
            </a:r>
          </a:p>
          <a:p>
            <a:pPr algn="ctr"/>
            <a:r>
              <a:rPr lang="ru-RU" dirty="0"/>
              <a:t>Министерства здравоохранения Российской Федерации 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C94F67E-E4A5-E232-68BD-8F11D48A3874}"/>
              </a:ext>
            </a:extLst>
          </p:cNvPr>
          <p:cNvCxnSpPr>
            <a:cxnSpLocks/>
          </p:cNvCxnSpPr>
          <p:nvPr/>
        </p:nvCxnSpPr>
        <p:spPr>
          <a:xfrm>
            <a:off x="336000" y="4192748"/>
            <a:ext cx="11520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7DF2451-15FB-F8C3-C7D3-1FEC2F65D926}"/>
              </a:ext>
            </a:extLst>
          </p:cNvPr>
          <p:cNvCxnSpPr>
            <a:cxnSpLocks/>
          </p:cNvCxnSpPr>
          <p:nvPr/>
        </p:nvCxnSpPr>
        <p:spPr>
          <a:xfrm>
            <a:off x="336000" y="1127495"/>
            <a:ext cx="11520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08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D78D7-F6D6-527D-E7E0-B84D6DCD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14" y="117263"/>
            <a:ext cx="11781972" cy="1524000"/>
          </a:xfrm>
        </p:spPr>
        <p:txBody>
          <a:bodyPr>
            <a:normAutofit/>
          </a:bodyPr>
          <a:lstStyle/>
          <a:p>
            <a:pPr algn="r"/>
            <a:r>
              <a:rPr lang="ru-RU" sz="7200" dirty="0" err="1"/>
              <a:t>Хориокарцинома</a:t>
            </a:r>
            <a:endParaRPr lang="ru-RU" sz="6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43A6E0-91E5-510E-E8C1-B99C9ACA822D}"/>
              </a:ext>
            </a:extLst>
          </p:cNvPr>
          <p:cNvSpPr txBox="1"/>
          <p:nvPr/>
        </p:nvSpPr>
        <p:spPr>
          <a:xfrm>
            <a:off x="205014" y="1296177"/>
            <a:ext cx="117819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4000" b="1" dirty="0">
                <a:solidFill>
                  <a:schemeClr val="accent1"/>
                </a:solidFill>
              </a:rPr>
              <a:t>наиболее злокачественная неоплазия </a:t>
            </a:r>
            <a:r>
              <a:rPr lang="ru-RU" sz="4000" b="1" dirty="0" err="1">
                <a:solidFill>
                  <a:schemeClr val="accent1"/>
                </a:solidFill>
              </a:rPr>
              <a:t>трофобластической</a:t>
            </a:r>
            <a:r>
              <a:rPr lang="ru-RU" sz="4000" b="1" dirty="0">
                <a:solidFill>
                  <a:schemeClr val="accent1"/>
                </a:solidFill>
              </a:rPr>
              <a:t> ткани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83F1C3-E556-23DE-5A87-29E0C59F90D5}"/>
              </a:ext>
            </a:extLst>
          </p:cNvPr>
          <p:cNvSpPr txBox="1"/>
          <p:nvPr/>
        </p:nvSpPr>
        <p:spPr>
          <a:xfrm>
            <a:off x="6269763" y="6488668"/>
            <a:ext cx="5953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(Horowitz et al. 2021; Jiao et al. 2016; Stabile et al. 2023)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BB6D8F-9CF4-4ED5-17EB-D7342EE9C792}"/>
              </a:ext>
            </a:extLst>
          </p:cNvPr>
          <p:cNvSpPr txBox="1"/>
          <p:nvPr/>
        </p:nvSpPr>
        <p:spPr>
          <a:xfrm>
            <a:off x="992913" y="2913563"/>
            <a:ext cx="892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Быстрое прогрессирование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76F833-6291-D5E5-4B89-2FC3AA8628BC}"/>
              </a:ext>
            </a:extLst>
          </p:cNvPr>
          <p:cNvSpPr txBox="1"/>
          <p:nvPr/>
        </p:nvSpPr>
        <p:spPr>
          <a:xfrm>
            <a:off x="992913" y="5206187"/>
            <a:ext cx="8140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Метастатический потенциал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90E564-7D29-614F-5130-679C4E3B9B0F}"/>
              </a:ext>
            </a:extLst>
          </p:cNvPr>
          <p:cNvSpPr txBox="1"/>
          <p:nvPr/>
        </p:nvSpPr>
        <p:spPr>
          <a:xfrm>
            <a:off x="992913" y="4059875"/>
            <a:ext cx="622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 err="1"/>
              <a:t>Интраплацентарная</a:t>
            </a:r>
            <a:r>
              <a:rPr lang="ru-RU" sz="3600" dirty="0"/>
              <a:t> форма</a:t>
            </a:r>
          </a:p>
        </p:txBody>
      </p: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AE85EEC5-3A5A-13BF-772D-4367F951366E}"/>
              </a:ext>
            </a:extLst>
          </p:cNvPr>
          <p:cNvGrpSpPr/>
          <p:nvPr/>
        </p:nvGrpSpPr>
        <p:grpSpPr>
          <a:xfrm>
            <a:off x="535713" y="5281002"/>
            <a:ext cx="476250" cy="476950"/>
            <a:chOff x="535713" y="5281002"/>
            <a:chExt cx="476250" cy="476950"/>
          </a:xfrm>
        </p:grpSpPr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DB27956A-433F-6326-60BD-E9DA87214345}"/>
                </a:ext>
              </a:extLst>
            </p:cNvPr>
            <p:cNvSpPr/>
            <p:nvPr/>
          </p:nvSpPr>
          <p:spPr>
            <a:xfrm>
              <a:off x="535713" y="5300752"/>
              <a:ext cx="457200" cy="45720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49" name="Рисунок 48" descr="Статистика со сплошной заливкой">
              <a:extLst>
                <a:ext uri="{FF2B5EF4-FFF2-40B4-BE49-F238E27FC236}">
                  <a16:creationId xmlns:a16="http://schemas.microsoft.com/office/drawing/2014/main" id="{C93C95C2-5CCD-FE05-97D8-E7352638B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4407" b="21684"/>
            <a:stretch/>
          </p:blipFill>
          <p:spPr>
            <a:xfrm>
              <a:off x="590156" y="5281002"/>
              <a:ext cx="421807" cy="437004"/>
            </a:xfrm>
            <a:prstGeom prst="rect">
              <a:avLst/>
            </a:prstGeom>
          </p:spPr>
        </p:pic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3703F1F0-36F7-575B-4489-FC7C51F8CE9E}"/>
              </a:ext>
            </a:extLst>
          </p:cNvPr>
          <p:cNvGrpSpPr/>
          <p:nvPr/>
        </p:nvGrpSpPr>
        <p:grpSpPr>
          <a:xfrm>
            <a:off x="535713" y="4150601"/>
            <a:ext cx="457200" cy="461039"/>
            <a:chOff x="535713" y="4150601"/>
            <a:chExt cx="457200" cy="461039"/>
          </a:xfrm>
        </p:grpSpPr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6643C921-3B44-0DA7-E50A-B624E4754987}"/>
                </a:ext>
              </a:extLst>
            </p:cNvPr>
            <p:cNvSpPr/>
            <p:nvPr/>
          </p:nvSpPr>
          <p:spPr>
            <a:xfrm>
              <a:off x="535713" y="4154440"/>
              <a:ext cx="457200" cy="45720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1" name="Рисунок 50" descr="Диаграмма Венна со сплошной заливкой">
              <a:extLst>
                <a:ext uri="{FF2B5EF4-FFF2-40B4-BE49-F238E27FC236}">
                  <a16:creationId xmlns:a16="http://schemas.microsoft.com/office/drawing/2014/main" id="{1DB4714D-767F-EA69-A05C-C4D6EA07C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5713" y="4150601"/>
              <a:ext cx="457200" cy="457200"/>
            </a:xfrm>
            <a:prstGeom prst="rect">
              <a:avLst/>
            </a:prstGeom>
          </p:spPr>
        </p:pic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52B31090-D7BB-0AE0-DE8E-78217470A6B3}"/>
              </a:ext>
            </a:extLst>
          </p:cNvPr>
          <p:cNvGrpSpPr/>
          <p:nvPr/>
        </p:nvGrpSpPr>
        <p:grpSpPr>
          <a:xfrm>
            <a:off x="535713" y="3004289"/>
            <a:ext cx="457200" cy="457200"/>
            <a:chOff x="535713" y="3004289"/>
            <a:chExt cx="457200" cy="457200"/>
          </a:xfrm>
        </p:grpSpPr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147C6824-2C7F-EEA1-5ED2-A690F4DCAA4C}"/>
                </a:ext>
              </a:extLst>
            </p:cNvPr>
            <p:cNvSpPr/>
            <p:nvPr/>
          </p:nvSpPr>
          <p:spPr>
            <a:xfrm>
              <a:off x="535713" y="3004289"/>
              <a:ext cx="457200" cy="45720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3" name="Рисунок 52" descr="Диаграмма с подъемом со сплошной заливкой">
              <a:extLst>
                <a:ext uri="{FF2B5EF4-FFF2-40B4-BE49-F238E27FC236}">
                  <a16:creationId xmlns:a16="http://schemas.microsoft.com/office/drawing/2014/main" id="{C80327E7-148A-4CCD-2873-A686D983F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1275" b="22660"/>
            <a:stretch/>
          </p:blipFill>
          <p:spPr>
            <a:xfrm>
              <a:off x="613138" y="3049380"/>
              <a:ext cx="341744" cy="335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18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1BA0B-4A4A-DA6A-97FC-B6F3DD99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77" y="0"/>
            <a:ext cx="11680723" cy="1333500"/>
          </a:xfrm>
        </p:spPr>
        <p:txBody>
          <a:bodyPr>
            <a:normAutofit/>
          </a:bodyPr>
          <a:lstStyle/>
          <a:p>
            <a:r>
              <a:rPr lang="ru-RU" sz="6000" dirty="0"/>
              <a:t>Эпидемиология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0D14D1-434B-8D68-E15E-A0A42B0F50A9}"/>
              </a:ext>
            </a:extLst>
          </p:cNvPr>
          <p:cNvSpPr txBox="1"/>
          <p:nvPr/>
        </p:nvSpPr>
        <p:spPr>
          <a:xfrm>
            <a:off x="409677" y="1041112"/>
            <a:ext cx="118950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встречается редко, но агрессивна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E08C6-1B5A-8B57-57FF-1B8184B61806}"/>
              </a:ext>
            </a:extLst>
          </p:cNvPr>
          <p:cNvSpPr txBox="1"/>
          <p:nvPr/>
        </p:nvSpPr>
        <p:spPr>
          <a:xfrm>
            <a:off x="8241534" y="6488668"/>
            <a:ext cx="4063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(Сангинов </a:t>
            </a:r>
            <a:r>
              <a:rPr lang="en-US" dirty="0">
                <a:solidFill>
                  <a:schemeClr val="tx2"/>
                </a:solidFill>
              </a:rPr>
              <a:t>et al. 2019; </a:t>
            </a:r>
            <a:r>
              <a:rPr lang="da-DK" dirty="0">
                <a:solidFill>
                  <a:schemeClr val="tx2"/>
                </a:solidFill>
              </a:rPr>
              <a:t>И.а et al. 2017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29" name="Объект 28">
            <a:extLst>
              <a:ext uri="{FF2B5EF4-FFF2-40B4-BE49-F238E27FC236}">
                <a16:creationId xmlns:a16="http://schemas.microsoft.com/office/drawing/2014/main" id="{AFED94DE-3722-4DE2-0210-FE084459F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5232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44342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7">
      <a:dk1>
        <a:sysClr val="windowText" lastClr="000000"/>
      </a:dk1>
      <a:lt1>
        <a:srgbClr val="FFFFFF"/>
      </a:lt1>
      <a:dk2>
        <a:srgbClr val="3A3838"/>
      </a:dk2>
      <a:lt2>
        <a:srgbClr val="E7E6E6"/>
      </a:lt2>
      <a:accent1>
        <a:srgbClr val="FA735C"/>
      </a:accent1>
      <a:accent2>
        <a:srgbClr val="5C95FA"/>
      </a:accent2>
      <a:accent3>
        <a:srgbClr val="FAA15C"/>
      </a:accent3>
      <a:accent4>
        <a:srgbClr val="5CE8FA"/>
      </a:accent4>
      <a:accent5>
        <a:srgbClr val="4ED39C"/>
      </a:accent5>
      <a:accent6>
        <a:srgbClr val="AF8CC3"/>
      </a:accent6>
      <a:hlink>
        <a:srgbClr val="5CE8FA"/>
      </a:hlink>
      <a:folHlink>
        <a:srgbClr val="AF8CC3"/>
      </a:folHlink>
    </a:clrScheme>
    <a:fontScheme name="Другая 5">
      <a:majorFont>
        <a:latin typeface="Raleway Black"/>
        <a:ea typeface=""/>
        <a:cs typeface=""/>
      </a:majorFont>
      <a:minorFont>
        <a:latin typeface="Ralewa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103</Words>
  <Application>Microsoft Office PowerPoint</Application>
  <PresentationFormat>Широкоэкранный</PresentationFormat>
  <Paragraphs>20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Raleway</vt:lpstr>
      <vt:lpstr>Raleway Black</vt:lpstr>
      <vt:lpstr>Тема Office</vt:lpstr>
      <vt:lpstr>Влияние пола эмбриона на риск формирования хориокарциномы и тяжесть течения</vt:lpstr>
      <vt:lpstr>Хориокарцинома</vt:lpstr>
      <vt:lpstr>Эпидемиология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Кулиш</dc:creator>
  <cp:lastModifiedBy>Александр Кулиш</cp:lastModifiedBy>
  <cp:revision>1</cp:revision>
  <dcterms:created xsi:type="dcterms:W3CDTF">2025-03-25T11:53:59Z</dcterms:created>
  <dcterms:modified xsi:type="dcterms:W3CDTF">2025-03-25T14:59:47Z</dcterms:modified>
</cp:coreProperties>
</file>