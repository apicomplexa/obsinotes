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7" r:id="rId18"/>
    <p:sldId id="278" r:id="rId19"/>
    <p:sldId id="273" r:id="rId20"/>
    <p:sldId id="274" r:id="rId21"/>
    <p:sldId id="275" r:id="rId22"/>
    <p:sldId id="276" r:id="rId23"/>
    <p:sldId id="263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16A04C7C-FA37-4CA1-8EDE-F7277AD5E6FF}">
          <p14:sldIdLst>
            <p14:sldId id="256"/>
            <p14:sldId id="257"/>
            <p14:sldId id="258"/>
            <p14:sldId id="262"/>
            <p14:sldId id="259"/>
            <p14:sldId id="260"/>
          </p14:sldIdLst>
        </p14:section>
        <p14:section name="Древние гоминиды" id="{A72615D7-9866-429B-981C-D75E3D573A88}">
          <p14:sldIdLst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7"/>
            <p14:sldId id="278"/>
            <p14:sldId id="273"/>
            <p14:sldId id="274"/>
            <p14:sldId id="275"/>
            <p14:sldId id="276"/>
          </p14:sldIdLst>
        </p14:section>
        <p14:section name="Спасибо" id="{CC91B166-4322-427D-B131-6753C743B12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userDrawn="1">
          <p15:clr>
            <a:srgbClr val="547EBF"/>
          </p15:clr>
        </p15:guide>
        <p15:guide id="5" userDrawn="1">
          <p15:clr>
            <a:srgbClr val="547EBF"/>
          </p15:clr>
        </p15:guide>
        <p15:guide id="6" pos="7680" userDrawn="1">
          <p15:clr>
            <a:srgbClr val="547EBF"/>
          </p15:clr>
        </p15:guide>
        <p15:guide id="7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53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12" y="1008"/>
      </p:cViewPr>
      <p:guideLst>
        <p:guide orient="horz" pos="2160"/>
        <p:guide pos="3840"/>
        <p:guide orient="horz"/>
        <p:guide/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F8650-B19E-9E3A-FBA7-A6B5F6A4A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362275-4710-E17E-776F-25E57B338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55DC15-916D-CFC7-4D25-A961CD0D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CBA52D-7FA0-DFDB-BB20-4D76432D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53EA17-D38B-30E6-EBCD-982682B7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31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03991-1AEA-E8E4-1E2D-AB6D90D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ECB039-608A-DBF5-C3C5-2FF0D926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4E619A-D81B-F24E-E5BF-47340445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BA0BEE-03A0-DD12-1CBD-3462FFF2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4E5F6D-5FE1-C29A-7524-B99B1490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57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17D19-00CA-A829-91BD-7802B1F8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5ECB59-8D39-5AC4-DDBA-75D276291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5F2E49-B08B-4172-098C-BA335BDA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6F596A-F7E8-D7B3-296F-5197618B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2D6CE-289A-8A6B-DDCE-0FAF47DE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73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55234-0118-5B6A-AB5B-8F72EFB1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27F4B5-D951-9E52-880F-DCB0CC2DC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255E4A-9D82-877D-9FE2-65EA0C1E1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829808-65D8-F1FD-DC6E-21560AA7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B6FE12-FDFA-7967-4036-2127960B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BC663B-028C-1AFC-A41E-F973997F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66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CE87F-1F6B-B6CC-B31D-E5C9D5B4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D2CB93-20B9-0A73-E2ED-286095132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E70D0D-2259-52D8-25FE-415A58F45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146BEA-A69E-4943-A2AD-80B8D20D8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618017-52E4-7BDC-5109-8F586C25F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EFA2E97-4F62-97D8-37D7-A958CF50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C1A833-B7A3-E110-3997-8B13A68A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4E619A-A8E5-6B9A-0C95-F9085063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9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9445E-C8A0-79CF-C75C-1D2F5C34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78A4C5-1485-FFAF-0221-11A155E7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B56035-3108-6AC1-0EC4-D9EE9E1E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669E6E-D6B2-E948-69F0-FD22E6F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56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3F400E9-921C-49E1-4FC1-F18B3EBB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5108E4-5D27-09C0-9F6E-2DD4F9A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2F5E2C-2F5E-7AD4-D0EC-0E2FAA5A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0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0ADB7-E775-F640-48BD-690F09EA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E05F09-7E4E-2F0C-E69D-9CEFB31E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091980-3A4A-D1FF-CC85-A3D402197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43DD9E-1F71-460C-F086-A47A59B4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507108-228A-77C9-43C2-F45F200D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574695-2BE3-8309-C503-3F7EC586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69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35382-C4A8-E5DF-0DC6-EA155745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A598A57-F22E-3F05-25A8-2E3C42025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907307-9505-9058-280E-E88407926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E73957-2D3C-3BD5-620E-439240DB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7C6B2A-46CC-6B56-B60C-7176F81B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B9463C-2322-D3DE-6181-D89ABF1E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86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5B0B9-FB79-0279-0E76-B78E8AE0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727453-052C-80A6-A4AB-F2D18B1F3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D89E64-E0EF-9395-AAF9-1DE48404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D2D0B9-CE2F-0A20-6762-10A85932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D30A73-6AD0-D6CD-B1A2-1BCF4E1D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18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18C520E-6349-F58A-366E-EE80F7F22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289443-BC53-172E-D6B2-21C90030A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2BD60-3937-85DA-B81A-A282C21C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40A987-DFAF-7F32-A37B-F31EEDBA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CDE2E0-2E30-2887-93AF-02E28628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18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2DF85-8315-B116-8D25-6A8CA431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DA2E9C-F796-0D8B-E20A-107161536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E82AD7-65CE-951B-FBD1-59D1E1A27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A9609-F200-4B0E-A3E2-F4AF8B30063E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4F609C-0FC0-93C5-DC21-E2B67B171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A6773-1CDE-9712-1B4E-640DBD5C6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ADBF5-7244-4900-BDE0-3D4709C3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76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84A077D-262A-5BB2-F1E9-A43912B2891D}"/>
              </a:ext>
            </a:extLst>
          </p:cNvPr>
          <p:cNvSpPr/>
          <p:nvPr/>
        </p:nvSpPr>
        <p:spPr>
          <a:xfrm>
            <a:off x="0" y="5878286"/>
            <a:ext cx="12192000" cy="9797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BFB8D94-A5C8-AB9C-EE88-EEC334FBB2AD}"/>
              </a:ext>
            </a:extLst>
          </p:cNvPr>
          <p:cNvSpPr/>
          <p:nvPr/>
        </p:nvSpPr>
        <p:spPr>
          <a:xfrm>
            <a:off x="-3715657" y="4238625"/>
            <a:ext cx="18046577" cy="1513364"/>
          </a:xfrm>
          <a:custGeom>
            <a:avLst/>
            <a:gdLst>
              <a:gd name="connsiteX0" fmla="*/ 1402093 w 15361537"/>
              <a:gd name="connsiteY0" fmla="*/ 717701 h 2826907"/>
              <a:gd name="connsiteX1" fmla="*/ 4231018 w 15361537"/>
              <a:gd name="connsiteY1" fmla="*/ 3326 h 2826907"/>
              <a:gd name="connsiteX2" fmla="*/ 7955293 w 15361537"/>
              <a:gd name="connsiteY2" fmla="*/ 974876 h 2826907"/>
              <a:gd name="connsiteX3" fmla="*/ 11689093 w 15361537"/>
              <a:gd name="connsiteY3" fmla="*/ 41426 h 2826907"/>
              <a:gd name="connsiteX4" fmla="*/ 14727568 w 15361537"/>
              <a:gd name="connsiteY4" fmla="*/ 784376 h 2826907"/>
              <a:gd name="connsiteX5" fmla="*/ 14632318 w 15361537"/>
              <a:gd name="connsiteY5" fmla="*/ 755801 h 2826907"/>
              <a:gd name="connsiteX6" fmla="*/ 14298943 w 15361537"/>
              <a:gd name="connsiteY6" fmla="*/ 2613176 h 2826907"/>
              <a:gd name="connsiteX7" fmla="*/ 1316368 w 15361537"/>
              <a:gd name="connsiteY7" fmla="*/ 2575076 h 2826907"/>
              <a:gd name="connsiteX8" fmla="*/ 1116343 w 15361537"/>
              <a:gd name="connsiteY8" fmla="*/ 717701 h 28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61537" h="2826907">
                <a:moveTo>
                  <a:pt x="1402093" y="717701"/>
                </a:moveTo>
                <a:cubicBezTo>
                  <a:pt x="2270455" y="339082"/>
                  <a:pt x="3138818" y="-39536"/>
                  <a:pt x="4231018" y="3326"/>
                </a:cubicBezTo>
                <a:cubicBezTo>
                  <a:pt x="5323218" y="46188"/>
                  <a:pt x="6712281" y="968526"/>
                  <a:pt x="7955293" y="974876"/>
                </a:cubicBezTo>
                <a:cubicBezTo>
                  <a:pt x="9198305" y="981226"/>
                  <a:pt x="10560381" y="73176"/>
                  <a:pt x="11689093" y="41426"/>
                </a:cubicBezTo>
                <a:cubicBezTo>
                  <a:pt x="12817805" y="9676"/>
                  <a:pt x="14237031" y="665313"/>
                  <a:pt x="14727568" y="784376"/>
                </a:cubicBezTo>
                <a:cubicBezTo>
                  <a:pt x="15218106" y="903439"/>
                  <a:pt x="14703756" y="451001"/>
                  <a:pt x="14632318" y="755801"/>
                </a:cubicBezTo>
                <a:cubicBezTo>
                  <a:pt x="14560880" y="1060601"/>
                  <a:pt x="16518268" y="2309964"/>
                  <a:pt x="14298943" y="2613176"/>
                </a:cubicBezTo>
                <a:cubicBezTo>
                  <a:pt x="12079618" y="2916388"/>
                  <a:pt x="3513468" y="2890988"/>
                  <a:pt x="1316368" y="2575076"/>
                </a:cubicBezTo>
                <a:cubicBezTo>
                  <a:pt x="-880732" y="2259164"/>
                  <a:pt x="117805" y="1488432"/>
                  <a:pt x="1116343" y="717701"/>
                </a:cubicBezTo>
              </a:path>
            </a:pathLst>
          </a:custGeom>
          <a:gradFill>
            <a:gsLst>
              <a:gs pos="21000">
                <a:schemeClr val="accent1">
                  <a:lumMod val="60000"/>
                  <a:lumOff val="40000"/>
                </a:schemeClr>
              </a:gs>
              <a:gs pos="38000">
                <a:schemeClr val="accent2">
                  <a:lumMod val="60000"/>
                  <a:lumOff val="40000"/>
                </a:schemeClr>
              </a:gs>
              <a:gs pos="64000">
                <a:schemeClr val="accent4">
                  <a:lumMod val="60000"/>
                  <a:lumOff val="40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A161C-A331-ECA6-6861-B21DC73DF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70" y="1866901"/>
            <a:ext cx="11335657" cy="2371724"/>
          </a:xfrm>
        </p:spPr>
        <p:txBody>
          <a:bodyPr>
            <a:normAutofit fontScale="90000"/>
          </a:bodyPr>
          <a:lstStyle/>
          <a:p>
            <a:r>
              <a:rPr lang="ru-RU" dirty="0"/>
              <a:t>Нобелевская премия по физиологии и медицине 2022 года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9ABA1-06D5-CFF5-0944-1B7DAB3F1BB8}"/>
              </a:ext>
            </a:extLst>
          </p:cNvPr>
          <p:cNvSpPr txBox="1"/>
          <p:nvPr/>
        </p:nvSpPr>
        <p:spPr>
          <a:xfrm>
            <a:off x="0" y="285750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ФГБОУ ВО Северный государственный медицинский университет </a:t>
            </a:r>
          </a:p>
          <a:p>
            <a:pPr algn="ctr"/>
            <a:r>
              <a:rPr lang="ru-RU" b="1" dirty="0"/>
              <a:t>(г. Архангельск) министерства здравоохранения</a:t>
            </a:r>
          </a:p>
          <a:p>
            <a:pPr algn="ctr"/>
            <a:r>
              <a:rPr lang="ru-RU" b="1" dirty="0"/>
              <a:t>Институт клинической физиологии</a:t>
            </a:r>
          </a:p>
          <a:p>
            <a:pPr algn="ctr"/>
            <a:r>
              <a:rPr lang="ru-RU" b="1" dirty="0"/>
              <a:t>Кафедра нормальной физиологии</a:t>
            </a:r>
          </a:p>
        </p:txBody>
      </p:sp>
      <p:pic>
        <p:nvPicPr>
          <p:cNvPr id="1026" name="Picture 2" descr="Лица Победы - медицинский полк СГМУ!">
            <a:extLst>
              <a:ext uri="{FF2B5EF4-FFF2-40B4-BE49-F238E27FC236}">
                <a16:creationId xmlns:a16="http://schemas.microsoft.com/office/drawing/2014/main" id="{7F3C012A-BB41-CAB3-1556-11F3E699A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214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A4D4472D-6C0B-7F84-5043-31EA5086DDAE}"/>
              </a:ext>
            </a:extLst>
          </p:cNvPr>
          <p:cNvSpPr/>
          <p:nvPr/>
        </p:nvSpPr>
        <p:spPr>
          <a:xfrm>
            <a:off x="-1720046" y="4536719"/>
            <a:ext cx="15361537" cy="1513364"/>
          </a:xfrm>
          <a:custGeom>
            <a:avLst/>
            <a:gdLst>
              <a:gd name="connsiteX0" fmla="*/ 1402093 w 15361537"/>
              <a:gd name="connsiteY0" fmla="*/ 717701 h 2826907"/>
              <a:gd name="connsiteX1" fmla="*/ 4231018 w 15361537"/>
              <a:gd name="connsiteY1" fmla="*/ 3326 h 2826907"/>
              <a:gd name="connsiteX2" fmla="*/ 7955293 w 15361537"/>
              <a:gd name="connsiteY2" fmla="*/ 974876 h 2826907"/>
              <a:gd name="connsiteX3" fmla="*/ 11689093 w 15361537"/>
              <a:gd name="connsiteY3" fmla="*/ 41426 h 2826907"/>
              <a:gd name="connsiteX4" fmla="*/ 14727568 w 15361537"/>
              <a:gd name="connsiteY4" fmla="*/ 784376 h 2826907"/>
              <a:gd name="connsiteX5" fmla="*/ 14632318 w 15361537"/>
              <a:gd name="connsiteY5" fmla="*/ 755801 h 2826907"/>
              <a:gd name="connsiteX6" fmla="*/ 14298943 w 15361537"/>
              <a:gd name="connsiteY6" fmla="*/ 2613176 h 2826907"/>
              <a:gd name="connsiteX7" fmla="*/ 1316368 w 15361537"/>
              <a:gd name="connsiteY7" fmla="*/ 2575076 h 2826907"/>
              <a:gd name="connsiteX8" fmla="*/ 1116343 w 15361537"/>
              <a:gd name="connsiteY8" fmla="*/ 717701 h 28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61537" h="2826907">
                <a:moveTo>
                  <a:pt x="1402093" y="717701"/>
                </a:moveTo>
                <a:cubicBezTo>
                  <a:pt x="2270455" y="339082"/>
                  <a:pt x="3138818" y="-39536"/>
                  <a:pt x="4231018" y="3326"/>
                </a:cubicBezTo>
                <a:cubicBezTo>
                  <a:pt x="5323218" y="46188"/>
                  <a:pt x="6712281" y="968526"/>
                  <a:pt x="7955293" y="974876"/>
                </a:cubicBezTo>
                <a:cubicBezTo>
                  <a:pt x="9198305" y="981226"/>
                  <a:pt x="10560381" y="73176"/>
                  <a:pt x="11689093" y="41426"/>
                </a:cubicBezTo>
                <a:cubicBezTo>
                  <a:pt x="12817805" y="9676"/>
                  <a:pt x="14237031" y="665313"/>
                  <a:pt x="14727568" y="784376"/>
                </a:cubicBezTo>
                <a:cubicBezTo>
                  <a:pt x="15218106" y="903439"/>
                  <a:pt x="14703756" y="451001"/>
                  <a:pt x="14632318" y="755801"/>
                </a:cubicBezTo>
                <a:cubicBezTo>
                  <a:pt x="14560880" y="1060601"/>
                  <a:pt x="16518268" y="2309964"/>
                  <a:pt x="14298943" y="2613176"/>
                </a:cubicBezTo>
                <a:cubicBezTo>
                  <a:pt x="12079618" y="2916388"/>
                  <a:pt x="3513468" y="2890988"/>
                  <a:pt x="1316368" y="2575076"/>
                </a:cubicBezTo>
                <a:cubicBezTo>
                  <a:pt x="-880732" y="2259164"/>
                  <a:pt x="117805" y="1488432"/>
                  <a:pt x="1116343" y="717701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85BDF5-784B-9788-3B93-41A2BAD05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840287"/>
            <a:ext cx="9144000" cy="2017713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Выполнил: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Студент II куса лечебного факультета 3 группы:</a:t>
            </a:r>
          </a:p>
          <a:p>
            <a:pPr algn="r"/>
            <a:r>
              <a:rPr lang="ru-RU" b="1" dirty="0" err="1">
                <a:solidFill>
                  <a:schemeClr val="bg1"/>
                </a:solidFill>
              </a:rPr>
              <a:t>Зоболев</a:t>
            </a:r>
            <a:r>
              <a:rPr lang="ru-RU" b="1" dirty="0">
                <a:solidFill>
                  <a:schemeClr val="bg1"/>
                </a:solidFill>
              </a:rPr>
              <a:t> Александр Вячеславович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Научный руководитель: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доцент кафедры норм. физиологии,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к.м.н. </a:t>
            </a:r>
            <a:r>
              <a:rPr lang="ru-RU" dirty="0" err="1">
                <a:solidFill>
                  <a:schemeClr val="bg1"/>
                </a:solidFill>
              </a:rPr>
              <a:t>Зашихина</a:t>
            </a:r>
            <a:r>
              <a:rPr lang="ru-RU" dirty="0">
                <a:solidFill>
                  <a:schemeClr val="bg1"/>
                </a:solidFill>
              </a:rPr>
              <a:t> Виктория Викторовна</a:t>
            </a:r>
          </a:p>
          <a:p>
            <a:pPr algn="r"/>
            <a:endParaRPr lang="ru-RU" dirty="0">
              <a:solidFill>
                <a:schemeClr val="bg1"/>
              </a:solidFill>
            </a:endParaRPr>
          </a:p>
          <a:p>
            <a:pPr algn="r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935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81E49B05-6038-35BA-C7EF-D37366E651A4}"/>
              </a:ext>
            </a:extLst>
          </p:cNvPr>
          <p:cNvSpPr/>
          <p:nvPr/>
        </p:nvSpPr>
        <p:spPr>
          <a:xfrm rot="10800000">
            <a:off x="3084593" y="-1564377"/>
            <a:ext cx="5488855" cy="11563349"/>
          </a:xfrm>
          <a:custGeom>
            <a:avLst/>
            <a:gdLst>
              <a:gd name="connsiteX0" fmla="*/ 1016492 w 8888190"/>
              <a:gd name="connsiteY0" fmla="*/ 1601862 h 10317887"/>
              <a:gd name="connsiteX1" fmla="*/ 58549 w 8888190"/>
              <a:gd name="connsiteY1" fmla="*/ 2995233 h 10317887"/>
              <a:gd name="connsiteX2" fmla="*/ 943920 w 8888190"/>
              <a:gd name="connsiteY2" fmla="*/ 4228948 h 10317887"/>
              <a:gd name="connsiteX3" fmla="*/ 87578 w 8888190"/>
              <a:gd name="connsiteY3" fmla="*/ 5636833 h 10317887"/>
              <a:gd name="connsiteX4" fmla="*/ 1016492 w 8888190"/>
              <a:gd name="connsiteY4" fmla="*/ 6972148 h 10317887"/>
              <a:gd name="connsiteX5" fmla="*/ 492 w 8888190"/>
              <a:gd name="connsiteY5" fmla="*/ 8017176 h 10317887"/>
              <a:gd name="connsiteX6" fmla="*/ 885863 w 8888190"/>
              <a:gd name="connsiteY6" fmla="*/ 9526662 h 10317887"/>
              <a:gd name="connsiteX7" fmla="*/ 1205178 w 8888190"/>
              <a:gd name="connsiteY7" fmla="*/ 9512148 h 10317887"/>
              <a:gd name="connsiteX8" fmla="*/ 8143006 w 8888190"/>
              <a:gd name="connsiteY8" fmla="*/ 9700833 h 10317887"/>
              <a:gd name="connsiteX9" fmla="*/ 7867235 w 8888190"/>
              <a:gd name="connsiteY9" fmla="*/ 643919 h 10317887"/>
              <a:gd name="connsiteX10" fmla="*/ 798778 w 8888190"/>
              <a:gd name="connsiteY10" fmla="*/ 832605 h 10317887"/>
              <a:gd name="connsiteX11" fmla="*/ 769749 w 8888190"/>
              <a:gd name="connsiteY11" fmla="*/ 1601862 h 10317887"/>
              <a:gd name="connsiteX0" fmla="*/ 958065 w 8829763"/>
              <a:gd name="connsiteY0" fmla="*/ 1601862 h 10317887"/>
              <a:gd name="connsiteX1" fmla="*/ 122 w 8829763"/>
              <a:gd name="connsiteY1" fmla="*/ 2995233 h 10317887"/>
              <a:gd name="connsiteX2" fmla="*/ 885493 w 8829763"/>
              <a:gd name="connsiteY2" fmla="*/ 4228948 h 10317887"/>
              <a:gd name="connsiteX3" fmla="*/ 29151 w 8829763"/>
              <a:gd name="connsiteY3" fmla="*/ 5636833 h 10317887"/>
              <a:gd name="connsiteX4" fmla="*/ 958065 w 8829763"/>
              <a:gd name="connsiteY4" fmla="*/ 6972148 h 10317887"/>
              <a:gd name="connsiteX5" fmla="*/ 64646 w 8829763"/>
              <a:gd name="connsiteY5" fmla="*/ 8230536 h 10317887"/>
              <a:gd name="connsiteX6" fmla="*/ 827436 w 8829763"/>
              <a:gd name="connsiteY6" fmla="*/ 9526662 h 10317887"/>
              <a:gd name="connsiteX7" fmla="*/ 1146751 w 8829763"/>
              <a:gd name="connsiteY7" fmla="*/ 9512148 h 10317887"/>
              <a:gd name="connsiteX8" fmla="*/ 8084579 w 8829763"/>
              <a:gd name="connsiteY8" fmla="*/ 9700833 h 10317887"/>
              <a:gd name="connsiteX9" fmla="*/ 7808808 w 8829763"/>
              <a:gd name="connsiteY9" fmla="*/ 643919 h 10317887"/>
              <a:gd name="connsiteX10" fmla="*/ 740351 w 8829763"/>
              <a:gd name="connsiteY10" fmla="*/ 832605 h 10317887"/>
              <a:gd name="connsiteX11" fmla="*/ 711322 w 8829763"/>
              <a:gd name="connsiteY11" fmla="*/ 1601862 h 10317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829763" h="10317887">
                <a:moveTo>
                  <a:pt x="958065" y="1601862"/>
                </a:moveTo>
                <a:cubicBezTo>
                  <a:pt x="485141" y="2079623"/>
                  <a:pt x="12217" y="2557385"/>
                  <a:pt x="122" y="2995233"/>
                </a:cubicBezTo>
                <a:cubicBezTo>
                  <a:pt x="-11973" y="3433081"/>
                  <a:pt x="880655" y="3788681"/>
                  <a:pt x="885493" y="4228948"/>
                </a:cubicBezTo>
                <a:cubicBezTo>
                  <a:pt x="890331" y="4669215"/>
                  <a:pt x="17056" y="5179633"/>
                  <a:pt x="29151" y="5636833"/>
                </a:cubicBezTo>
                <a:cubicBezTo>
                  <a:pt x="41246" y="6094033"/>
                  <a:pt x="952149" y="6539864"/>
                  <a:pt x="958065" y="6972148"/>
                </a:cubicBezTo>
                <a:cubicBezTo>
                  <a:pt x="963981" y="7404432"/>
                  <a:pt x="86417" y="7804784"/>
                  <a:pt x="64646" y="8230536"/>
                </a:cubicBezTo>
                <a:cubicBezTo>
                  <a:pt x="42875" y="8656288"/>
                  <a:pt x="647085" y="9313060"/>
                  <a:pt x="827436" y="9526662"/>
                </a:cubicBezTo>
                <a:cubicBezTo>
                  <a:pt x="1007787" y="9740264"/>
                  <a:pt x="1146751" y="9512148"/>
                  <a:pt x="1146751" y="9512148"/>
                </a:cubicBezTo>
                <a:cubicBezTo>
                  <a:pt x="2356275" y="9541176"/>
                  <a:pt x="6974236" y="11178871"/>
                  <a:pt x="8084579" y="9700833"/>
                </a:cubicBezTo>
                <a:cubicBezTo>
                  <a:pt x="9194922" y="8222795"/>
                  <a:pt x="9032846" y="2121957"/>
                  <a:pt x="7808808" y="643919"/>
                </a:cubicBezTo>
                <a:cubicBezTo>
                  <a:pt x="6584770" y="-834119"/>
                  <a:pt x="1923265" y="672948"/>
                  <a:pt x="740351" y="832605"/>
                </a:cubicBezTo>
                <a:cubicBezTo>
                  <a:pt x="-442563" y="992262"/>
                  <a:pt x="134379" y="1297062"/>
                  <a:pt x="711322" y="1601862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09E765E-A5A8-BAE7-CB07-D2FD8E7857F9}"/>
              </a:ext>
            </a:extLst>
          </p:cNvPr>
          <p:cNvSpPr/>
          <p:nvPr/>
        </p:nvSpPr>
        <p:spPr>
          <a:xfrm>
            <a:off x="-16797" y="-56612"/>
            <a:ext cx="2950497" cy="69146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3E799CB-22D3-833E-9BFE-5F262841ACCB}"/>
              </a:ext>
            </a:extLst>
          </p:cNvPr>
          <p:cNvSpPr txBox="1">
            <a:spLocks/>
          </p:cNvSpPr>
          <p:nvPr/>
        </p:nvSpPr>
        <p:spPr>
          <a:xfrm>
            <a:off x="-25495" y="590549"/>
            <a:ext cx="5727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Омики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C9484-7CF4-C5D5-E1C6-C85C9AEC7B30}"/>
              </a:ext>
            </a:extLst>
          </p:cNvPr>
          <p:cNvSpPr txBox="1"/>
          <p:nvPr/>
        </p:nvSpPr>
        <p:spPr>
          <a:xfrm>
            <a:off x="406399" y="1916112"/>
            <a:ext cx="48578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Изучение </a:t>
            </a:r>
            <a:r>
              <a:rPr lang="ru-RU" sz="2800" i="1" dirty="0"/>
              <a:t>всей совокупности </a:t>
            </a:r>
            <a:r>
              <a:rPr lang="ru-RU" sz="2800" dirty="0"/>
              <a:t>биологических молекул находящихся в организме.</a:t>
            </a:r>
          </a:p>
          <a:p>
            <a:endParaRPr lang="ru-RU" sz="2800" dirty="0"/>
          </a:p>
          <a:p>
            <a:r>
              <a:rPr lang="ru-RU" sz="2800" b="1" dirty="0"/>
              <a:t>Геномика</a:t>
            </a:r>
            <a:r>
              <a:rPr lang="ru-RU" sz="2800" dirty="0"/>
              <a:t> исследует всю ДНК организма целиком, т.е. геном организма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84D067A4-FE1A-B6CE-87A4-EC38A8F24501}"/>
              </a:ext>
            </a:extLst>
          </p:cNvPr>
          <p:cNvSpPr/>
          <p:nvPr/>
        </p:nvSpPr>
        <p:spPr>
          <a:xfrm>
            <a:off x="1809749" y="-1564377"/>
            <a:ext cx="6421903" cy="9986753"/>
          </a:xfrm>
          <a:custGeom>
            <a:avLst/>
            <a:gdLst>
              <a:gd name="connsiteX0" fmla="*/ 7611758 w 8361466"/>
              <a:gd name="connsiteY0" fmla="*/ 1223878 h 9986753"/>
              <a:gd name="connsiteX1" fmla="*/ 8361058 w 8361466"/>
              <a:gd name="connsiteY1" fmla="*/ 2112878 h 9986753"/>
              <a:gd name="connsiteX2" fmla="*/ 7726058 w 8361466"/>
              <a:gd name="connsiteY2" fmla="*/ 3522578 h 9986753"/>
              <a:gd name="connsiteX3" fmla="*/ 8361058 w 8361466"/>
              <a:gd name="connsiteY3" fmla="*/ 5021178 h 9986753"/>
              <a:gd name="connsiteX4" fmla="*/ 7662558 w 8361466"/>
              <a:gd name="connsiteY4" fmla="*/ 6443578 h 9986753"/>
              <a:gd name="connsiteX5" fmla="*/ 8284858 w 8361466"/>
              <a:gd name="connsiteY5" fmla="*/ 8285078 h 9986753"/>
              <a:gd name="connsiteX6" fmla="*/ 7814958 w 8361466"/>
              <a:gd name="connsiteY6" fmla="*/ 9529678 h 9986753"/>
              <a:gd name="connsiteX7" fmla="*/ 7776858 w 8361466"/>
              <a:gd name="connsiteY7" fmla="*/ 9529678 h 9986753"/>
              <a:gd name="connsiteX8" fmla="*/ 995058 w 8361466"/>
              <a:gd name="connsiteY8" fmla="*/ 9275678 h 9986753"/>
              <a:gd name="connsiteX9" fmla="*/ 741058 w 8361466"/>
              <a:gd name="connsiteY9" fmla="*/ 766678 h 9986753"/>
              <a:gd name="connsiteX10" fmla="*/ 7713358 w 8361466"/>
              <a:gd name="connsiteY10" fmla="*/ 931778 h 998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61466" h="9986753">
                <a:moveTo>
                  <a:pt x="7611758" y="1223878"/>
                </a:moveTo>
                <a:cubicBezTo>
                  <a:pt x="7976883" y="1476819"/>
                  <a:pt x="8342008" y="1729761"/>
                  <a:pt x="8361058" y="2112878"/>
                </a:cubicBezTo>
                <a:cubicBezTo>
                  <a:pt x="8380108" y="2495995"/>
                  <a:pt x="7726058" y="3037861"/>
                  <a:pt x="7726058" y="3522578"/>
                </a:cubicBezTo>
                <a:cubicBezTo>
                  <a:pt x="7726058" y="4007295"/>
                  <a:pt x="8371641" y="4534345"/>
                  <a:pt x="8361058" y="5021178"/>
                </a:cubicBezTo>
                <a:cubicBezTo>
                  <a:pt x="8350475" y="5508011"/>
                  <a:pt x="7675258" y="5899595"/>
                  <a:pt x="7662558" y="6443578"/>
                </a:cubicBezTo>
                <a:cubicBezTo>
                  <a:pt x="7649858" y="6987561"/>
                  <a:pt x="8259458" y="7770728"/>
                  <a:pt x="8284858" y="8285078"/>
                </a:cubicBezTo>
                <a:cubicBezTo>
                  <a:pt x="8310258" y="8799428"/>
                  <a:pt x="7814958" y="9529678"/>
                  <a:pt x="7814958" y="9529678"/>
                </a:cubicBezTo>
                <a:cubicBezTo>
                  <a:pt x="7730291" y="9737111"/>
                  <a:pt x="7776858" y="9529678"/>
                  <a:pt x="7776858" y="9529678"/>
                </a:cubicBezTo>
                <a:cubicBezTo>
                  <a:pt x="6640208" y="9487345"/>
                  <a:pt x="2167691" y="10736178"/>
                  <a:pt x="995058" y="9275678"/>
                </a:cubicBezTo>
                <a:cubicBezTo>
                  <a:pt x="-177575" y="7815178"/>
                  <a:pt x="-378659" y="2157328"/>
                  <a:pt x="741058" y="766678"/>
                </a:cubicBezTo>
                <a:cubicBezTo>
                  <a:pt x="1860775" y="-623972"/>
                  <a:pt x="4787066" y="153903"/>
                  <a:pt x="7713358" y="93177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51FBD-CA9D-2E63-E834-6DD1CBBD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0752"/>
            <a:ext cx="7808457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«Отец палеогеномики»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7591C2E-8CC8-7FA0-DB37-9D484BDE4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5" r="27532"/>
          <a:stretch/>
        </p:blipFill>
        <p:spPr>
          <a:xfrm>
            <a:off x="8136186" y="380752"/>
            <a:ext cx="4492127" cy="6174167"/>
          </a:xfr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1C1DF2-66B3-90A3-02E7-F861ECA58560}"/>
              </a:ext>
            </a:extLst>
          </p:cNvPr>
          <p:cNvSpPr txBox="1"/>
          <p:nvPr/>
        </p:nvSpPr>
        <p:spPr>
          <a:xfrm rot="10800000">
            <a:off x="322475" y="-73918"/>
            <a:ext cx="1100057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solidFill>
                  <a:schemeClr val="accent5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’</a:t>
            </a:r>
            <a:endParaRPr lang="ru-RU" sz="239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8D4F0-D5C3-FE68-4D7B-8F5C15162538}"/>
              </a:ext>
            </a:extLst>
          </p:cNvPr>
          <p:cNvSpPr txBox="1"/>
          <p:nvPr/>
        </p:nvSpPr>
        <p:spPr>
          <a:xfrm>
            <a:off x="1407217" y="2205857"/>
            <a:ext cx="5348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i="1" dirty="0">
                <a:solidFill>
                  <a:schemeClr val="bg1">
                    <a:lumMod val="95000"/>
                  </a:schemeClr>
                </a:solidFill>
              </a:rPr>
              <a:t>За его открытия, касающиеся геномов вымерших гоминид и эволюции человека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E485D-1B6D-A1EE-DC12-793999980FAE}"/>
              </a:ext>
            </a:extLst>
          </p:cNvPr>
          <p:cNvSpPr txBox="1"/>
          <p:nvPr/>
        </p:nvSpPr>
        <p:spPr>
          <a:xfrm>
            <a:off x="6484344" y="3400693"/>
            <a:ext cx="1423904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00" dirty="0">
                <a:solidFill>
                  <a:schemeClr val="accent5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’</a:t>
            </a:r>
            <a:endParaRPr lang="ru-RU" sz="23900" dirty="0"/>
          </a:p>
        </p:txBody>
      </p:sp>
    </p:spTree>
    <p:extLst>
      <p:ext uri="{BB962C8B-B14F-4D97-AF65-F5344CB8AC3E}">
        <p14:creationId xmlns:p14="http://schemas.microsoft.com/office/powerpoint/2010/main" val="168482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BD54959E-4C06-EBDB-461F-11EA8DCA4152}"/>
              </a:ext>
            </a:extLst>
          </p:cNvPr>
          <p:cNvSpPr/>
          <p:nvPr/>
        </p:nvSpPr>
        <p:spPr>
          <a:xfrm>
            <a:off x="5574315" y="-2357029"/>
            <a:ext cx="7516984" cy="12419194"/>
          </a:xfrm>
          <a:custGeom>
            <a:avLst/>
            <a:gdLst>
              <a:gd name="connsiteX0" fmla="*/ 1016492 w 8888190"/>
              <a:gd name="connsiteY0" fmla="*/ 1601862 h 10317887"/>
              <a:gd name="connsiteX1" fmla="*/ 58549 w 8888190"/>
              <a:gd name="connsiteY1" fmla="*/ 2995233 h 10317887"/>
              <a:gd name="connsiteX2" fmla="*/ 943920 w 8888190"/>
              <a:gd name="connsiteY2" fmla="*/ 4228948 h 10317887"/>
              <a:gd name="connsiteX3" fmla="*/ 87578 w 8888190"/>
              <a:gd name="connsiteY3" fmla="*/ 5636833 h 10317887"/>
              <a:gd name="connsiteX4" fmla="*/ 1016492 w 8888190"/>
              <a:gd name="connsiteY4" fmla="*/ 6972148 h 10317887"/>
              <a:gd name="connsiteX5" fmla="*/ 492 w 8888190"/>
              <a:gd name="connsiteY5" fmla="*/ 8017176 h 10317887"/>
              <a:gd name="connsiteX6" fmla="*/ 885863 w 8888190"/>
              <a:gd name="connsiteY6" fmla="*/ 9526662 h 10317887"/>
              <a:gd name="connsiteX7" fmla="*/ 1205178 w 8888190"/>
              <a:gd name="connsiteY7" fmla="*/ 9512148 h 10317887"/>
              <a:gd name="connsiteX8" fmla="*/ 8143006 w 8888190"/>
              <a:gd name="connsiteY8" fmla="*/ 9700833 h 10317887"/>
              <a:gd name="connsiteX9" fmla="*/ 7867235 w 8888190"/>
              <a:gd name="connsiteY9" fmla="*/ 643919 h 10317887"/>
              <a:gd name="connsiteX10" fmla="*/ 798778 w 8888190"/>
              <a:gd name="connsiteY10" fmla="*/ 832605 h 10317887"/>
              <a:gd name="connsiteX11" fmla="*/ 769749 w 8888190"/>
              <a:gd name="connsiteY11" fmla="*/ 1601862 h 10317887"/>
              <a:gd name="connsiteX0" fmla="*/ 958065 w 8829763"/>
              <a:gd name="connsiteY0" fmla="*/ 1601862 h 10317887"/>
              <a:gd name="connsiteX1" fmla="*/ 122 w 8829763"/>
              <a:gd name="connsiteY1" fmla="*/ 2995233 h 10317887"/>
              <a:gd name="connsiteX2" fmla="*/ 885493 w 8829763"/>
              <a:gd name="connsiteY2" fmla="*/ 4228948 h 10317887"/>
              <a:gd name="connsiteX3" fmla="*/ 29151 w 8829763"/>
              <a:gd name="connsiteY3" fmla="*/ 5636833 h 10317887"/>
              <a:gd name="connsiteX4" fmla="*/ 958065 w 8829763"/>
              <a:gd name="connsiteY4" fmla="*/ 6972148 h 10317887"/>
              <a:gd name="connsiteX5" fmla="*/ 64646 w 8829763"/>
              <a:gd name="connsiteY5" fmla="*/ 8230536 h 10317887"/>
              <a:gd name="connsiteX6" fmla="*/ 827436 w 8829763"/>
              <a:gd name="connsiteY6" fmla="*/ 9526662 h 10317887"/>
              <a:gd name="connsiteX7" fmla="*/ 1146751 w 8829763"/>
              <a:gd name="connsiteY7" fmla="*/ 9512148 h 10317887"/>
              <a:gd name="connsiteX8" fmla="*/ 8084579 w 8829763"/>
              <a:gd name="connsiteY8" fmla="*/ 9700833 h 10317887"/>
              <a:gd name="connsiteX9" fmla="*/ 7808808 w 8829763"/>
              <a:gd name="connsiteY9" fmla="*/ 643919 h 10317887"/>
              <a:gd name="connsiteX10" fmla="*/ 740351 w 8829763"/>
              <a:gd name="connsiteY10" fmla="*/ 832605 h 10317887"/>
              <a:gd name="connsiteX11" fmla="*/ 711322 w 8829763"/>
              <a:gd name="connsiteY11" fmla="*/ 1601862 h 10317887"/>
              <a:gd name="connsiteX0" fmla="*/ 958065 w 8829763"/>
              <a:gd name="connsiteY0" fmla="*/ 1601862 h 10317887"/>
              <a:gd name="connsiteX1" fmla="*/ 122 w 8829763"/>
              <a:gd name="connsiteY1" fmla="*/ 2995233 h 10317887"/>
              <a:gd name="connsiteX2" fmla="*/ 885493 w 8829763"/>
              <a:gd name="connsiteY2" fmla="*/ 4228948 h 10317887"/>
              <a:gd name="connsiteX3" fmla="*/ 29151 w 8829763"/>
              <a:gd name="connsiteY3" fmla="*/ 5636833 h 10317887"/>
              <a:gd name="connsiteX4" fmla="*/ 923965 w 8829763"/>
              <a:gd name="connsiteY4" fmla="*/ 6501866 h 10317887"/>
              <a:gd name="connsiteX5" fmla="*/ 64646 w 8829763"/>
              <a:gd name="connsiteY5" fmla="*/ 8230536 h 10317887"/>
              <a:gd name="connsiteX6" fmla="*/ 827436 w 8829763"/>
              <a:gd name="connsiteY6" fmla="*/ 9526662 h 10317887"/>
              <a:gd name="connsiteX7" fmla="*/ 1146751 w 8829763"/>
              <a:gd name="connsiteY7" fmla="*/ 9512148 h 10317887"/>
              <a:gd name="connsiteX8" fmla="*/ 8084579 w 8829763"/>
              <a:gd name="connsiteY8" fmla="*/ 9700833 h 10317887"/>
              <a:gd name="connsiteX9" fmla="*/ 7808808 w 8829763"/>
              <a:gd name="connsiteY9" fmla="*/ 643919 h 10317887"/>
              <a:gd name="connsiteX10" fmla="*/ 740351 w 8829763"/>
              <a:gd name="connsiteY10" fmla="*/ 832605 h 10317887"/>
              <a:gd name="connsiteX11" fmla="*/ 711322 w 8829763"/>
              <a:gd name="connsiteY11" fmla="*/ 1601862 h 10317887"/>
              <a:gd name="connsiteX0" fmla="*/ 958065 w 8829763"/>
              <a:gd name="connsiteY0" fmla="*/ 1601862 h 10317887"/>
              <a:gd name="connsiteX1" fmla="*/ 122 w 8829763"/>
              <a:gd name="connsiteY1" fmla="*/ 2995233 h 10317887"/>
              <a:gd name="connsiteX2" fmla="*/ 885493 w 8829763"/>
              <a:gd name="connsiteY2" fmla="*/ 4228948 h 10317887"/>
              <a:gd name="connsiteX3" fmla="*/ 29151 w 8829763"/>
              <a:gd name="connsiteY3" fmla="*/ 5636833 h 10317887"/>
              <a:gd name="connsiteX4" fmla="*/ 923965 w 8829763"/>
              <a:gd name="connsiteY4" fmla="*/ 6501866 h 10317887"/>
              <a:gd name="connsiteX5" fmla="*/ 303344 w 8829763"/>
              <a:gd name="connsiteY5" fmla="*/ 7398500 h 10317887"/>
              <a:gd name="connsiteX6" fmla="*/ 827436 w 8829763"/>
              <a:gd name="connsiteY6" fmla="*/ 9526662 h 10317887"/>
              <a:gd name="connsiteX7" fmla="*/ 1146751 w 8829763"/>
              <a:gd name="connsiteY7" fmla="*/ 9512148 h 10317887"/>
              <a:gd name="connsiteX8" fmla="*/ 8084579 w 8829763"/>
              <a:gd name="connsiteY8" fmla="*/ 9700833 h 10317887"/>
              <a:gd name="connsiteX9" fmla="*/ 7808808 w 8829763"/>
              <a:gd name="connsiteY9" fmla="*/ 643919 h 10317887"/>
              <a:gd name="connsiteX10" fmla="*/ 740351 w 8829763"/>
              <a:gd name="connsiteY10" fmla="*/ 832605 h 10317887"/>
              <a:gd name="connsiteX11" fmla="*/ 711322 w 8829763"/>
              <a:gd name="connsiteY11" fmla="*/ 1601862 h 10317887"/>
              <a:gd name="connsiteX0" fmla="*/ 958069 w 8829767"/>
              <a:gd name="connsiteY0" fmla="*/ 1601862 h 10317887"/>
              <a:gd name="connsiteX1" fmla="*/ 126 w 8829767"/>
              <a:gd name="connsiteY1" fmla="*/ 2995233 h 10317887"/>
              <a:gd name="connsiteX2" fmla="*/ 885497 w 8829767"/>
              <a:gd name="connsiteY2" fmla="*/ 4228948 h 10317887"/>
              <a:gd name="connsiteX3" fmla="*/ 199654 w 8829767"/>
              <a:gd name="connsiteY3" fmla="*/ 5552424 h 10317887"/>
              <a:gd name="connsiteX4" fmla="*/ 923969 w 8829767"/>
              <a:gd name="connsiteY4" fmla="*/ 6501866 h 10317887"/>
              <a:gd name="connsiteX5" fmla="*/ 303348 w 8829767"/>
              <a:gd name="connsiteY5" fmla="*/ 7398500 h 10317887"/>
              <a:gd name="connsiteX6" fmla="*/ 827440 w 8829767"/>
              <a:gd name="connsiteY6" fmla="*/ 9526662 h 10317887"/>
              <a:gd name="connsiteX7" fmla="*/ 1146755 w 8829767"/>
              <a:gd name="connsiteY7" fmla="*/ 9512148 h 10317887"/>
              <a:gd name="connsiteX8" fmla="*/ 8084583 w 8829767"/>
              <a:gd name="connsiteY8" fmla="*/ 9700833 h 10317887"/>
              <a:gd name="connsiteX9" fmla="*/ 7808812 w 8829767"/>
              <a:gd name="connsiteY9" fmla="*/ 643919 h 10317887"/>
              <a:gd name="connsiteX10" fmla="*/ 740355 w 8829767"/>
              <a:gd name="connsiteY10" fmla="*/ 832605 h 10317887"/>
              <a:gd name="connsiteX11" fmla="*/ 711326 w 8829767"/>
              <a:gd name="connsiteY11" fmla="*/ 1601862 h 10317887"/>
              <a:gd name="connsiteX0" fmla="*/ 958069 w 8829767"/>
              <a:gd name="connsiteY0" fmla="*/ 1601862 h 10317887"/>
              <a:gd name="connsiteX1" fmla="*/ 126 w 8829767"/>
              <a:gd name="connsiteY1" fmla="*/ 2995233 h 10317887"/>
              <a:gd name="connsiteX2" fmla="*/ 885497 w 8829767"/>
              <a:gd name="connsiteY2" fmla="*/ 4228948 h 10317887"/>
              <a:gd name="connsiteX3" fmla="*/ 199654 w 8829767"/>
              <a:gd name="connsiteY3" fmla="*/ 5552424 h 10317887"/>
              <a:gd name="connsiteX4" fmla="*/ 889871 w 8829767"/>
              <a:gd name="connsiteY4" fmla="*/ 6670685 h 10317887"/>
              <a:gd name="connsiteX5" fmla="*/ 303348 w 8829767"/>
              <a:gd name="connsiteY5" fmla="*/ 7398500 h 10317887"/>
              <a:gd name="connsiteX6" fmla="*/ 827440 w 8829767"/>
              <a:gd name="connsiteY6" fmla="*/ 9526662 h 10317887"/>
              <a:gd name="connsiteX7" fmla="*/ 1146755 w 8829767"/>
              <a:gd name="connsiteY7" fmla="*/ 9512148 h 10317887"/>
              <a:gd name="connsiteX8" fmla="*/ 8084583 w 8829767"/>
              <a:gd name="connsiteY8" fmla="*/ 9700833 h 10317887"/>
              <a:gd name="connsiteX9" fmla="*/ 7808812 w 8829767"/>
              <a:gd name="connsiteY9" fmla="*/ 643919 h 10317887"/>
              <a:gd name="connsiteX10" fmla="*/ 740355 w 8829767"/>
              <a:gd name="connsiteY10" fmla="*/ 832605 h 10317887"/>
              <a:gd name="connsiteX11" fmla="*/ 711326 w 8829767"/>
              <a:gd name="connsiteY11" fmla="*/ 1601862 h 10317887"/>
              <a:gd name="connsiteX0" fmla="*/ 958069 w 8829767"/>
              <a:gd name="connsiteY0" fmla="*/ 1601862 h 10317887"/>
              <a:gd name="connsiteX1" fmla="*/ 126 w 8829767"/>
              <a:gd name="connsiteY1" fmla="*/ 2995233 h 10317887"/>
              <a:gd name="connsiteX2" fmla="*/ 885497 w 8829767"/>
              <a:gd name="connsiteY2" fmla="*/ 4228948 h 10317887"/>
              <a:gd name="connsiteX3" fmla="*/ 199654 w 8829767"/>
              <a:gd name="connsiteY3" fmla="*/ 5552424 h 10317887"/>
              <a:gd name="connsiteX4" fmla="*/ 889871 w 8829767"/>
              <a:gd name="connsiteY4" fmla="*/ 6670685 h 10317887"/>
              <a:gd name="connsiteX5" fmla="*/ 183999 w 8829767"/>
              <a:gd name="connsiteY5" fmla="*/ 7651728 h 10317887"/>
              <a:gd name="connsiteX6" fmla="*/ 827440 w 8829767"/>
              <a:gd name="connsiteY6" fmla="*/ 9526662 h 10317887"/>
              <a:gd name="connsiteX7" fmla="*/ 1146755 w 8829767"/>
              <a:gd name="connsiteY7" fmla="*/ 9512148 h 10317887"/>
              <a:gd name="connsiteX8" fmla="*/ 8084583 w 8829767"/>
              <a:gd name="connsiteY8" fmla="*/ 9700833 h 10317887"/>
              <a:gd name="connsiteX9" fmla="*/ 7808812 w 8829767"/>
              <a:gd name="connsiteY9" fmla="*/ 643919 h 10317887"/>
              <a:gd name="connsiteX10" fmla="*/ 740355 w 8829767"/>
              <a:gd name="connsiteY10" fmla="*/ 832605 h 10317887"/>
              <a:gd name="connsiteX11" fmla="*/ 711326 w 8829767"/>
              <a:gd name="connsiteY11" fmla="*/ 1601862 h 10317887"/>
              <a:gd name="connsiteX0" fmla="*/ 958069 w 8829767"/>
              <a:gd name="connsiteY0" fmla="*/ 1601862 h 10317887"/>
              <a:gd name="connsiteX1" fmla="*/ 126 w 8829767"/>
              <a:gd name="connsiteY1" fmla="*/ 2995233 h 10317887"/>
              <a:gd name="connsiteX2" fmla="*/ 885497 w 8829767"/>
              <a:gd name="connsiteY2" fmla="*/ 4228948 h 10317887"/>
              <a:gd name="connsiteX3" fmla="*/ 199654 w 8829767"/>
              <a:gd name="connsiteY3" fmla="*/ 5552424 h 10317887"/>
              <a:gd name="connsiteX4" fmla="*/ 702322 w 8829767"/>
              <a:gd name="connsiteY4" fmla="*/ 6465691 h 10317887"/>
              <a:gd name="connsiteX5" fmla="*/ 183999 w 8829767"/>
              <a:gd name="connsiteY5" fmla="*/ 7651728 h 10317887"/>
              <a:gd name="connsiteX6" fmla="*/ 827440 w 8829767"/>
              <a:gd name="connsiteY6" fmla="*/ 9526662 h 10317887"/>
              <a:gd name="connsiteX7" fmla="*/ 1146755 w 8829767"/>
              <a:gd name="connsiteY7" fmla="*/ 9512148 h 10317887"/>
              <a:gd name="connsiteX8" fmla="*/ 8084583 w 8829767"/>
              <a:gd name="connsiteY8" fmla="*/ 9700833 h 10317887"/>
              <a:gd name="connsiteX9" fmla="*/ 7808812 w 8829767"/>
              <a:gd name="connsiteY9" fmla="*/ 643919 h 10317887"/>
              <a:gd name="connsiteX10" fmla="*/ 740355 w 8829767"/>
              <a:gd name="connsiteY10" fmla="*/ 832605 h 10317887"/>
              <a:gd name="connsiteX11" fmla="*/ 711326 w 8829767"/>
              <a:gd name="connsiteY11" fmla="*/ 1601862 h 10317887"/>
              <a:gd name="connsiteX0" fmla="*/ 958582 w 8830280"/>
              <a:gd name="connsiteY0" fmla="*/ 1601862 h 10317887"/>
              <a:gd name="connsiteX1" fmla="*/ 639 w 8830280"/>
              <a:gd name="connsiteY1" fmla="*/ 2995233 h 10317887"/>
              <a:gd name="connsiteX2" fmla="*/ 800761 w 8830280"/>
              <a:gd name="connsiteY2" fmla="*/ 4011896 h 10317887"/>
              <a:gd name="connsiteX3" fmla="*/ 200167 w 8830280"/>
              <a:gd name="connsiteY3" fmla="*/ 5552424 h 10317887"/>
              <a:gd name="connsiteX4" fmla="*/ 702835 w 8830280"/>
              <a:gd name="connsiteY4" fmla="*/ 6465691 h 10317887"/>
              <a:gd name="connsiteX5" fmla="*/ 184512 w 8830280"/>
              <a:gd name="connsiteY5" fmla="*/ 7651728 h 10317887"/>
              <a:gd name="connsiteX6" fmla="*/ 827953 w 8830280"/>
              <a:gd name="connsiteY6" fmla="*/ 9526662 h 10317887"/>
              <a:gd name="connsiteX7" fmla="*/ 1147268 w 8830280"/>
              <a:gd name="connsiteY7" fmla="*/ 9512148 h 10317887"/>
              <a:gd name="connsiteX8" fmla="*/ 8085096 w 8830280"/>
              <a:gd name="connsiteY8" fmla="*/ 9700833 h 10317887"/>
              <a:gd name="connsiteX9" fmla="*/ 7809325 w 8830280"/>
              <a:gd name="connsiteY9" fmla="*/ 643919 h 10317887"/>
              <a:gd name="connsiteX10" fmla="*/ 740868 w 8830280"/>
              <a:gd name="connsiteY10" fmla="*/ 832605 h 10317887"/>
              <a:gd name="connsiteX11" fmla="*/ 711839 w 8830280"/>
              <a:gd name="connsiteY11" fmla="*/ 1601862 h 10317887"/>
              <a:gd name="connsiteX0" fmla="*/ 958325 w 8830023"/>
              <a:gd name="connsiteY0" fmla="*/ 1601862 h 10317887"/>
              <a:gd name="connsiteX1" fmla="*/ 382 w 8830023"/>
              <a:gd name="connsiteY1" fmla="*/ 2995233 h 10317887"/>
              <a:gd name="connsiteX2" fmla="*/ 834603 w 8830023"/>
              <a:gd name="connsiteY2" fmla="*/ 4084248 h 10317887"/>
              <a:gd name="connsiteX3" fmla="*/ 199910 w 8830023"/>
              <a:gd name="connsiteY3" fmla="*/ 5552424 h 10317887"/>
              <a:gd name="connsiteX4" fmla="*/ 702578 w 8830023"/>
              <a:gd name="connsiteY4" fmla="*/ 6465691 h 10317887"/>
              <a:gd name="connsiteX5" fmla="*/ 184255 w 8830023"/>
              <a:gd name="connsiteY5" fmla="*/ 7651728 h 10317887"/>
              <a:gd name="connsiteX6" fmla="*/ 827696 w 8830023"/>
              <a:gd name="connsiteY6" fmla="*/ 9526662 h 10317887"/>
              <a:gd name="connsiteX7" fmla="*/ 1147011 w 8830023"/>
              <a:gd name="connsiteY7" fmla="*/ 9512148 h 10317887"/>
              <a:gd name="connsiteX8" fmla="*/ 8084839 w 8830023"/>
              <a:gd name="connsiteY8" fmla="*/ 9700833 h 10317887"/>
              <a:gd name="connsiteX9" fmla="*/ 7809068 w 8830023"/>
              <a:gd name="connsiteY9" fmla="*/ 643919 h 10317887"/>
              <a:gd name="connsiteX10" fmla="*/ 740611 w 8830023"/>
              <a:gd name="connsiteY10" fmla="*/ 832605 h 10317887"/>
              <a:gd name="connsiteX11" fmla="*/ 711582 w 8830023"/>
              <a:gd name="connsiteY11" fmla="*/ 1601862 h 10317887"/>
              <a:gd name="connsiteX0" fmla="*/ 958325 w 8830023"/>
              <a:gd name="connsiteY0" fmla="*/ 1601862 h 10317887"/>
              <a:gd name="connsiteX1" fmla="*/ 382 w 8830023"/>
              <a:gd name="connsiteY1" fmla="*/ 2995233 h 10317887"/>
              <a:gd name="connsiteX2" fmla="*/ 834603 w 8830023"/>
              <a:gd name="connsiteY2" fmla="*/ 4084248 h 10317887"/>
              <a:gd name="connsiteX3" fmla="*/ 199911 w 8830023"/>
              <a:gd name="connsiteY3" fmla="*/ 5021850 h 10317887"/>
              <a:gd name="connsiteX4" fmla="*/ 702578 w 8830023"/>
              <a:gd name="connsiteY4" fmla="*/ 6465691 h 10317887"/>
              <a:gd name="connsiteX5" fmla="*/ 184255 w 8830023"/>
              <a:gd name="connsiteY5" fmla="*/ 7651728 h 10317887"/>
              <a:gd name="connsiteX6" fmla="*/ 827696 w 8830023"/>
              <a:gd name="connsiteY6" fmla="*/ 9526662 h 10317887"/>
              <a:gd name="connsiteX7" fmla="*/ 1147011 w 8830023"/>
              <a:gd name="connsiteY7" fmla="*/ 9512148 h 10317887"/>
              <a:gd name="connsiteX8" fmla="*/ 8084839 w 8830023"/>
              <a:gd name="connsiteY8" fmla="*/ 9700833 h 10317887"/>
              <a:gd name="connsiteX9" fmla="*/ 7809068 w 8830023"/>
              <a:gd name="connsiteY9" fmla="*/ 643919 h 10317887"/>
              <a:gd name="connsiteX10" fmla="*/ 740611 w 8830023"/>
              <a:gd name="connsiteY10" fmla="*/ 832605 h 10317887"/>
              <a:gd name="connsiteX11" fmla="*/ 711582 w 8830023"/>
              <a:gd name="connsiteY11" fmla="*/ 1601862 h 10317887"/>
              <a:gd name="connsiteX0" fmla="*/ 963068 w 8834766"/>
              <a:gd name="connsiteY0" fmla="*/ 1601862 h 10317887"/>
              <a:gd name="connsiteX1" fmla="*/ 5125 w 8834766"/>
              <a:gd name="connsiteY1" fmla="*/ 2995233 h 10317887"/>
              <a:gd name="connsiteX2" fmla="*/ 566550 w 8834766"/>
              <a:gd name="connsiteY2" fmla="*/ 3891312 h 10317887"/>
              <a:gd name="connsiteX3" fmla="*/ 204654 w 8834766"/>
              <a:gd name="connsiteY3" fmla="*/ 5021850 h 10317887"/>
              <a:gd name="connsiteX4" fmla="*/ 707321 w 8834766"/>
              <a:gd name="connsiteY4" fmla="*/ 6465691 h 10317887"/>
              <a:gd name="connsiteX5" fmla="*/ 188998 w 8834766"/>
              <a:gd name="connsiteY5" fmla="*/ 7651728 h 10317887"/>
              <a:gd name="connsiteX6" fmla="*/ 832439 w 8834766"/>
              <a:gd name="connsiteY6" fmla="*/ 9526662 h 10317887"/>
              <a:gd name="connsiteX7" fmla="*/ 1151754 w 8834766"/>
              <a:gd name="connsiteY7" fmla="*/ 9512148 h 10317887"/>
              <a:gd name="connsiteX8" fmla="*/ 8089582 w 8834766"/>
              <a:gd name="connsiteY8" fmla="*/ 9700833 h 10317887"/>
              <a:gd name="connsiteX9" fmla="*/ 7813811 w 8834766"/>
              <a:gd name="connsiteY9" fmla="*/ 643919 h 10317887"/>
              <a:gd name="connsiteX10" fmla="*/ 745354 w 8834766"/>
              <a:gd name="connsiteY10" fmla="*/ 832605 h 10317887"/>
              <a:gd name="connsiteX11" fmla="*/ 716325 w 8834766"/>
              <a:gd name="connsiteY11" fmla="*/ 1601862 h 10317887"/>
              <a:gd name="connsiteX0" fmla="*/ 960151 w 8831849"/>
              <a:gd name="connsiteY0" fmla="*/ 1601862 h 10317887"/>
              <a:gd name="connsiteX1" fmla="*/ 2208 w 8831849"/>
              <a:gd name="connsiteY1" fmla="*/ 2995233 h 10317887"/>
              <a:gd name="connsiteX2" fmla="*/ 682982 w 8831849"/>
              <a:gd name="connsiteY2" fmla="*/ 4084248 h 10317887"/>
              <a:gd name="connsiteX3" fmla="*/ 201737 w 8831849"/>
              <a:gd name="connsiteY3" fmla="*/ 5021850 h 10317887"/>
              <a:gd name="connsiteX4" fmla="*/ 704404 w 8831849"/>
              <a:gd name="connsiteY4" fmla="*/ 6465691 h 10317887"/>
              <a:gd name="connsiteX5" fmla="*/ 186081 w 8831849"/>
              <a:gd name="connsiteY5" fmla="*/ 7651728 h 10317887"/>
              <a:gd name="connsiteX6" fmla="*/ 829522 w 8831849"/>
              <a:gd name="connsiteY6" fmla="*/ 9526662 h 10317887"/>
              <a:gd name="connsiteX7" fmla="*/ 1148837 w 8831849"/>
              <a:gd name="connsiteY7" fmla="*/ 9512148 h 10317887"/>
              <a:gd name="connsiteX8" fmla="*/ 8086665 w 8831849"/>
              <a:gd name="connsiteY8" fmla="*/ 9700833 h 10317887"/>
              <a:gd name="connsiteX9" fmla="*/ 7810894 w 8831849"/>
              <a:gd name="connsiteY9" fmla="*/ 643919 h 10317887"/>
              <a:gd name="connsiteX10" fmla="*/ 742437 w 8831849"/>
              <a:gd name="connsiteY10" fmla="*/ 832605 h 10317887"/>
              <a:gd name="connsiteX11" fmla="*/ 713408 w 8831849"/>
              <a:gd name="connsiteY11" fmla="*/ 1601862 h 10317887"/>
              <a:gd name="connsiteX0" fmla="*/ 960151 w 8831849"/>
              <a:gd name="connsiteY0" fmla="*/ 1601862 h 10317887"/>
              <a:gd name="connsiteX1" fmla="*/ 2208 w 8831849"/>
              <a:gd name="connsiteY1" fmla="*/ 2995233 h 10317887"/>
              <a:gd name="connsiteX2" fmla="*/ 682982 w 8831849"/>
              <a:gd name="connsiteY2" fmla="*/ 4084248 h 10317887"/>
              <a:gd name="connsiteX3" fmla="*/ 201737 w 8831849"/>
              <a:gd name="connsiteY3" fmla="*/ 5359488 h 10317887"/>
              <a:gd name="connsiteX4" fmla="*/ 704404 w 8831849"/>
              <a:gd name="connsiteY4" fmla="*/ 6465691 h 10317887"/>
              <a:gd name="connsiteX5" fmla="*/ 186081 w 8831849"/>
              <a:gd name="connsiteY5" fmla="*/ 7651728 h 10317887"/>
              <a:gd name="connsiteX6" fmla="*/ 829522 w 8831849"/>
              <a:gd name="connsiteY6" fmla="*/ 9526662 h 10317887"/>
              <a:gd name="connsiteX7" fmla="*/ 1148837 w 8831849"/>
              <a:gd name="connsiteY7" fmla="*/ 9512148 h 10317887"/>
              <a:gd name="connsiteX8" fmla="*/ 8086665 w 8831849"/>
              <a:gd name="connsiteY8" fmla="*/ 9700833 h 10317887"/>
              <a:gd name="connsiteX9" fmla="*/ 7810894 w 8831849"/>
              <a:gd name="connsiteY9" fmla="*/ 643919 h 10317887"/>
              <a:gd name="connsiteX10" fmla="*/ 742437 w 8831849"/>
              <a:gd name="connsiteY10" fmla="*/ 832605 h 10317887"/>
              <a:gd name="connsiteX11" fmla="*/ 713408 w 8831849"/>
              <a:gd name="connsiteY11" fmla="*/ 1601862 h 10317887"/>
              <a:gd name="connsiteX0" fmla="*/ 958445 w 8830143"/>
              <a:gd name="connsiteY0" fmla="*/ 1601862 h 10317887"/>
              <a:gd name="connsiteX1" fmla="*/ 502 w 8830143"/>
              <a:gd name="connsiteY1" fmla="*/ 2995233 h 10317887"/>
              <a:gd name="connsiteX2" fmla="*/ 817675 w 8830143"/>
              <a:gd name="connsiteY2" fmla="*/ 4096307 h 10317887"/>
              <a:gd name="connsiteX3" fmla="*/ 200031 w 8830143"/>
              <a:gd name="connsiteY3" fmla="*/ 5359488 h 10317887"/>
              <a:gd name="connsiteX4" fmla="*/ 702698 w 8830143"/>
              <a:gd name="connsiteY4" fmla="*/ 6465691 h 10317887"/>
              <a:gd name="connsiteX5" fmla="*/ 184375 w 8830143"/>
              <a:gd name="connsiteY5" fmla="*/ 7651728 h 10317887"/>
              <a:gd name="connsiteX6" fmla="*/ 827816 w 8830143"/>
              <a:gd name="connsiteY6" fmla="*/ 9526662 h 10317887"/>
              <a:gd name="connsiteX7" fmla="*/ 1147131 w 8830143"/>
              <a:gd name="connsiteY7" fmla="*/ 9512148 h 10317887"/>
              <a:gd name="connsiteX8" fmla="*/ 8084959 w 8830143"/>
              <a:gd name="connsiteY8" fmla="*/ 9700833 h 10317887"/>
              <a:gd name="connsiteX9" fmla="*/ 7809188 w 8830143"/>
              <a:gd name="connsiteY9" fmla="*/ 643919 h 10317887"/>
              <a:gd name="connsiteX10" fmla="*/ 740731 w 8830143"/>
              <a:gd name="connsiteY10" fmla="*/ 832605 h 10317887"/>
              <a:gd name="connsiteX11" fmla="*/ 711702 w 8830143"/>
              <a:gd name="connsiteY11" fmla="*/ 1601862 h 10317887"/>
              <a:gd name="connsiteX0" fmla="*/ 958445 w 8830143"/>
              <a:gd name="connsiteY0" fmla="*/ 1601862 h 10317887"/>
              <a:gd name="connsiteX1" fmla="*/ 502 w 8830143"/>
              <a:gd name="connsiteY1" fmla="*/ 2995233 h 10317887"/>
              <a:gd name="connsiteX2" fmla="*/ 817675 w 8830143"/>
              <a:gd name="connsiteY2" fmla="*/ 4096307 h 10317887"/>
              <a:gd name="connsiteX3" fmla="*/ 200031 w 8830143"/>
              <a:gd name="connsiteY3" fmla="*/ 5359488 h 10317887"/>
              <a:gd name="connsiteX4" fmla="*/ 958445 w 8830143"/>
              <a:gd name="connsiteY4" fmla="*/ 6550101 h 10317887"/>
              <a:gd name="connsiteX5" fmla="*/ 184375 w 8830143"/>
              <a:gd name="connsiteY5" fmla="*/ 7651728 h 10317887"/>
              <a:gd name="connsiteX6" fmla="*/ 827816 w 8830143"/>
              <a:gd name="connsiteY6" fmla="*/ 9526662 h 10317887"/>
              <a:gd name="connsiteX7" fmla="*/ 1147131 w 8830143"/>
              <a:gd name="connsiteY7" fmla="*/ 9512148 h 10317887"/>
              <a:gd name="connsiteX8" fmla="*/ 8084959 w 8830143"/>
              <a:gd name="connsiteY8" fmla="*/ 9700833 h 10317887"/>
              <a:gd name="connsiteX9" fmla="*/ 7809188 w 8830143"/>
              <a:gd name="connsiteY9" fmla="*/ 643919 h 10317887"/>
              <a:gd name="connsiteX10" fmla="*/ 740731 w 8830143"/>
              <a:gd name="connsiteY10" fmla="*/ 832605 h 10317887"/>
              <a:gd name="connsiteX11" fmla="*/ 711702 w 8830143"/>
              <a:gd name="connsiteY11" fmla="*/ 1601862 h 10317887"/>
              <a:gd name="connsiteX0" fmla="*/ 958445 w 8830143"/>
              <a:gd name="connsiteY0" fmla="*/ 1601862 h 10317887"/>
              <a:gd name="connsiteX1" fmla="*/ 502 w 8830143"/>
              <a:gd name="connsiteY1" fmla="*/ 2995233 h 10317887"/>
              <a:gd name="connsiteX2" fmla="*/ 817675 w 8830143"/>
              <a:gd name="connsiteY2" fmla="*/ 4096307 h 10317887"/>
              <a:gd name="connsiteX3" fmla="*/ 200031 w 8830143"/>
              <a:gd name="connsiteY3" fmla="*/ 5359488 h 10317887"/>
              <a:gd name="connsiteX4" fmla="*/ 958445 w 8830143"/>
              <a:gd name="connsiteY4" fmla="*/ 6550101 h 10317887"/>
              <a:gd name="connsiteX5" fmla="*/ 47977 w 8830143"/>
              <a:gd name="connsiteY5" fmla="*/ 7663786 h 10317887"/>
              <a:gd name="connsiteX6" fmla="*/ 827816 w 8830143"/>
              <a:gd name="connsiteY6" fmla="*/ 9526662 h 10317887"/>
              <a:gd name="connsiteX7" fmla="*/ 1147131 w 8830143"/>
              <a:gd name="connsiteY7" fmla="*/ 9512148 h 10317887"/>
              <a:gd name="connsiteX8" fmla="*/ 8084959 w 8830143"/>
              <a:gd name="connsiteY8" fmla="*/ 9700833 h 10317887"/>
              <a:gd name="connsiteX9" fmla="*/ 7809188 w 8830143"/>
              <a:gd name="connsiteY9" fmla="*/ 643919 h 10317887"/>
              <a:gd name="connsiteX10" fmla="*/ 740731 w 8830143"/>
              <a:gd name="connsiteY10" fmla="*/ 832605 h 10317887"/>
              <a:gd name="connsiteX11" fmla="*/ 711702 w 8830143"/>
              <a:gd name="connsiteY11" fmla="*/ 1601862 h 10317887"/>
              <a:gd name="connsiteX0" fmla="*/ 958445 w 8830143"/>
              <a:gd name="connsiteY0" fmla="*/ 1601862 h 10317887"/>
              <a:gd name="connsiteX1" fmla="*/ 502 w 8830143"/>
              <a:gd name="connsiteY1" fmla="*/ 2995233 h 10317887"/>
              <a:gd name="connsiteX2" fmla="*/ 817675 w 8830143"/>
              <a:gd name="connsiteY2" fmla="*/ 4096307 h 10317887"/>
              <a:gd name="connsiteX3" fmla="*/ 200031 w 8830143"/>
              <a:gd name="connsiteY3" fmla="*/ 5359488 h 10317887"/>
              <a:gd name="connsiteX4" fmla="*/ 1009595 w 8830143"/>
              <a:gd name="connsiteY4" fmla="*/ 6236580 h 10317887"/>
              <a:gd name="connsiteX5" fmla="*/ 47977 w 8830143"/>
              <a:gd name="connsiteY5" fmla="*/ 7663786 h 10317887"/>
              <a:gd name="connsiteX6" fmla="*/ 827816 w 8830143"/>
              <a:gd name="connsiteY6" fmla="*/ 9526662 h 10317887"/>
              <a:gd name="connsiteX7" fmla="*/ 1147131 w 8830143"/>
              <a:gd name="connsiteY7" fmla="*/ 9512148 h 10317887"/>
              <a:gd name="connsiteX8" fmla="*/ 8084959 w 8830143"/>
              <a:gd name="connsiteY8" fmla="*/ 9700833 h 10317887"/>
              <a:gd name="connsiteX9" fmla="*/ 7809188 w 8830143"/>
              <a:gd name="connsiteY9" fmla="*/ 643919 h 10317887"/>
              <a:gd name="connsiteX10" fmla="*/ 740731 w 8830143"/>
              <a:gd name="connsiteY10" fmla="*/ 832605 h 10317887"/>
              <a:gd name="connsiteX11" fmla="*/ 711702 w 8830143"/>
              <a:gd name="connsiteY11" fmla="*/ 1601862 h 10317887"/>
              <a:gd name="connsiteX0" fmla="*/ 958456 w 8830154"/>
              <a:gd name="connsiteY0" fmla="*/ 1601862 h 10317887"/>
              <a:gd name="connsiteX1" fmla="*/ 513 w 8830154"/>
              <a:gd name="connsiteY1" fmla="*/ 2995233 h 10317887"/>
              <a:gd name="connsiteX2" fmla="*/ 817686 w 8830154"/>
              <a:gd name="connsiteY2" fmla="*/ 4096307 h 10317887"/>
              <a:gd name="connsiteX3" fmla="*/ 319391 w 8830154"/>
              <a:gd name="connsiteY3" fmla="*/ 5070084 h 10317887"/>
              <a:gd name="connsiteX4" fmla="*/ 1009606 w 8830154"/>
              <a:gd name="connsiteY4" fmla="*/ 6236580 h 10317887"/>
              <a:gd name="connsiteX5" fmla="*/ 47988 w 8830154"/>
              <a:gd name="connsiteY5" fmla="*/ 7663786 h 10317887"/>
              <a:gd name="connsiteX6" fmla="*/ 827827 w 8830154"/>
              <a:gd name="connsiteY6" fmla="*/ 9526662 h 10317887"/>
              <a:gd name="connsiteX7" fmla="*/ 1147142 w 8830154"/>
              <a:gd name="connsiteY7" fmla="*/ 9512148 h 10317887"/>
              <a:gd name="connsiteX8" fmla="*/ 8084970 w 8830154"/>
              <a:gd name="connsiteY8" fmla="*/ 9700833 h 10317887"/>
              <a:gd name="connsiteX9" fmla="*/ 7809199 w 8830154"/>
              <a:gd name="connsiteY9" fmla="*/ 643919 h 10317887"/>
              <a:gd name="connsiteX10" fmla="*/ 740742 w 8830154"/>
              <a:gd name="connsiteY10" fmla="*/ 832605 h 10317887"/>
              <a:gd name="connsiteX11" fmla="*/ 711713 w 8830154"/>
              <a:gd name="connsiteY11" fmla="*/ 1601862 h 10317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830154" h="10317887">
                <a:moveTo>
                  <a:pt x="958456" y="1601862"/>
                </a:moveTo>
                <a:cubicBezTo>
                  <a:pt x="485532" y="2079623"/>
                  <a:pt x="23975" y="2579492"/>
                  <a:pt x="513" y="2995233"/>
                </a:cubicBezTo>
                <a:cubicBezTo>
                  <a:pt x="-22949" y="3410974"/>
                  <a:pt x="764540" y="3750499"/>
                  <a:pt x="817686" y="4096307"/>
                </a:cubicBezTo>
                <a:cubicBezTo>
                  <a:pt x="870832" y="4442115"/>
                  <a:pt x="287404" y="4713372"/>
                  <a:pt x="319391" y="5070084"/>
                </a:cubicBezTo>
                <a:cubicBezTo>
                  <a:pt x="351378" y="5426796"/>
                  <a:pt x="1054840" y="5804296"/>
                  <a:pt x="1009606" y="6236580"/>
                </a:cubicBezTo>
                <a:cubicBezTo>
                  <a:pt x="964372" y="6668864"/>
                  <a:pt x="78284" y="7115439"/>
                  <a:pt x="47988" y="7663786"/>
                </a:cubicBezTo>
                <a:cubicBezTo>
                  <a:pt x="17692" y="8212133"/>
                  <a:pt x="644635" y="9218602"/>
                  <a:pt x="827827" y="9526662"/>
                </a:cubicBezTo>
                <a:cubicBezTo>
                  <a:pt x="1011019" y="9834722"/>
                  <a:pt x="1147142" y="9512148"/>
                  <a:pt x="1147142" y="9512148"/>
                </a:cubicBezTo>
                <a:cubicBezTo>
                  <a:pt x="2356666" y="9541176"/>
                  <a:pt x="6974627" y="11178871"/>
                  <a:pt x="8084970" y="9700833"/>
                </a:cubicBezTo>
                <a:cubicBezTo>
                  <a:pt x="9195313" y="8222795"/>
                  <a:pt x="9033237" y="2121957"/>
                  <a:pt x="7809199" y="643919"/>
                </a:cubicBezTo>
                <a:cubicBezTo>
                  <a:pt x="6585161" y="-834119"/>
                  <a:pt x="1923656" y="672948"/>
                  <a:pt x="740742" y="832605"/>
                </a:cubicBezTo>
                <a:cubicBezTo>
                  <a:pt x="-442172" y="992262"/>
                  <a:pt x="134770" y="1297062"/>
                  <a:pt x="711713" y="1601862"/>
                </a:cubicBezTo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776CAE4-892E-5906-C6FB-B58CD0AEE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9626127" y="153716"/>
            <a:ext cx="2529241" cy="2896004"/>
          </a:xfrm>
          <a:prstGeom prst="rect">
            <a:avLst/>
          </a:prstGeom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F233A4D1-28E8-0253-7C8E-F05AABAAF22F}"/>
              </a:ext>
            </a:extLst>
          </p:cNvPr>
          <p:cNvCxnSpPr>
            <a:cxnSpLocks/>
          </p:cNvCxnSpPr>
          <p:nvPr/>
        </p:nvCxnSpPr>
        <p:spPr>
          <a:xfrm>
            <a:off x="10401300" y="2966835"/>
            <a:ext cx="0" cy="9973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15BB46-2F40-6E61-1801-0D5E22CA74D1}"/>
              </a:ext>
            </a:extLst>
          </p:cNvPr>
          <p:cNvSpPr txBox="1"/>
          <p:nvPr/>
        </p:nvSpPr>
        <p:spPr>
          <a:xfrm>
            <a:off x="10167816" y="1336745"/>
            <a:ext cx="5125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</a:t>
            </a:r>
            <a:endParaRPr lang="ru-RU" sz="4000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EDAC076-913A-1E45-C528-1C0D589C07C5}"/>
              </a:ext>
            </a:extLst>
          </p:cNvPr>
          <p:cNvSpPr/>
          <p:nvPr/>
        </p:nvSpPr>
        <p:spPr>
          <a:xfrm>
            <a:off x="10224962" y="105718"/>
            <a:ext cx="590143" cy="5901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89C2D8-850C-4A97-7E9F-9131596B4D5B}"/>
              </a:ext>
            </a:extLst>
          </p:cNvPr>
          <p:cNvSpPr txBox="1"/>
          <p:nvPr/>
        </p:nvSpPr>
        <p:spPr>
          <a:xfrm>
            <a:off x="10122199" y="5201020"/>
            <a:ext cx="558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U</a:t>
            </a:r>
            <a:endParaRPr lang="ru-RU" sz="4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1A620B-D9C9-2F7C-F65A-63123D8E88EB}"/>
              </a:ext>
            </a:extLst>
          </p:cNvPr>
          <p:cNvSpPr txBox="1"/>
          <p:nvPr/>
        </p:nvSpPr>
        <p:spPr>
          <a:xfrm>
            <a:off x="9344171" y="2701127"/>
            <a:ext cx="85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H₂O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255C0-6FBE-FE59-2057-1FC430119C70}"/>
              </a:ext>
            </a:extLst>
          </p:cNvPr>
          <p:cNvSpPr txBox="1"/>
          <p:nvPr/>
        </p:nvSpPr>
        <p:spPr>
          <a:xfrm>
            <a:off x="10890747" y="3652513"/>
            <a:ext cx="882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NH₃</a:t>
            </a:r>
            <a:endParaRPr lang="ru-RU" sz="2000" dirty="0"/>
          </a:p>
        </p:txBody>
      </p:sp>
      <p:sp>
        <p:nvSpPr>
          <p:cNvPr id="23" name="Дуга 22">
            <a:extLst>
              <a:ext uri="{FF2B5EF4-FFF2-40B4-BE49-F238E27FC236}">
                <a16:creationId xmlns:a16="http://schemas.microsoft.com/office/drawing/2014/main" id="{4AB26599-5FD9-46BA-49B7-B01C603FEAF1}"/>
              </a:ext>
            </a:extLst>
          </p:cNvPr>
          <p:cNvSpPr/>
          <p:nvPr/>
        </p:nvSpPr>
        <p:spPr>
          <a:xfrm>
            <a:off x="9235644" y="2870401"/>
            <a:ext cx="1165656" cy="1052311"/>
          </a:xfrm>
          <a:prstGeom prst="arc">
            <a:avLst>
              <a:gd name="adj1" fmla="val 17456969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Дуга 23">
            <a:extLst>
              <a:ext uri="{FF2B5EF4-FFF2-40B4-BE49-F238E27FC236}">
                <a16:creationId xmlns:a16="http://schemas.microsoft.com/office/drawing/2014/main" id="{53F801A0-89E6-3C6A-F5AC-661559ECEF62}"/>
              </a:ext>
            </a:extLst>
          </p:cNvPr>
          <p:cNvSpPr/>
          <p:nvPr/>
        </p:nvSpPr>
        <p:spPr>
          <a:xfrm rot="10800000">
            <a:off x="10397530" y="2800258"/>
            <a:ext cx="882645" cy="1052310"/>
          </a:xfrm>
          <a:prstGeom prst="arc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FBA13AFA-92AB-2D7B-2D07-C0B0FCB5CD61}"/>
              </a:ext>
            </a:extLst>
          </p:cNvPr>
          <p:cNvSpPr/>
          <p:nvPr/>
        </p:nvSpPr>
        <p:spPr>
          <a:xfrm>
            <a:off x="10122199" y="4034334"/>
            <a:ext cx="590143" cy="5901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6C0C728-B4D6-4017-3A19-22C835D6A3CF}"/>
              </a:ext>
            </a:extLst>
          </p:cNvPr>
          <p:cNvGrpSpPr/>
          <p:nvPr/>
        </p:nvGrpSpPr>
        <p:grpSpPr>
          <a:xfrm>
            <a:off x="5989230" y="-1964719"/>
            <a:ext cx="6884940" cy="10317887"/>
            <a:chOff x="5307060" y="-1964719"/>
            <a:chExt cx="6884940" cy="10317887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D93BB4FF-3046-38A3-466A-0DB2AD791C0B}"/>
                </a:ext>
              </a:extLst>
            </p:cNvPr>
            <p:cNvSpPr/>
            <p:nvPr/>
          </p:nvSpPr>
          <p:spPr>
            <a:xfrm>
              <a:off x="5307060" y="-1964719"/>
              <a:ext cx="5488855" cy="10317887"/>
            </a:xfrm>
            <a:custGeom>
              <a:avLst/>
              <a:gdLst>
                <a:gd name="connsiteX0" fmla="*/ 1016492 w 8888190"/>
                <a:gd name="connsiteY0" fmla="*/ 1601862 h 10317887"/>
                <a:gd name="connsiteX1" fmla="*/ 58549 w 8888190"/>
                <a:gd name="connsiteY1" fmla="*/ 2995233 h 10317887"/>
                <a:gd name="connsiteX2" fmla="*/ 943920 w 8888190"/>
                <a:gd name="connsiteY2" fmla="*/ 4228948 h 10317887"/>
                <a:gd name="connsiteX3" fmla="*/ 87578 w 8888190"/>
                <a:gd name="connsiteY3" fmla="*/ 5636833 h 10317887"/>
                <a:gd name="connsiteX4" fmla="*/ 1016492 w 8888190"/>
                <a:gd name="connsiteY4" fmla="*/ 6972148 h 10317887"/>
                <a:gd name="connsiteX5" fmla="*/ 492 w 8888190"/>
                <a:gd name="connsiteY5" fmla="*/ 8017176 h 10317887"/>
                <a:gd name="connsiteX6" fmla="*/ 885863 w 8888190"/>
                <a:gd name="connsiteY6" fmla="*/ 9526662 h 10317887"/>
                <a:gd name="connsiteX7" fmla="*/ 1205178 w 8888190"/>
                <a:gd name="connsiteY7" fmla="*/ 9512148 h 10317887"/>
                <a:gd name="connsiteX8" fmla="*/ 8143006 w 8888190"/>
                <a:gd name="connsiteY8" fmla="*/ 9700833 h 10317887"/>
                <a:gd name="connsiteX9" fmla="*/ 7867235 w 8888190"/>
                <a:gd name="connsiteY9" fmla="*/ 643919 h 10317887"/>
                <a:gd name="connsiteX10" fmla="*/ 798778 w 8888190"/>
                <a:gd name="connsiteY10" fmla="*/ 832605 h 10317887"/>
                <a:gd name="connsiteX11" fmla="*/ 769749 w 8888190"/>
                <a:gd name="connsiteY11" fmla="*/ 1601862 h 10317887"/>
                <a:gd name="connsiteX0" fmla="*/ 958065 w 8829763"/>
                <a:gd name="connsiteY0" fmla="*/ 1601862 h 10317887"/>
                <a:gd name="connsiteX1" fmla="*/ 122 w 8829763"/>
                <a:gd name="connsiteY1" fmla="*/ 2995233 h 10317887"/>
                <a:gd name="connsiteX2" fmla="*/ 885493 w 8829763"/>
                <a:gd name="connsiteY2" fmla="*/ 4228948 h 10317887"/>
                <a:gd name="connsiteX3" fmla="*/ 29151 w 8829763"/>
                <a:gd name="connsiteY3" fmla="*/ 5636833 h 10317887"/>
                <a:gd name="connsiteX4" fmla="*/ 958065 w 8829763"/>
                <a:gd name="connsiteY4" fmla="*/ 6972148 h 10317887"/>
                <a:gd name="connsiteX5" fmla="*/ 64646 w 8829763"/>
                <a:gd name="connsiteY5" fmla="*/ 8230536 h 10317887"/>
                <a:gd name="connsiteX6" fmla="*/ 827436 w 8829763"/>
                <a:gd name="connsiteY6" fmla="*/ 9526662 h 10317887"/>
                <a:gd name="connsiteX7" fmla="*/ 1146751 w 8829763"/>
                <a:gd name="connsiteY7" fmla="*/ 9512148 h 10317887"/>
                <a:gd name="connsiteX8" fmla="*/ 8084579 w 8829763"/>
                <a:gd name="connsiteY8" fmla="*/ 9700833 h 10317887"/>
                <a:gd name="connsiteX9" fmla="*/ 7808808 w 8829763"/>
                <a:gd name="connsiteY9" fmla="*/ 643919 h 10317887"/>
                <a:gd name="connsiteX10" fmla="*/ 740351 w 8829763"/>
                <a:gd name="connsiteY10" fmla="*/ 832605 h 10317887"/>
                <a:gd name="connsiteX11" fmla="*/ 711322 w 8829763"/>
                <a:gd name="connsiteY11" fmla="*/ 1601862 h 10317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829763" h="10317887">
                  <a:moveTo>
                    <a:pt x="958065" y="1601862"/>
                  </a:moveTo>
                  <a:cubicBezTo>
                    <a:pt x="485141" y="2079623"/>
                    <a:pt x="12217" y="2557385"/>
                    <a:pt x="122" y="2995233"/>
                  </a:cubicBezTo>
                  <a:cubicBezTo>
                    <a:pt x="-11973" y="3433081"/>
                    <a:pt x="880655" y="3788681"/>
                    <a:pt x="885493" y="4228948"/>
                  </a:cubicBezTo>
                  <a:cubicBezTo>
                    <a:pt x="890331" y="4669215"/>
                    <a:pt x="17056" y="5179633"/>
                    <a:pt x="29151" y="5636833"/>
                  </a:cubicBezTo>
                  <a:cubicBezTo>
                    <a:pt x="41246" y="6094033"/>
                    <a:pt x="952149" y="6539864"/>
                    <a:pt x="958065" y="6972148"/>
                  </a:cubicBezTo>
                  <a:cubicBezTo>
                    <a:pt x="963981" y="7404432"/>
                    <a:pt x="86417" y="7804784"/>
                    <a:pt x="64646" y="8230536"/>
                  </a:cubicBezTo>
                  <a:cubicBezTo>
                    <a:pt x="42875" y="8656288"/>
                    <a:pt x="647085" y="9313060"/>
                    <a:pt x="827436" y="9526662"/>
                  </a:cubicBezTo>
                  <a:cubicBezTo>
                    <a:pt x="1007787" y="9740264"/>
                    <a:pt x="1146751" y="9512148"/>
                    <a:pt x="1146751" y="9512148"/>
                  </a:cubicBezTo>
                  <a:cubicBezTo>
                    <a:pt x="2356275" y="9541176"/>
                    <a:pt x="6974236" y="11178871"/>
                    <a:pt x="8084579" y="9700833"/>
                  </a:cubicBezTo>
                  <a:cubicBezTo>
                    <a:pt x="9194922" y="8222795"/>
                    <a:pt x="9032846" y="2121957"/>
                    <a:pt x="7808808" y="643919"/>
                  </a:cubicBezTo>
                  <a:cubicBezTo>
                    <a:pt x="6584770" y="-834119"/>
                    <a:pt x="1923265" y="672948"/>
                    <a:pt x="740351" y="832605"/>
                  </a:cubicBezTo>
                  <a:cubicBezTo>
                    <a:pt x="-442563" y="992262"/>
                    <a:pt x="134379" y="1297062"/>
                    <a:pt x="711322" y="1601862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88FCE90-8DA5-0BCE-D872-F8556FD4F923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F22DD-7BB3-C688-26CC-96D7B8CB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131" y="648803"/>
            <a:ext cx="5727025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Палеогеномика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6C719-28CE-9953-673B-9227A124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6537" y="2545375"/>
            <a:ext cx="4432540" cy="18248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chemeClr val="bg1">
                    <a:lumMod val="95000"/>
                  </a:schemeClr>
                </a:solidFill>
              </a:rPr>
              <a:t>Отрасль геномики, изучающая </a:t>
            </a:r>
            <a:r>
              <a:rPr lang="ru-RU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древнюю ДНК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E105225-8010-ABEA-2B92-9BBF95F8F3DB}"/>
              </a:ext>
            </a:extLst>
          </p:cNvPr>
          <p:cNvSpPr txBox="1">
            <a:spLocks/>
          </p:cNvSpPr>
          <p:nvPr/>
        </p:nvSpPr>
        <p:spPr>
          <a:xfrm>
            <a:off x="-25495" y="590549"/>
            <a:ext cx="5727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accent2"/>
                </a:solidFill>
              </a:rPr>
              <a:t>Омики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9D060-E5C0-A035-D7CF-DB3835772AAB}"/>
              </a:ext>
            </a:extLst>
          </p:cNvPr>
          <p:cNvSpPr txBox="1"/>
          <p:nvPr/>
        </p:nvSpPr>
        <p:spPr>
          <a:xfrm>
            <a:off x="406399" y="1916112"/>
            <a:ext cx="529513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Изучение </a:t>
            </a:r>
            <a:r>
              <a:rPr lang="ru-RU" sz="2800" i="1" dirty="0">
                <a:solidFill>
                  <a:schemeClr val="accent2"/>
                </a:solidFill>
              </a:rPr>
              <a:t>всей совокупности </a:t>
            </a:r>
            <a:r>
              <a:rPr lang="ru-RU" sz="2800" dirty="0"/>
              <a:t>биологических молекул находящихся в организме.</a:t>
            </a:r>
          </a:p>
          <a:p>
            <a:endParaRPr lang="ru-RU" sz="2800" dirty="0"/>
          </a:p>
          <a:p>
            <a:r>
              <a:rPr lang="ru-RU" sz="2800" b="1" dirty="0">
                <a:solidFill>
                  <a:schemeClr val="accent2"/>
                </a:solidFill>
              </a:rPr>
              <a:t>Геномика</a:t>
            </a:r>
            <a:r>
              <a:rPr lang="ru-RU" sz="2800" dirty="0"/>
              <a:t> исследует всю ДНК организма целиком, т.е. геном организма</a:t>
            </a:r>
          </a:p>
        </p:txBody>
      </p:sp>
    </p:spTree>
    <p:extLst>
      <p:ext uri="{BB962C8B-B14F-4D97-AF65-F5344CB8AC3E}">
        <p14:creationId xmlns:p14="http://schemas.microsoft.com/office/powerpoint/2010/main" val="531389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DA8BE9FE-278D-2FAB-2C07-521DF5369066}"/>
              </a:ext>
            </a:extLst>
          </p:cNvPr>
          <p:cNvSpPr/>
          <p:nvPr/>
        </p:nvSpPr>
        <p:spPr>
          <a:xfrm>
            <a:off x="-1173730" y="-1494973"/>
            <a:ext cx="9035679" cy="9985822"/>
          </a:xfrm>
          <a:custGeom>
            <a:avLst/>
            <a:gdLst>
              <a:gd name="connsiteX0" fmla="*/ 7287228 w 8725503"/>
              <a:gd name="connsiteY0" fmla="*/ 784197 h 8611362"/>
              <a:gd name="connsiteX1" fmla="*/ 7782528 w 8725503"/>
              <a:gd name="connsiteY1" fmla="*/ 1536672 h 8611362"/>
              <a:gd name="connsiteX2" fmla="*/ 7315803 w 8725503"/>
              <a:gd name="connsiteY2" fmla="*/ 2260572 h 8611362"/>
              <a:gd name="connsiteX3" fmla="*/ 7782528 w 8725503"/>
              <a:gd name="connsiteY3" fmla="*/ 3079722 h 8611362"/>
              <a:gd name="connsiteX4" fmla="*/ 7287228 w 8725503"/>
              <a:gd name="connsiteY4" fmla="*/ 3822672 h 8611362"/>
              <a:gd name="connsiteX5" fmla="*/ 7706328 w 8725503"/>
              <a:gd name="connsiteY5" fmla="*/ 4660872 h 8611362"/>
              <a:gd name="connsiteX6" fmla="*/ 7287228 w 8725503"/>
              <a:gd name="connsiteY6" fmla="*/ 5556222 h 8611362"/>
              <a:gd name="connsiteX7" fmla="*/ 7753953 w 8725503"/>
              <a:gd name="connsiteY7" fmla="*/ 6232497 h 8611362"/>
              <a:gd name="connsiteX8" fmla="*/ 7306278 w 8725503"/>
              <a:gd name="connsiteY8" fmla="*/ 7118322 h 8611362"/>
              <a:gd name="connsiteX9" fmla="*/ 7744428 w 8725503"/>
              <a:gd name="connsiteY9" fmla="*/ 7689822 h 8611362"/>
              <a:gd name="connsiteX10" fmla="*/ 8392128 w 8725503"/>
              <a:gd name="connsiteY10" fmla="*/ 7927947 h 8611362"/>
              <a:gd name="connsiteX11" fmla="*/ 8725503 w 8725503"/>
              <a:gd name="connsiteY11" fmla="*/ 7899372 h 8611362"/>
              <a:gd name="connsiteX12" fmla="*/ 876903 w 8725503"/>
              <a:gd name="connsiteY12" fmla="*/ 8127972 h 8611362"/>
              <a:gd name="connsiteX13" fmla="*/ 924528 w 8725503"/>
              <a:gd name="connsiteY13" fmla="*/ 736572 h 8611362"/>
              <a:gd name="connsiteX14" fmla="*/ 7430103 w 8725503"/>
              <a:gd name="connsiteY14" fmla="*/ 660372 h 861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725503" h="8611362">
                <a:moveTo>
                  <a:pt x="7287228" y="784197"/>
                </a:moveTo>
                <a:cubicBezTo>
                  <a:pt x="7532497" y="1037403"/>
                  <a:pt x="7777766" y="1290610"/>
                  <a:pt x="7782528" y="1536672"/>
                </a:cubicBezTo>
                <a:cubicBezTo>
                  <a:pt x="7787290" y="1782734"/>
                  <a:pt x="7315803" y="2003397"/>
                  <a:pt x="7315803" y="2260572"/>
                </a:cubicBezTo>
                <a:cubicBezTo>
                  <a:pt x="7315803" y="2517747"/>
                  <a:pt x="7787290" y="2819372"/>
                  <a:pt x="7782528" y="3079722"/>
                </a:cubicBezTo>
                <a:cubicBezTo>
                  <a:pt x="7777766" y="3340072"/>
                  <a:pt x="7299928" y="3559147"/>
                  <a:pt x="7287228" y="3822672"/>
                </a:cubicBezTo>
                <a:cubicBezTo>
                  <a:pt x="7274528" y="4086197"/>
                  <a:pt x="7706328" y="4371947"/>
                  <a:pt x="7706328" y="4660872"/>
                </a:cubicBezTo>
                <a:cubicBezTo>
                  <a:pt x="7706328" y="4949797"/>
                  <a:pt x="7279291" y="5294285"/>
                  <a:pt x="7287228" y="5556222"/>
                </a:cubicBezTo>
                <a:cubicBezTo>
                  <a:pt x="7295165" y="5818159"/>
                  <a:pt x="7750778" y="5972147"/>
                  <a:pt x="7753953" y="6232497"/>
                </a:cubicBezTo>
                <a:cubicBezTo>
                  <a:pt x="7757128" y="6492847"/>
                  <a:pt x="7307865" y="6875435"/>
                  <a:pt x="7306278" y="7118322"/>
                </a:cubicBezTo>
                <a:cubicBezTo>
                  <a:pt x="7304691" y="7361209"/>
                  <a:pt x="7563453" y="7554884"/>
                  <a:pt x="7744428" y="7689822"/>
                </a:cubicBezTo>
                <a:cubicBezTo>
                  <a:pt x="7925403" y="7824760"/>
                  <a:pt x="8228616" y="7893022"/>
                  <a:pt x="8392128" y="7927947"/>
                </a:cubicBezTo>
                <a:cubicBezTo>
                  <a:pt x="8555640" y="7962872"/>
                  <a:pt x="8725503" y="7899372"/>
                  <a:pt x="8725503" y="7899372"/>
                </a:cubicBezTo>
                <a:cubicBezTo>
                  <a:pt x="7472966" y="7932709"/>
                  <a:pt x="2177065" y="9321772"/>
                  <a:pt x="876903" y="8127972"/>
                </a:cubicBezTo>
                <a:cubicBezTo>
                  <a:pt x="-423260" y="6934172"/>
                  <a:pt x="-167672" y="1981172"/>
                  <a:pt x="924528" y="736572"/>
                </a:cubicBezTo>
                <a:cubicBezTo>
                  <a:pt x="2016728" y="-508028"/>
                  <a:pt x="4723415" y="76172"/>
                  <a:pt x="7430103" y="660372"/>
                </a:cubicBezTo>
              </a:path>
            </a:pathLst>
          </a:custGeom>
          <a:gradFill flip="none" rotWithShape="1">
            <a:gsLst>
              <a:gs pos="27000">
                <a:schemeClr val="accent1">
                  <a:lumMod val="60000"/>
                  <a:lumOff val="40000"/>
                </a:schemeClr>
              </a:gs>
              <a:gs pos="44000">
                <a:schemeClr val="accent2">
                  <a:lumMod val="60000"/>
                  <a:lumOff val="40000"/>
                </a:schemeClr>
              </a:gs>
              <a:gs pos="67000">
                <a:schemeClr val="accent4">
                  <a:lumMod val="60000"/>
                  <a:lumOff val="40000"/>
                </a:schemeClr>
              </a:gs>
              <a:gs pos="82000">
                <a:schemeClr val="accent5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олилиния: фигура 24">
            <a:extLst>
              <a:ext uri="{FF2B5EF4-FFF2-40B4-BE49-F238E27FC236}">
                <a16:creationId xmlns:a16="http://schemas.microsoft.com/office/drawing/2014/main" id="{1AF1265D-6041-0082-1B8C-1186566B12A6}"/>
              </a:ext>
            </a:extLst>
          </p:cNvPr>
          <p:cNvSpPr/>
          <p:nvPr/>
        </p:nvSpPr>
        <p:spPr>
          <a:xfrm>
            <a:off x="-1489124" y="-973216"/>
            <a:ext cx="9035686" cy="8961816"/>
          </a:xfrm>
          <a:custGeom>
            <a:avLst/>
            <a:gdLst>
              <a:gd name="connsiteX0" fmla="*/ 7287228 w 8725503"/>
              <a:gd name="connsiteY0" fmla="*/ 784197 h 8611362"/>
              <a:gd name="connsiteX1" fmla="*/ 7782528 w 8725503"/>
              <a:gd name="connsiteY1" fmla="*/ 1536672 h 8611362"/>
              <a:gd name="connsiteX2" fmla="*/ 7315803 w 8725503"/>
              <a:gd name="connsiteY2" fmla="*/ 2260572 h 8611362"/>
              <a:gd name="connsiteX3" fmla="*/ 7782528 w 8725503"/>
              <a:gd name="connsiteY3" fmla="*/ 3079722 h 8611362"/>
              <a:gd name="connsiteX4" fmla="*/ 7287228 w 8725503"/>
              <a:gd name="connsiteY4" fmla="*/ 3822672 h 8611362"/>
              <a:gd name="connsiteX5" fmla="*/ 7706328 w 8725503"/>
              <a:gd name="connsiteY5" fmla="*/ 4660872 h 8611362"/>
              <a:gd name="connsiteX6" fmla="*/ 7287228 w 8725503"/>
              <a:gd name="connsiteY6" fmla="*/ 5556222 h 8611362"/>
              <a:gd name="connsiteX7" fmla="*/ 7753953 w 8725503"/>
              <a:gd name="connsiteY7" fmla="*/ 6232497 h 8611362"/>
              <a:gd name="connsiteX8" fmla="*/ 7306278 w 8725503"/>
              <a:gd name="connsiteY8" fmla="*/ 7118322 h 8611362"/>
              <a:gd name="connsiteX9" fmla="*/ 7744428 w 8725503"/>
              <a:gd name="connsiteY9" fmla="*/ 7689822 h 8611362"/>
              <a:gd name="connsiteX10" fmla="*/ 8392128 w 8725503"/>
              <a:gd name="connsiteY10" fmla="*/ 7927947 h 8611362"/>
              <a:gd name="connsiteX11" fmla="*/ 8725503 w 8725503"/>
              <a:gd name="connsiteY11" fmla="*/ 7899372 h 8611362"/>
              <a:gd name="connsiteX12" fmla="*/ 876903 w 8725503"/>
              <a:gd name="connsiteY12" fmla="*/ 8127972 h 8611362"/>
              <a:gd name="connsiteX13" fmla="*/ 924528 w 8725503"/>
              <a:gd name="connsiteY13" fmla="*/ 736572 h 8611362"/>
              <a:gd name="connsiteX14" fmla="*/ 7430103 w 8725503"/>
              <a:gd name="connsiteY14" fmla="*/ 660372 h 861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725503" h="8611362">
                <a:moveTo>
                  <a:pt x="7287228" y="784197"/>
                </a:moveTo>
                <a:cubicBezTo>
                  <a:pt x="7532497" y="1037403"/>
                  <a:pt x="7777766" y="1290610"/>
                  <a:pt x="7782528" y="1536672"/>
                </a:cubicBezTo>
                <a:cubicBezTo>
                  <a:pt x="7787290" y="1782734"/>
                  <a:pt x="7315803" y="2003397"/>
                  <a:pt x="7315803" y="2260572"/>
                </a:cubicBezTo>
                <a:cubicBezTo>
                  <a:pt x="7315803" y="2517747"/>
                  <a:pt x="7787290" y="2819372"/>
                  <a:pt x="7782528" y="3079722"/>
                </a:cubicBezTo>
                <a:cubicBezTo>
                  <a:pt x="7777766" y="3340072"/>
                  <a:pt x="7299928" y="3559147"/>
                  <a:pt x="7287228" y="3822672"/>
                </a:cubicBezTo>
                <a:cubicBezTo>
                  <a:pt x="7274528" y="4086197"/>
                  <a:pt x="7706328" y="4371947"/>
                  <a:pt x="7706328" y="4660872"/>
                </a:cubicBezTo>
                <a:cubicBezTo>
                  <a:pt x="7706328" y="4949797"/>
                  <a:pt x="7279291" y="5294285"/>
                  <a:pt x="7287228" y="5556222"/>
                </a:cubicBezTo>
                <a:cubicBezTo>
                  <a:pt x="7295165" y="5818159"/>
                  <a:pt x="7750778" y="5972147"/>
                  <a:pt x="7753953" y="6232497"/>
                </a:cubicBezTo>
                <a:cubicBezTo>
                  <a:pt x="7757128" y="6492847"/>
                  <a:pt x="7307865" y="6875435"/>
                  <a:pt x="7306278" y="7118322"/>
                </a:cubicBezTo>
                <a:cubicBezTo>
                  <a:pt x="7304691" y="7361209"/>
                  <a:pt x="7563453" y="7554884"/>
                  <a:pt x="7744428" y="7689822"/>
                </a:cubicBezTo>
                <a:cubicBezTo>
                  <a:pt x="7925403" y="7824760"/>
                  <a:pt x="8228616" y="7893022"/>
                  <a:pt x="8392128" y="7927947"/>
                </a:cubicBezTo>
                <a:cubicBezTo>
                  <a:pt x="8555640" y="7962872"/>
                  <a:pt x="8725503" y="7899372"/>
                  <a:pt x="8725503" y="7899372"/>
                </a:cubicBezTo>
                <a:cubicBezTo>
                  <a:pt x="7472966" y="7932709"/>
                  <a:pt x="2177065" y="9321772"/>
                  <a:pt x="876903" y="8127972"/>
                </a:cubicBezTo>
                <a:cubicBezTo>
                  <a:pt x="-423260" y="6934172"/>
                  <a:pt x="-167672" y="1981172"/>
                  <a:pt x="924528" y="736572"/>
                </a:cubicBezTo>
                <a:cubicBezTo>
                  <a:pt x="2016728" y="-508028"/>
                  <a:pt x="4723415" y="76172"/>
                  <a:pt x="7430103" y="660372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178DB-9328-A1A7-8D18-4D36919E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489585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ru-RU" dirty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27000">
                      <a:schemeClr val="accent2">
                        <a:lumMod val="60000"/>
                        <a:lumOff val="40000"/>
                      </a:schemeClr>
                    </a:gs>
                    <a:gs pos="7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rPr>
              <a:t>Молекулярное расстояние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F98B953-D602-352C-6C86-BAB184FF9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105673"/>
              </p:ext>
            </p:extLst>
          </p:nvPr>
        </p:nvGraphicFramePr>
        <p:xfrm>
          <a:off x="6915152" y="1124681"/>
          <a:ext cx="5000621" cy="1920423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790759">
                  <a:extLst>
                    <a:ext uri="{9D8B030D-6E8A-4147-A177-3AD203B41FA5}">
                      <a16:colId xmlns:a16="http://schemas.microsoft.com/office/drawing/2014/main" val="1534143391"/>
                    </a:ext>
                  </a:extLst>
                </a:gridCol>
                <a:gridCol w="534977">
                  <a:extLst>
                    <a:ext uri="{9D8B030D-6E8A-4147-A177-3AD203B41FA5}">
                      <a16:colId xmlns:a16="http://schemas.microsoft.com/office/drawing/2014/main" val="204582013"/>
                    </a:ext>
                  </a:extLst>
                </a:gridCol>
                <a:gridCol w="534977">
                  <a:extLst>
                    <a:ext uri="{9D8B030D-6E8A-4147-A177-3AD203B41FA5}">
                      <a16:colId xmlns:a16="http://schemas.microsoft.com/office/drawing/2014/main" val="3254558941"/>
                    </a:ext>
                  </a:extLst>
                </a:gridCol>
                <a:gridCol w="534977">
                  <a:extLst>
                    <a:ext uri="{9D8B030D-6E8A-4147-A177-3AD203B41FA5}">
                      <a16:colId xmlns:a16="http://schemas.microsoft.com/office/drawing/2014/main" val="4179092973"/>
                    </a:ext>
                  </a:extLst>
                </a:gridCol>
                <a:gridCol w="534977">
                  <a:extLst>
                    <a:ext uri="{9D8B030D-6E8A-4147-A177-3AD203B41FA5}">
                      <a16:colId xmlns:a16="http://schemas.microsoft.com/office/drawing/2014/main" val="3620950548"/>
                    </a:ext>
                  </a:extLst>
                </a:gridCol>
                <a:gridCol w="534977">
                  <a:extLst>
                    <a:ext uri="{9D8B030D-6E8A-4147-A177-3AD203B41FA5}">
                      <a16:colId xmlns:a16="http://schemas.microsoft.com/office/drawing/2014/main" val="4058850531"/>
                    </a:ext>
                  </a:extLst>
                </a:gridCol>
                <a:gridCol w="534977">
                  <a:extLst>
                    <a:ext uri="{9D8B030D-6E8A-4147-A177-3AD203B41FA5}">
                      <a16:colId xmlns:a16="http://schemas.microsoft.com/office/drawing/2014/main" val="1996005757"/>
                    </a:ext>
                  </a:extLst>
                </a:gridCol>
              </a:tblGrid>
              <a:tr h="473145"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 marL="116666" marR="116666" marT="58333" marB="58333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1</a:t>
                      </a:r>
                    </a:p>
                  </a:txBody>
                  <a:tcPr marL="116666" marR="116666" marT="58333" marB="58333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2</a:t>
                      </a:r>
                    </a:p>
                  </a:txBody>
                  <a:tcPr marL="116666" marR="116666" marT="58333" marB="5833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3</a:t>
                      </a:r>
                    </a:p>
                  </a:txBody>
                  <a:tcPr marL="116666" marR="116666" marT="58333" marB="5833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4</a:t>
                      </a:r>
                    </a:p>
                  </a:txBody>
                  <a:tcPr marL="116666" marR="116666" marT="58333" marB="5833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5</a:t>
                      </a:r>
                    </a:p>
                  </a:txBody>
                  <a:tcPr marL="116666" marR="116666" marT="58333" marB="5833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6</a:t>
                      </a:r>
                    </a:p>
                  </a:txBody>
                  <a:tcPr marL="116666" marR="116666" marT="58333" marB="5833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276959"/>
                  </a:ext>
                </a:extLst>
              </a:tr>
              <a:tr h="47314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Организм </a:t>
                      </a:r>
                      <a:r>
                        <a:rPr lang="en-US" sz="2000" dirty="0"/>
                        <a:t>1</a:t>
                      </a:r>
                      <a:endParaRPr lang="ru-RU" sz="2000" dirty="0"/>
                    </a:p>
                  </a:txBody>
                  <a:tcPr marL="116666" marR="116666" marT="58333" marB="58333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</a:t>
                      </a:r>
                      <a:endParaRPr lang="ru-RU" sz="2400" dirty="0"/>
                    </a:p>
                  </a:txBody>
                  <a:tcPr marL="116666" marR="116666" marT="58333" marB="5833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endParaRPr lang="ru-RU" sz="2400" dirty="0"/>
                    </a:p>
                  </a:txBody>
                  <a:tcPr marL="116666" marR="116666" marT="58333" marB="5833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ru-RU" sz="2400" dirty="0"/>
                    </a:p>
                  </a:txBody>
                  <a:tcPr marL="116666" marR="116666" marT="58333" marB="5833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ru-RU" sz="2400" dirty="0"/>
                    </a:p>
                  </a:txBody>
                  <a:tcPr marL="116666" marR="116666" marT="58333" marB="5833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72617"/>
                  </a:ext>
                </a:extLst>
              </a:tr>
              <a:tr h="47314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Организм </a:t>
                      </a:r>
                      <a:r>
                        <a:rPr lang="en-US" sz="2000" dirty="0"/>
                        <a:t>2</a:t>
                      </a:r>
                      <a:endParaRPr lang="ru-RU" sz="2000" dirty="0"/>
                    </a:p>
                  </a:txBody>
                  <a:tcPr marL="116666" marR="116666" marT="58333" marB="58333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950496"/>
                  </a:ext>
                </a:extLst>
              </a:tr>
              <a:tr h="47314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Организм </a:t>
                      </a:r>
                      <a:r>
                        <a:rPr lang="en-US" sz="2000" dirty="0"/>
                        <a:t>3</a:t>
                      </a:r>
                      <a:endParaRPr lang="ru-RU" sz="2000" dirty="0"/>
                    </a:p>
                  </a:txBody>
                  <a:tcPr marL="116666" marR="116666" marT="58333" marB="58333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ru-RU" sz="2400" dirty="0"/>
                    </a:p>
                  </a:txBody>
                  <a:tcPr marL="116666" marR="116666" marT="58333" marB="5833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76779"/>
                  </a:ext>
                </a:extLst>
              </a:tr>
            </a:tbl>
          </a:graphicData>
        </a:graphic>
      </p:graphicFrame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A07E83C5-D340-B556-89AE-48AF50812E31}"/>
              </a:ext>
            </a:extLst>
          </p:cNvPr>
          <p:cNvGrpSpPr/>
          <p:nvPr/>
        </p:nvGrpSpPr>
        <p:grpSpPr>
          <a:xfrm>
            <a:off x="7162114" y="3629025"/>
            <a:ext cx="4753659" cy="2432187"/>
            <a:chOff x="7648575" y="2548265"/>
            <a:chExt cx="3857623" cy="1973734"/>
          </a:xfrm>
        </p:grpSpPr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2CD47EE6-5E7D-08D1-7B62-24C71667BD9C}"/>
                </a:ext>
              </a:extLst>
            </p:cNvPr>
            <p:cNvCxnSpPr>
              <a:cxnSpLocks/>
            </p:cNvCxnSpPr>
            <p:nvPr/>
          </p:nvCxnSpPr>
          <p:spPr>
            <a:xfrm>
              <a:off x="7648575" y="2809875"/>
              <a:ext cx="337185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1C174BB-B945-E97B-DEE7-85B220C4D03D}"/>
                </a:ext>
              </a:extLst>
            </p:cNvPr>
            <p:cNvCxnSpPr/>
            <p:nvPr/>
          </p:nvCxnSpPr>
          <p:spPr>
            <a:xfrm>
              <a:off x="8515350" y="2809875"/>
              <a:ext cx="0" cy="65563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0C6FA3BD-0FCB-1DC5-3DFC-B991864F206C}"/>
                </a:ext>
              </a:extLst>
            </p:cNvPr>
            <p:cNvCxnSpPr>
              <a:cxnSpLocks/>
            </p:cNvCxnSpPr>
            <p:nvPr/>
          </p:nvCxnSpPr>
          <p:spPr>
            <a:xfrm>
              <a:off x="8515350" y="3446463"/>
              <a:ext cx="250507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4017CE44-D91E-A333-0226-E00E37EF59E8}"/>
                </a:ext>
              </a:extLst>
            </p:cNvPr>
            <p:cNvCxnSpPr/>
            <p:nvPr/>
          </p:nvCxnSpPr>
          <p:spPr>
            <a:xfrm>
              <a:off x="9505950" y="3429000"/>
              <a:ext cx="0" cy="65563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FBAD7162-A010-A6EC-B11F-E314D375728F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50" y="4064001"/>
              <a:ext cx="151447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91B052-0644-32FF-7691-592595A03A13}"/>
                </a:ext>
              </a:extLst>
            </p:cNvPr>
            <p:cNvSpPr txBox="1"/>
            <p:nvPr/>
          </p:nvSpPr>
          <p:spPr>
            <a:xfrm>
              <a:off x="11096623" y="2548265"/>
              <a:ext cx="409575" cy="474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</a:t>
              </a:r>
              <a:endParaRPr lang="ru-RU" sz="3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5AE832-D651-6ADF-C583-24EEFB9D6A12}"/>
                </a:ext>
              </a:extLst>
            </p:cNvPr>
            <p:cNvSpPr txBox="1"/>
            <p:nvPr/>
          </p:nvSpPr>
          <p:spPr>
            <a:xfrm>
              <a:off x="11096623" y="3180417"/>
              <a:ext cx="409575" cy="474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2</a:t>
              </a:r>
              <a:endParaRPr lang="ru-RU" sz="3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692B6C-9B6D-D113-F34D-256AF728EABD}"/>
                </a:ext>
              </a:extLst>
            </p:cNvPr>
            <p:cNvSpPr txBox="1"/>
            <p:nvPr/>
          </p:nvSpPr>
          <p:spPr>
            <a:xfrm>
              <a:off x="11096623" y="3823028"/>
              <a:ext cx="409575" cy="474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3</a:t>
              </a:r>
              <a:endParaRPr lang="ru-RU" sz="3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A5F037-2C43-E73A-B8C0-4DB69A4D5061}"/>
                </a:ext>
              </a:extLst>
            </p:cNvPr>
            <p:cNvSpPr txBox="1"/>
            <p:nvPr/>
          </p:nvSpPr>
          <p:spPr>
            <a:xfrm>
              <a:off x="7962900" y="3460815"/>
              <a:ext cx="1543050" cy="424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5</a:t>
              </a:r>
              <a:r>
                <a:rPr lang="en-US" sz="2800" dirty="0">
                  <a:solidFill>
                    <a:schemeClr val="accent4"/>
                  </a:solidFill>
                </a:rPr>
                <a:t>A</a:t>
              </a:r>
              <a:r>
                <a:rPr lang="en-US" sz="2800" dirty="0"/>
                <a:t> → </a:t>
              </a:r>
              <a:r>
                <a:rPr lang="en-US" sz="2800" dirty="0">
                  <a:solidFill>
                    <a:schemeClr val="accent2"/>
                  </a:solidFill>
                </a:rPr>
                <a:t>T</a:t>
              </a:r>
              <a:endParaRPr lang="ru-RU" sz="2800" dirty="0">
                <a:solidFill>
                  <a:schemeClr val="accent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5CF70B-B5B9-0538-1C52-379220411F37}"/>
                </a:ext>
              </a:extLst>
            </p:cNvPr>
            <p:cNvSpPr txBox="1"/>
            <p:nvPr/>
          </p:nvSpPr>
          <p:spPr>
            <a:xfrm>
              <a:off x="8996362" y="4097403"/>
              <a:ext cx="1543050" cy="424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dirty="0">
                  <a:solidFill>
                    <a:schemeClr val="accent1"/>
                  </a:solidFill>
                </a:rPr>
                <a:t>G</a:t>
              </a:r>
              <a:r>
                <a:rPr lang="en-US" sz="2800" dirty="0"/>
                <a:t> → </a:t>
              </a:r>
              <a:r>
                <a:rPr lang="en-US" sz="2800" dirty="0">
                  <a:solidFill>
                    <a:schemeClr val="accent5"/>
                  </a:solidFill>
                </a:rPr>
                <a:t>C</a:t>
              </a:r>
              <a:endParaRPr lang="ru-RU" sz="2800" dirty="0">
                <a:solidFill>
                  <a:schemeClr val="accent5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21E5674-0AC0-9FEA-8593-2B9380EE4DC2}"/>
              </a:ext>
            </a:extLst>
          </p:cNvPr>
          <p:cNvSpPr txBox="1"/>
          <p:nvPr/>
        </p:nvSpPr>
        <p:spPr>
          <a:xfrm>
            <a:off x="381000" y="2311400"/>
            <a:ext cx="556042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27000">
                      <a:schemeClr val="accent2">
                        <a:lumMod val="60000"/>
                        <a:lumOff val="40000"/>
                      </a:schemeClr>
                    </a:gs>
                    <a:gs pos="7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rPr>
              <a:t>Любое эволюционное событие – маловероятное </a:t>
            </a: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⇒ геномы близких видов имеют больше идентичных позиций</a:t>
            </a:r>
          </a:p>
          <a:p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400" b="1" dirty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27000">
                      <a:schemeClr val="accent2">
                        <a:lumMod val="60000"/>
                        <a:lumOff val="40000"/>
                      </a:schemeClr>
                    </a:gs>
                    <a:gs pos="7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rPr>
              <a:t>Единица отсчета эволюции гоминид: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Расстояние современный человек – последний общий предок людей с шимпанзе (CHLCA)</a:t>
            </a:r>
          </a:p>
          <a:p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86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E4A5D9D2-190C-67EE-A454-06DCD04C4948}"/>
              </a:ext>
            </a:extLst>
          </p:cNvPr>
          <p:cNvSpPr/>
          <p:nvPr/>
        </p:nvSpPr>
        <p:spPr>
          <a:xfrm>
            <a:off x="2687755" y="-1660097"/>
            <a:ext cx="6667528" cy="9461111"/>
          </a:xfrm>
          <a:custGeom>
            <a:avLst/>
            <a:gdLst>
              <a:gd name="connsiteX0" fmla="*/ 6732564 w 7419605"/>
              <a:gd name="connsiteY0" fmla="*/ 670417 h 8510760"/>
              <a:gd name="connsiteX1" fmla="*/ 7380264 w 7419605"/>
              <a:gd name="connsiteY1" fmla="*/ 2613517 h 8510760"/>
              <a:gd name="connsiteX2" fmla="*/ 6608739 w 7419605"/>
              <a:gd name="connsiteY2" fmla="*/ 4042267 h 8510760"/>
              <a:gd name="connsiteX3" fmla="*/ 7323114 w 7419605"/>
              <a:gd name="connsiteY3" fmla="*/ 5699617 h 8510760"/>
              <a:gd name="connsiteX4" fmla="*/ 6580164 w 7419605"/>
              <a:gd name="connsiteY4" fmla="*/ 7433167 h 8510760"/>
              <a:gd name="connsiteX5" fmla="*/ 7084989 w 7419605"/>
              <a:gd name="connsiteY5" fmla="*/ 7937992 h 8510760"/>
              <a:gd name="connsiteX6" fmla="*/ 6827814 w 7419605"/>
              <a:gd name="connsiteY6" fmla="*/ 8023717 h 8510760"/>
              <a:gd name="connsiteX7" fmla="*/ 827064 w 7419605"/>
              <a:gd name="connsiteY7" fmla="*/ 7937992 h 8510760"/>
              <a:gd name="connsiteX8" fmla="*/ 712764 w 7419605"/>
              <a:gd name="connsiteY8" fmla="*/ 603742 h 8510760"/>
              <a:gd name="connsiteX9" fmla="*/ 6989739 w 7419605"/>
              <a:gd name="connsiteY9" fmla="*/ 422767 h 8510760"/>
              <a:gd name="connsiteX10" fmla="*/ 6865914 w 7419605"/>
              <a:gd name="connsiteY10" fmla="*/ 508492 h 8510760"/>
              <a:gd name="connsiteX11" fmla="*/ 6865914 w 7419605"/>
              <a:gd name="connsiteY11" fmla="*/ 594217 h 8510760"/>
              <a:gd name="connsiteX12" fmla="*/ 6865914 w 7419605"/>
              <a:gd name="connsiteY12" fmla="*/ 594217 h 8510760"/>
              <a:gd name="connsiteX0" fmla="*/ 6732564 w 7419605"/>
              <a:gd name="connsiteY0" fmla="*/ 670417 h 8510760"/>
              <a:gd name="connsiteX1" fmla="*/ 7380264 w 7419605"/>
              <a:gd name="connsiteY1" fmla="*/ 2613517 h 8510760"/>
              <a:gd name="connsiteX2" fmla="*/ 6608739 w 7419605"/>
              <a:gd name="connsiteY2" fmla="*/ 4042267 h 8510760"/>
              <a:gd name="connsiteX3" fmla="*/ 7323114 w 7419605"/>
              <a:gd name="connsiteY3" fmla="*/ 5699617 h 8510760"/>
              <a:gd name="connsiteX4" fmla="*/ 6593577 w 7419605"/>
              <a:gd name="connsiteY4" fmla="*/ 6975967 h 8510760"/>
              <a:gd name="connsiteX5" fmla="*/ 7084989 w 7419605"/>
              <a:gd name="connsiteY5" fmla="*/ 7937992 h 8510760"/>
              <a:gd name="connsiteX6" fmla="*/ 6827814 w 7419605"/>
              <a:gd name="connsiteY6" fmla="*/ 8023717 h 8510760"/>
              <a:gd name="connsiteX7" fmla="*/ 827064 w 7419605"/>
              <a:gd name="connsiteY7" fmla="*/ 7937992 h 8510760"/>
              <a:gd name="connsiteX8" fmla="*/ 712764 w 7419605"/>
              <a:gd name="connsiteY8" fmla="*/ 603742 h 8510760"/>
              <a:gd name="connsiteX9" fmla="*/ 6989739 w 7419605"/>
              <a:gd name="connsiteY9" fmla="*/ 422767 h 8510760"/>
              <a:gd name="connsiteX10" fmla="*/ 6865914 w 7419605"/>
              <a:gd name="connsiteY10" fmla="*/ 508492 h 8510760"/>
              <a:gd name="connsiteX11" fmla="*/ 6865914 w 7419605"/>
              <a:gd name="connsiteY11" fmla="*/ 594217 h 8510760"/>
              <a:gd name="connsiteX12" fmla="*/ 6865914 w 7419605"/>
              <a:gd name="connsiteY12" fmla="*/ 594217 h 8510760"/>
              <a:gd name="connsiteX0" fmla="*/ 6732564 w 7419605"/>
              <a:gd name="connsiteY0" fmla="*/ 670417 h 8510760"/>
              <a:gd name="connsiteX1" fmla="*/ 7380264 w 7419605"/>
              <a:gd name="connsiteY1" fmla="*/ 2613517 h 8510760"/>
              <a:gd name="connsiteX2" fmla="*/ 6608739 w 7419605"/>
              <a:gd name="connsiteY2" fmla="*/ 4042267 h 8510760"/>
              <a:gd name="connsiteX3" fmla="*/ 7188988 w 7419605"/>
              <a:gd name="connsiteY3" fmla="*/ 5556742 h 8510760"/>
              <a:gd name="connsiteX4" fmla="*/ 6593577 w 7419605"/>
              <a:gd name="connsiteY4" fmla="*/ 6975967 h 8510760"/>
              <a:gd name="connsiteX5" fmla="*/ 7084989 w 7419605"/>
              <a:gd name="connsiteY5" fmla="*/ 7937992 h 8510760"/>
              <a:gd name="connsiteX6" fmla="*/ 6827814 w 7419605"/>
              <a:gd name="connsiteY6" fmla="*/ 8023717 h 8510760"/>
              <a:gd name="connsiteX7" fmla="*/ 827064 w 7419605"/>
              <a:gd name="connsiteY7" fmla="*/ 7937992 h 8510760"/>
              <a:gd name="connsiteX8" fmla="*/ 712764 w 7419605"/>
              <a:gd name="connsiteY8" fmla="*/ 603742 h 8510760"/>
              <a:gd name="connsiteX9" fmla="*/ 6989739 w 7419605"/>
              <a:gd name="connsiteY9" fmla="*/ 422767 h 8510760"/>
              <a:gd name="connsiteX10" fmla="*/ 6865914 w 7419605"/>
              <a:gd name="connsiteY10" fmla="*/ 508492 h 8510760"/>
              <a:gd name="connsiteX11" fmla="*/ 6865914 w 7419605"/>
              <a:gd name="connsiteY11" fmla="*/ 594217 h 8510760"/>
              <a:gd name="connsiteX12" fmla="*/ 6865914 w 7419605"/>
              <a:gd name="connsiteY12" fmla="*/ 594217 h 8510760"/>
              <a:gd name="connsiteX0" fmla="*/ 6732564 w 7419605"/>
              <a:gd name="connsiteY0" fmla="*/ 670417 h 8510760"/>
              <a:gd name="connsiteX1" fmla="*/ 7380264 w 7419605"/>
              <a:gd name="connsiteY1" fmla="*/ 2613517 h 8510760"/>
              <a:gd name="connsiteX2" fmla="*/ 6608739 w 7419605"/>
              <a:gd name="connsiteY2" fmla="*/ 4042267 h 8510760"/>
              <a:gd name="connsiteX3" fmla="*/ 7188988 w 7419605"/>
              <a:gd name="connsiteY3" fmla="*/ 5556742 h 8510760"/>
              <a:gd name="connsiteX4" fmla="*/ 6700878 w 7419605"/>
              <a:gd name="connsiteY4" fmla="*/ 6956917 h 8510760"/>
              <a:gd name="connsiteX5" fmla="*/ 7084989 w 7419605"/>
              <a:gd name="connsiteY5" fmla="*/ 7937992 h 8510760"/>
              <a:gd name="connsiteX6" fmla="*/ 6827814 w 7419605"/>
              <a:gd name="connsiteY6" fmla="*/ 8023717 h 8510760"/>
              <a:gd name="connsiteX7" fmla="*/ 827064 w 7419605"/>
              <a:gd name="connsiteY7" fmla="*/ 7937992 h 8510760"/>
              <a:gd name="connsiteX8" fmla="*/ 712764 w 7419605"/>
              <a:gd name="connsiteY8" fmla="*/ 603742 h 8510760"/>
              <a:gd name="connsiteX9" fmla="*/ 6989739 w 7419605"/>
              <a:gd name="connsiteY9" fmla="*/ 422767 h 8510760"/>
              <a:gd name="connsiteX10" fmla="*/ 6865914 w 7419605"/>
              <a:gd name="connsiteY10" fmla="*/ 508492 h 8510760"/>
              <a:gd name="connsiteX11" fmla="*/ 6865914 w 7419605"/>
              <a:gd name="connsiteY11" fmla="*/ 594217 h 8510760"/>
              <a:gd name="connsiteX12" fmla="*/ 6865914 w 7419605"/>
              <a:gd name="connsiteY12" fmla="*/ 594217 h 8510760"/>
              <a:gd name="connsiteX0" fmla="*/ 6732564 w 7491608"/>
              <a:gd name="connsiteY0" fmla="*/ 670417 h 8511139"/>
              <a:gd name="connsiteX1" fmla="*/ 7380264 w 7491608"/>
              <a:gd name="connsiteY1" fmla="*/ 2613517 h 8511139"/>
              <a:gd name="connsiteX2" fmla="*/ 6608739 w 7491608"/>
              <a:gd name="connsiteY2" fmla="*/ 4042267 h 8511139"/>
              <a:gd name="connsiteX3" fmla="*/ 7188988 w 7491608"/>
              <a:gd name="connsiteY3" fmla="*/ 5556742 h 8511139"/>
              <a:gd name="connsiteX4" fmla="*/ 6700878 w 7491608"/>
              <a:gd name="connsiteY4" fmla="*/ 6956917 h 8511139"/>
              <a:gd name="connsiteX5" fmla="*/ 7326416 w 7491608"/>
              <a:gd name="connsiteY5" fmla="*/ 7928467 h 8511139"/>
              <a:gd name="connsiteX6" fmla="*/ 6827814 w 7491608"/>
              <a:gd name="connsiteY6" fmla="*/ 8023717 h 8511139"/>
              <a:gd name="connsiteX7" fmla="*/ 827064 w 7491608"/>
              <a:gd name="connsiteY7" fmla="*/ 7937992 h 8511139"/>
              <a:gd name="connsiteX8" fmla="*/ 712764 w 7491608"/>
              <a:gd name="connsiteY8" fmla="*/ 603742 h 8511139"/>
              <a:gd name="connsiteX9" fmla="*/ 6989739 w 7491608"/>
              <a:gd name="connsiteY9" fmla="*/ 422767 h 8511139"/>
              <a:gd name="connsiteX10" fmla="*/ 6865914 w 7491608"/>
              <a:gd name="connsiteY10" fmla="*/ 508492 h 8511139"/>
              <a:gd name="connsiteX11" fmla="*/ 6865914 w 7491608"/>
              <a:gd name="connsiteY11" fmla="*/ 594217 h 8511139"/>
              <a:gd name="connsiteX12" fmla="*/ 6865914 w 7491608"/>
              <a:gd name="connsiteY12" fmla="*/ 594217 h 8511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491608" h="8511139">
                <a:moveTo>
                  <a:pt x="6732564" y="670417"/>
                </a:moveTo>
                <a:cubicBezTo>
                  <a:pt x="7066732" y="1360979"/>
                  <a:pt x="7400901" y="2051542"/>
                  <a:pt x="7380264" y="2613517"/>
                </a:cubicBezTo>
                <a:cubicBezTo>
                  <a:pt x="7359627" y="3175492"/>
                  <a:pt x="6640618" y="3551730"/>
                  <a:pt x="6608739" y="4042267"/>
                </a:cubicBezTo>
                <a:cubicBezTo>
                  <a:pt x="6576860" y="4532805"/>
                  <a:pt x="7193751" y="4991592"/>
                  <a:pt x="7188988" y="5556742"/>
                </a:cubicBezTo>
                <a:cubicBezTo>
                  <a:pt x="7184226" y="6121892"/>
                  <a:pt x="6677973" y="6561630"/>
                  <a:pt x="6700878" y="6956917"/>
                </a:cubicBezTo>
                <a:cubicBezTo>
                  <a:pt x="6723783" y="7352205"/>
                  <a:pt x="7305260" y="7750667"/>
                  <a:pt x="7326416" y="7928467"/>
                </a:cubicBezTo>
                <a:cubicBezTo>
                  <a:pt x="7347572" y="8106267"/>
                  <a:pt x="7911039" y="8022130"/>
                  <a:pt x="6827814" y="8023717"/>
                </a:cubicBezTo>
                <a:cubicBezTo>
                  <a:pt x="5744589" y="8025304"/>
                  <a:pt x="1846239" y="9174655"/>
                  <a:pt x="827064" y="7937992"/>
                </a:cubicBezTo>
                <a:cubicBezTo>
                  <a:pt x="-192111" y="6701330"/>
                  <a:pt x="-314348" y="1856279"/>
                  <a:pt x="712764" y="603742"/>
                </a:cubicBezTo>
                <a:cubicBezTo>
                  <a:pt x="1739876" y="-648795"/>
                  <a:pt x="5964214" y="438642"/>
                  <a:pt x="6989739" y="422767"/>
                </a:cubicBezTo>
                <a:cubicBezTo>
                  <a:pt x="8015264" y="406892"/>
                  <a:pt x="6886551" y="479917"/>
                  <a:pt x="6865914" y="508492"/>
                </a:cubicBezTo>
                <a:cubicBezTo>
                  <a:pt x="6845277" y="537067"/>
                  <a:pt x="6865914" y="594217"/>
                  <a:pt x="6865914" y="594217"/>
                </a:cubicBezTo>
                <a:lnTo>
                  <a:pt x="6865914" y="594217"/>
                </a:ln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19D775C-9187-1762-5572-6666AC90776C}"/>
              </a:ext>
            </a:extLst>
          </p:cNvPr>
          <p:cNvSpPr txBox="1">
            <a:spLocks/>
          </p:cNvSpPr>
          <p:nvPr/>
        </p:nvSpPr>
        <p:spPr>
          <a:xfrm>
            <a:off x="-25495" y="590549"/>
            <a:ext cx="5727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Омики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59D89-A459-85E7-3692-FFABC8EDD16D}"/>
              </a:ext>
            </a:extLst>
          </p:cNvPr>
          <p:cNvSpPr txBox="1"/>
          <p:nvPr/>
        </p:nvSpPr>
        <p:spPr>
          <a:xfrm>
            <a:off x="406399" y="1916112"/>
            <a:ext cx="48578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Изучение </a:t>
            </a:r>
            <a:r>
              <a:rPr lang="ru-RU" sz="2800" i="1" dirty="0"/>
              <a:t>всей совокупности </a:t>
            </a:r>
            <a:r>
              <a:rPr lang="ru-RU" sz="2800" dirty="0"/>
              <a:t>биологических молекул находящихся в организме.</a:t>
            </a:r>
          </a:p>
          <a:p>
            <a:endParaRPr lang="ru-RU" sz="2800" dirty="0"/>
          </a:p>
          <a:p>
            <a:r>
              <a:rPr lang="ru-RU" sz="2800" b="1" dirty="0"/>
              <a:t>Геномика</a:t>
            </a:r>
            <a:r>
              <a:rPr lang="ru-RU" sz="2800" dirty="0"/>
              <a:t> исследует всю ДНК организма целиком, т.е. геном организма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4EC29E8-C7AC-185A-DCE5-34528DC5F2D3}"/>
              </a:ext>
            </a:extLst>
          </p:cNvPr>
          <p:cNvGrpSpPr/>
          <p:nvPr/>
        </p:nvGrpSpPr>
        <p:grpSpPr>
          <a:xfrm>
            <a:off x="-469900" y="-922338"/>
            <a:ext cx="9449139" cy="8511139"/>
            <a:chOff x="-2477097" y="-922338"/>
            <a:chExt cx="8611290" cy="8511139"/>
          </a:xfrm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4D4DD346-3378-E8CF-799F-39B7657274ED}"/>
                </a:ext>
              </a:extLst>
            </p:cNvPr>
            <p:cNvSpPr/>
            <p:nvPr/>
          </p:nvSpPr>
          <p:spPr>
            <a:xfrm>
              <a:off x="1285753" y="-922338"/>
              <a:ext cx="4848440" cy="8511139"/>
            </a:xfrm>
            <a:custGeom>
              <a:avLst/>
              <a:gdLst>
                <a:gd name="connsiteX0" fmla="*/ 6732564 w 7419605"/>
                <a:gd name="connsiteY0" fmla="*/ 670417 h 8510760"/>
                <a:gd name="connsiteX1" fmla="*/ 7380264 w 7419605"/>
                <a:gd name="connsiteY1" fmla="*/ 2613517 h 8510760"/>
                <a:gd name="connsiteX2" fmla="*/ 6608739 w 7419605"/>
                <a:gd name="connsiteY2" fmla="*/ 4042267 h 8510760"/>
                <a:gd name="connsiteX3" fmla="*/ 7323114 w 7419605"/>
                <a:gd name="connsiteY3" fmla="*/ 5699617 h 8510760"/>
                <a:gd name="connsiteX4" fmla="*/ 6580164 w 7419605"/>
                <a:gd name="connsiteY4" fmla="*/ 7433167 h 8510760"/>
                <a:gd name="connsiteX5" fmla="*/ 7084989 w 7419605"/>
                <a:gd name="connsiteY5" fmla="*/ 7937992 h 8510760"/>
                <a:gd name="connsiteX6" fmla="*/ 6827814 w 7419605"/>
                <a:gd name="connsiteY6" fmla="*/ 8023717 h 8510760"/>
                <a:gd name="connsiteX7" fmla="*/ 827064 w 7419605"/>
                <a:gd name="connsiteY7" fmla="*/ 7937992 h 8510760"/>
                <a:gd name="connsiteX8" fmla="*/ 712764 w 7419605"/>
                <a:gd name="connsiteY8" fmla="*/ 603742 h 8510760"/>
                <a:gd name="connsiteX9" fmla="*/ 6989739 w 7419605"/>
                <a:gd name="connsiteY9" fmla="*/ 422767 h 8510760"/>
                <a:gd name="connsiteX10" fmla="*/ 6865914 w 7419605"/>
                <a:gd name="connsiteY10" fmla="*/ 508492 h 8510760"/>
                <a:gd name="connsiteX11" fmla="*/ 6865914 w 7419605"/>
                <a:gd name="connsiteY11" fmla="*/ 594217 h 8510760"/>
                <a:gd name="connsiteX12" fmla="*/ 6865914 w 7419605"/>
                <a:gd name="connsiteY12" fmla="*/ 594217 h 8510760"/>
                <a:gd name="connsiteX0" fmla="*/ 6732564 w 7419605"/>
                <a:gd name="connsiteY0" fmla="*/ 670417 h 8510760"/>
                <a:gd name="connsiteX1" fmla="*/ 7380264 w 7419605"/>
                <a:gd name="connsiteY1" fmla="*/ 2613517 h 8510760"/>
                <a:gd name="connsiteX2" fmla="*/ 6608739 w 7419605"/>
                <a:gd name="connsiteY2" fmla="*/ 4042267 h 8510760"/>
                <a:gd name="connsiteX3" fmla="*/ 7323114 w 7419605"/>
                <a:gd name="connsiteY3" fmla="*/ 5699617 h 8510760"/>
                <a:gd name="connsiteX4" fmla="*/ 6593577 w 7419605"/>
                <a:gd name="connsiteY4" fmla="*/ 6975967 h 8510760"/>
                <a:gd name="connsiteX5" fmla="*/ 7084989 w 7419605"/>
                <a:gd name="connsiteY5" fmla="*/ 7937992 h 8510760"/>
                <a:gd name="connsiteX6" fmla="*/ 6827814 w 7419605"/>
                <a:gd name="connsiteY6" fmla="*/ 8023717 h 8510760"/>
                <a:gd name="connsiteX7" fmla="*/ 827064 w 7419605"/>
                <a:gd name="connsiteY7" fmla="*/ 7937992 h 8510760"/>
                <a:gd name="connsiteX8" fmla="*/ 712764 w 7419605"/>
                <a:gd name="connsiteY8" fmla="*/ 603742 h 8510760"/>
                <a:gd name="connsiteX9" fmla="*/ 6989739 w 7419605"/>
                <a:gd name="connsiteY9" fmla="*/ 422767 h 8510760"/>
                <a:gd name="connsiteX10" fmla="*/ 6865914 w 7419605"/>
                <a:gd name="connsiteY10" fmla="*/ 508492 h 8510760"/>
                <a:gd name="connsiteX11" fmla="*/ 6865914 w 7419605"/>
                <a:gd name="connsiteY11" fmla="*/ 594217 h 8510760"/>
                <a:gd name="connsiteX12" fmla="*/ 6865914 w 7419605"/>
                <a:gd name="connsiteY12" fmla="*/ 594217 h 8510760"/>
                <a:gd name="connsiteX0" fmla="*/ 6732564 w 7419605"/>
                <a:gd name="connsiteY0" fmla="*/ 670417 h 8510760"/>
                <a:gd name="connsiteX1" fmla="*/ 7380264 w 7419605"/>
                <a:gd name="connsiteY1" fmla="*/ 2613517 h 8510760"/>
                <a:gd name="connsiteX2" fmla="*/ 6608739 w 7419605"/>
                <a:gd name="connsiteY2" fmla="*/ 4042267 h 8510760"/>
                <a:gd name="connsiteX3" fmla="*/ 7188988 w 7419605"/>
                <a:gd name="connsiteY3" fmla="*/ 5556742 h 8510760"/>
                <a:gd name="connsiteX4" fmla="*/ 6593577 w 7419605"/>
                <a:gd name="connsiteY4" fmla="*/ 6975967 h 8510760"/>
                <a:gd name="connsiteX5" fmla="*/ 7084989 w 7419605"/>
                <a:gd name="connsiteY5" fmla="*/ 7937992 h 8510760"/>
                <a:gd name="connsiteX6" fmla="*/ 6827814 w 7419605"/>
                <a:gd name="connsiteY6" fmla="*/ 8023717 h 8510760"/>
                <a:gd name="connsiteX7" fmla="*/ 827064 w 7419605"/>
                <a:gd name="connsiteY7" fmla="*/ 7937992 h 8510760"/>
                <a:gd name="connsiteX8" fmla="*/ 712764 w 7419605"/>
                <a:gd name="connsiteY8" fmla="*/ 603742 h 8510760"/>
                <a:gd name="connsiteX9" fmla="*/ 6989739 w 7419605"/>
                <a:gd name="connsiteY9" fmla="*/ 422767 h 8510760"/>
                <a:gd name="connsiteX10" fmla="*/ 6865914 w 7419605"/>
                <a:gd name="connsiteY10" fmla="*/ 508492 h 8510760"/>
                <a:gd name="connsiteX11" fmla="*/ 6865914 w 7419605"/>
                <a:gd name="connsiteY11" fmla="*/ 594217 h 8510760"/>
                <a:gd name="connsiteX12" fmla="*/ 6865914 w 7419605"/>
                <a:gd name="connsiteY12" fmla="*/ 594217 h 8510760"/>
                <a:gd name="connsiteX0" fmla="*/ 6732564 w 7419605"/>
                <a:gd name="connsiteY0" fmla="*/ 670417 h 8510760"/>
                <a:gd name="connsiteX1" fmla="*/ 7380264 w 7419605"/>
                <a:gd name="connsiteY1" fmla="*/ 2613517 h 8510760"/>
                <a:gd name="connsiteX2" fmla="*/ 6608739 w 7419605"/>
                <a:gd name="connsiteY2" fmla="*/ 4042267 h 8510760"/>
                <a:gd name="connsiteX3" fmla="*/ 7188988 w 7419605"/>
                <a:gd name="connsiteY3" fmla="*/ 5556742 h 8510760"/>
                <a:gd name="connsiteX4" fmla="*/ 6700878 w 7419605"/>
                <a:gd name="connsiteY4" fmla="*/ 6956917 h 8510760"/>
                <a:gd name="connsiteX5" fmla="*/ 7084989 w 7419605"/>
                <a:gd name="connsiteY5" fmla="*/ 7937992 h 8510760"/>
                <a:gd name="connsiteX6" fmla="*/ 6827814 w 7419605"/>
                <a:gd name="connsiteY6" fmla="*/ 8023717 h 8510760"/>
                <a:gd name="connsiteX7" fmla="*/ 827064 w 7419605"/>
                <a:gd name="connsiteY7" fmla="*/ 7937992 h 8510760"/>
                <a:gd name="connsiteX8" fmla="*/ 712764 w 7419605"/>
                <a:gd name="connsiteY8" fmla="*/ 603742 h 8510760"/>
                <a:gd name="connsiteX9" fmla="*/ 6989739 w 7419605"/>
                <a:gd name="connsiteY9" fmla="*/ 422767 h 8510760"/>
                <a:gd name="connsiteX10" fmla="*/ 6865914 w 7419605"/>
                <a:gd name="connsiteY10" fmla="*/ 508492 h 8510760"/>
                <a:gd name="connsiteX11" fmla="*/ 6865914 w 7419605"/>
                <a:gd name="connsiteY11" fmla="*/ 594217 h 8510760"/>
                <a:gd name="connsiteX12" fmla="*/ 6865914 w 7419605"/>
                <a:gd name="connsiteY12" fmla="*/ 594217 h 8510760"/>
                <a:gd name="connsiteX0" fmla="*/ 6732564 w 7491608"/>
                <a:gd name="connsiteY0" fmla="*/ 670417 h 8511139"/>
                <a:gd name="connsiteX1" fmla="*/ 7380264 w 7491608"/>
                <a:gd name="connsiteY1" fmla="*/ 2613517 h 8511139"/>
                <a:gd name="connsiteX2" fmla="*/ 6608739 w 7491608"/>
                <a:gd name="connsiteY2" fmla="*/ 4042267 h 8511139"/>
                <a:gd name="connsiteX3" fmla="*/ 7188988 w 7491608"/>
                <a:gd name="connsiteY3" fmla="*/ 5556742 h 8511139"/>
                <a:gd name="connsiteX4" fmla="*/ 6700878 w 7491608"/>
                <a:gd name="connsiteY4" fmla="*/ 6956917 h 8511139"/>
                <a:gd name="connsiteX5" fmla="*/ 7326416 w 7491608"/>
                <a:gd name="connsiteY5" fmla="*/ 7928467 h 8511139"/>
                <a:gd name="connsiteX6" fmla="*/ 6827814 w 7491608"/>
                <a:gd name="connsiteY6" fmla="*/ 8023717 h 8511139"/>
                <a:gd name="connsiteX7" fmla="*/ 827064 w 7491608"/>
                <a:gd name="connsiteY7" fmla="*/ 7937992 h 8511139"/>
                <a:gd name="connsiteX8" fmla="*/ 712764 w 7491608"/>
                <a:gd name="connsiteY8" fmla="*/ 603742 h 8511139"/>
                <a:gd name="connsiteX9" fmla="*/ 6989739 w 7491608"/>
                <a:gd name="connsiteY9" fmla="*/ 422767 h 8511139"/>
                <a:gd name="connsiteX10" fmla="*/ 6865914 w 7491608"/>
                <a:gd name="connsiteY10" fmla="*/ 508492 h 8511139"/>
                <a:gd name="connsiteX11" fmla="*/ 6865914 w 7491608"/>
                <a:gd name="connsiteY11" fmla="*/ 594217 h 8511139"/>
                <a:gd name="connsiteX12" fmla="*/ 6865914 w 7491608"/>
                <a:gd name="connsiteY12" fmla="*/ 594217 h 851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491608" h="8511139">
                  <a:moveTo>
                    <a:pt x="6732564" y="670417"/>
                  </a:moveTo>
                  <a:cubicBezTo>
                    <a:pt x="7066732" y="1360979"/>
                    <a:pt x="7400901" y="2051542"/>
                    <a:pt x="7380264" y="2613517"/>
                  </a:cubicBezTo>
                  <a:cubicBezTo>
                    <a:pt x="7359627" y="3175492"/>
                    <a:pt x="6640618" y="3551730"/>
                    <a:pt x="6608739" y="4042267"/>
                  </a:cubicBezTo>
                  <a:cubicBezTo>
                    <a:pt x="6576860" y="4532805"/>
                    <a:pt x="7193751" y="4991592"/>
                    <a:pt x="7188988" y="5556742"/>
                  </a:cubicBezTo>
                  <a:cubicBezTo>
                    <a:pt x="7184226" y="6121892"/>
                    <a:pt x="6677973" y="6561630"/>
                    <a:pt x="6700878" y="6956917"/>
                  </a:cubicBezTo>
                  <a:cubicBezTo>
                    <a:pt x="6723783" y="7352205"/>
                    <a:pt x="7305260" y="7750667"/>
                    <a:pt x="7326416" y="7928467"/>
                  </a:cubicBezTo>
                  <a:cubicBezTo>
                    <a:pt x="7347572" y="8106267"/>
                    <a:pt x="7911039" y="8022130"/>
                    <a:pt x="6827814" y="8023717"/>
                  </a:cubicBezTo>
                  <a:cubicBezTo>
                    <a:pt x="5744589" y="8025304"/>
                    <a:pt x="1846239" y="9174655"/>
                    <a:pt x="827064" y="7937992"/>
                  </a:cubicBezTo>
                  <a:cubicBezTo>
                    <a:pt x="-192111" y="6701330"/>
                    <a:pt x="-314348" y="1856279"/>
                    <a:pt x="712764" y="603742"/>
                  </a:cubicBezTo>
                  <a:cubicBezTo>
                    <a:pt x="1739876" y="-648795"/>
                    <a:pt x="5964214" y="438642"/>
                    <a:pt x="6989739" y="422767"/>
                  </a:cubicBezTo>
                  <a:cubicBezTo>
                    <a:pt x="8015264" y="406892"/>
                    <a:pt x="6886551" y="479917"/>
                    <a:pt x="6865914" y="508492"/>
                  </a:cubicBezTo>
                  <a:cubicBezTo>
                    <a:pt x="6845277" y="537067"/>
                    <a:pt x="6865914" y="594217"/>
                    <a:pt x="6865914" y="594217"/>
                  </a:cubicBezTo>
                  <a:lnTo>
                    <a:pt x="6865914" y="594217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5678FB3-43FA-43DD-F48B-CFB5057A3698}"/>
                </a:ext>
              </a:extLst>
            </p:cNvPr>
            <p:cNvSpPr/>
            <p:nvPr/>
          </p:nvSpPr>
          <p:spPr>
            <a:xfrm>
              <a:off x="-2477097" y="0"/>
              <a:ext cx="5404852" cy="6858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14ED0-CB26-CC71-BB9F-6614398A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76" y="365125"/>
            <a:ext cx="8154336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Деградация ДНК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9495E-3BC1-1782-9C4A-CEC1699FC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2055813"/>
            <a:ext cx="7539044" cy="4121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ДНК деградирует по 2 путям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Разрыв цепи (не существенно для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NGS II)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Химические реакции оснований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Дезаминирование</a:t>
            </a:r>
            <a:r>
              <a:rPr lang="ru-RU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Цитозина в Урацил 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(интерпретируется как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T)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1842FE2-BA4E-BD92-E5E2-00608C4E44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947"/>
          <a:stretch/>
        </p:blipFill>
        <p:spPr>
          <a:xfrm>
            <a:off x="9309698" y="3964190"/>
            <a:ext cx="2709557" cy="303850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E8EB153-ED51-6FD7-6C0A-B5F079F9E0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9626127" y="153716"/>
            <a:ext cx="2529241" cy="2896004"/>
          </a:xfrm>
          <a:prstGeom prst="rect">
            <a:avLst/>
          </a:prstGeom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2E08F7A-8518-2FAF-F0D0-B275A5779BB1}"/>
              </a:ext>
            </a:extLst>
          </p:cNvPr>
          <p:cNvCxnSpPr>
            <a:cxnSpLocks/>
          </p:cNvCxnSpPr>
          <p:nvPr/>
        </p:nvCxnSpPr>
        <p:spPr>
          <a:xfrm>
            <a:off x="10401300" y="2966835"/>
            <a:ext cx="0" cy="9973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DBEA7E-E1DB-04DA-9561-667D78123F19}"/>
              </a:ext>
            </a:extLst>
          </p:cNvPr>
          <p:cNvSpPr txBox="1"/>
          <p:nvPr/>
        </p:nvSpPr>
        <p:spPr>
          <a:xfrm>
            <a:off x="10167816" y="1336745"/>
            <a:ext cx="5125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</a:t>
            </a:r>
            <a:endParaRPr lang="ru-RU" sz="4000" dirty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EC8127AE-8B02-B487-A8EF-A411B077D217}"/>
              </a:ext>
            </a:extLst>
          </p:cNvPr>
          <p:cNvSpPr/>
          <p:nvPr/>
        </p:nvSpPr>
        <p:spPr>
          <a:xfrm>
            <a:off x="10224962" y="105718"/>
            <a:ext cx="590143" cy="5901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D1368D-BF39-595E-61B5-1EA1FDB3DB74}"/>
              </a:ext>
            </a:extLst>
          </p:cNvPr>
          <p:cNvSpPr txBox="1"/>
          <p:nvPr/>
        </p:nvSpPr>
        <p:spPr>
          <a:xfrm>
            <a:off x="10122199" y="5201020"/>
            <a:ext cx="558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U</a:t>
            </a:r>
            <a:endParaRPr lang="ru-RU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11B05-F437-5232-6FA6-64011AA4945F}"/>
              </a:ext>
            </a:extLst>
          </p:cNvPr>
          <p:cNvSpPr txBox="1"/>
          <p:nvPr/>
        </p:nvSpPr>
        <p:spPr>
          <a:xfrm>
            <a:off x="9344171" y="2701127"/>
            <a:ext cx="85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H₂O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9EDC9D-F193-02DC-44CF-5187BC3F06FC}"/>
              </a:ext>
            </a:extLst>
          </p:cNvPr>
          <p:cNvSpPr txBox="1"/>
          <p:nvPr/>
        </p:nvSpPr>
        <p:spPr>
          <a:xfrm>
            <a:off x="10890747" y="3652513"/>
            <a:ext cx="882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NH₃</a:t>
            </a:r>
            <a:endParaRPr lang="ru-RU" sz="2000" dirty="0"/>
          </a:p>
        </p:txBody>
      </p:sp>
      <p:sp>
        <p:nvSpPr>
          <p:cNvPr id="24" name="Дуга 23">
            <a:extLst>
              <a:ext uri="{FF2B5EF4-FFF2-40B4-BE49-F238E27FC236}">
                <a16:creationId xmlns:a16="http://schemas.microsoft.com/office/drawing/2014/main" id="{C8F8F1B4-94D8-24C4-A894-3BB4BD65577A}"/>
              </a:ext>
            </a:extLst>
          </p:cNvPr>
          <p:cNvSpPr/>
          <p:nvPr/>
        </p:nvSpPr>
        <p:spPr>
          <a:xfrm>
            <a:off x="9235644" y="2870401"/>
            <a:ext cx="1165656" cy="1052311"/>
          </a:xfrm>
          <a:prstGeom prst="arc">
            <a:avLst>
              <a:gd name="adj1" fmla="val 17456969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Дуга 24">
            <a:extLst>
              <a:ext uri="{FF2B5EF4-FFF2-40B4-BE49-F238E27FC236}">
                <a16:creationId xmlns:a16="http://schemas.microsoft.com/office/drawing/2014/main" id="{78592B3B-C82E-07BA-9A91-9B5BCD13D489}"/>
              </a:ext>
            </a:extLst>
          </p:cNvPr>
          <p:cNvSpPr/>
          <p:nvPr/>
        </p:nvSpPr>
        <p:spPr>
          <a:xfrm rot="10800000">
            <a:off x="10397530" y="2800258"/>
            <a:ext cx="882645" cy="1052310"/>
          </a:xfrm>
          <a:prstGeom prst="arc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D054A2A4-5C5E-83C3-9DD4-1A29FFDD376B}"/>
              </a:ext>
            </a:extLst>
          </p:cNvPr>
          <p:cNvSpPr/>
          <p:nvPr/>
        </p:nvSpPr>
        <p:spPr>
          <a:xfrm>
            <a:off x="10122199" y="4034334"/>
            <a:ext cx="590143" cy="5901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484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42703B-58AD-CBC2-2A91-0502C136B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8505"/>
            <a:ext cx="12192000" cy="4669495"/>
          </a:xfrm>
          <a:prstGeom prst="rect">
            <a:avLst/>
          </a:prstGeom>
        </p:spPr>
      </p:pic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5E5BE685-EBAE-A20F-1FB0-39E3B665FE93}"/>
              </a:ext>
            </a:extLst>
          </p:cNvPr>
          <p:cNvSpPr/>
          <p:nvPr/>
        </p:nvSpPr>
        <p:spPr>
          <a:xfrm rot="10649632">
            <a:off x="-2902858" y="-1829825"/>
            <a:ext cx="17493341" cy="4365213"/>
          </a:xfrm>
          <a:custGeom>
            <a:avLst/>
            <a:gdLst>
              <a:gd name="connsiteX0" fmla="*/ 1190453 w 14945944"/>
              <a:gd name="connsiteY0" fmla="*/ 1228939 h 4747375"/>
              <a:gd name="connsiteX1" fmla="*/ 2924362 w 14945944"/>
              <a:gd name="connsiteY1" fmla="*/ 487067 h 4747375"/>
              <a:gd name="connsiteX2" fmla="*/ 5451902 w 14945944"/>
              <a:gd name="connsiteY2" fmla="*/ 1134048 h 4747375"/>
              <a:gd name="connsiteX3" fmla="*/ 7582626 w 14945944"/>
              <a:gd name="connsiteY3" fmla="*/ 487067 h 4747375"/>
              <a:gd name="connsiteX4" fmla="*/ 10903796 w 14945944"/>
              <a:gd name="connsiteY4" fmla="*/ 1151301 h 4747375"/>
              <a:gd name="connsiteX5" fmla="*/ 13776393 w 14945944"/>
              <a:gd name="connsiteY5" fmla="*/ 331792 h 4747375"/>
              <a:gd name="connsiteX6" fmla="*/ 14035185 w 14945944"/>
              <a:gd name="connsiteY6" fmla="*/ 323165 h 4747375"/>
              <a:gd name="connsiteX7" fmla="*/ 13974800 w 14945944"/>
              <a:gd name="connsiteY7" fmla="*/ 4282690 h 4747375"/>
              <a:gd name="connsiteX8" fmla="*/ 1242211 w 14945944"/>
              <a:gd name="connsiteY8" fmla="*/ 4291316 h 4747375"/>
              <a:gd name="connsiteX9" fmla="*/ 1190453 w 14945944"/>
              <a:gd name="connsiteY9" fmla="*/ 892509 h 474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945944" h="4747375">
                <a:moveTo>
                  <a:pt x="1190453" y="1228939"/>
                </a:moveTo>
                <a:cubicBezTo>
                  <a:pt x="1702287" y="865910"/>
                  <a:pt x="2214121" y="502882"/>
                  <a:pt x="2924362" y="487067"/>
                </a:cubicBezTo>
                <a:cubicBezTo>
                  <a:pt x="3634603" y="471252"/>
                  <a:pt x="4675525" y="1134048"/>
                  <a:pt x="5451902" y="1134048"/>
                </a:cubicBezTo>
                <a:cubicBezTo>
                  <a:pt x="6228279" y="1134048"/>
                  <a:pt x="6673977" y="484192"/>
                  <a:pt x="7582626" y="487067"/>
                </a:cubicBezTo>
                <a:cubicBezTo>
                  <a:pt x="8491275" y="489942"/>
                  <a:pt x="9871502" y="1177180"/>
                  <a:pt x="10903796" y="1151301"/>
                </a:cubicBezTo>
                <a:cubicBezTo>
                  <a:pt x="11936090" y="1125422"/>
                  <a:pt x="13254495" y="469815"/>
                  <a:pt x="13776393" y="331792"/>
                </a:cubicBezTo>
                <a:cubicBezTo>
                  <a:pt x="14298291" y="193769"/>
                  <a:pt x="14002117" y="-335318"/>
                  <a:pt x="14035185" y="323165"/>
                </a:cubicBezTo>
                <a:cubicBezTo>
                  <a:pt x="14068253" y="981648"/>
                  <a:pt x="16106962" y="3621332"/>
                  <a:pt x="13974800" y="4282690"/>
                </a:cubicBezTo>
                <a:cubicBezTo>
                  <a:pt x="11842638" y="4944048"/>
                  <a:pt x="3372936" y="4856346"/>
                  <a:pt x="1242211" y="4291316"/>
                </a:cubicBezTo>
                <a:cubicBezTo>
                  <a:pt x="-888514" y="3726286"/>
                  <a:pt x="150969" y="2309397"/>
                  <a:pt x="1190453" y="892509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8854291D-6EA6-9B35-11CE-F540A8EE9090}"/>
              </a:ext>
            </a:extLst>
          </p:cNvPr>
          <p:cNvSpPr/>
          <p:nvPr/>
        </p:nvSpPr>
        <p:spPr>
          <a:xfrm rot="10800000">
            <a:off x="-1376972" y="-1337801"/>
            <a:ext cx="14945944" cy="3381166"/>
          </a:xfrm>
          <a:custGeom>
            <a:avLst/>
            <a:gdLst>
              <a:gd name="connsiteX0" fmla="*/ 1190453 w 14945944"/>
              <a:gd name="connsiteY0" fmla="*/ 1228939 h 4747375"/>
              <a:gd name="connsiteX1" fmla="*/ 2924362 w 14945944"/>
              <a:gd name="connsiteY1" fmla="*/ 487067 h 4747375"/>
              <a:gd name="connsiteX2" fmla="*/ 5451902 w 14945944"/>
              <a:gd name="connsiteY2" fmla="*/ 1134048 h 4747375"/>
              <a:gd name="connsiteX3" fmla="*/ 7582626 w 14945944"/>
              <a:gd name="connsiteY3" fmla="*/ 487067 h 4747375"/>
              <a:gd name="connsiteX4" fmla="*/ 10903796 w 14945944"/>
              <a:gd name="connsiteY4" fmla="*/ 1151301 h 4747375"/>
              <a:gd name="connsiteX5" fmla="*/ 13776393 w 14945944"/>
              <a:gd name="connsiteY5" fmla="*/ 331792 h 4747375"/>
              <a:gd name="connsiteX6" fmla="*/ 14035185 w 14945944"/>
              <a:gd name="connsiteY6" fmla="*/ 323165 h 4747375"/>
              <a:gd name="connsiteX7" fmla="*/ 13974800 w 14945944"/>
              <a:gd name="connsiteY7" fmla="*/ 4282690 h 4747375"/>
              <a:gd name="connsiteX8" fmla="*/ 1242211 w 14945944"/>
              <a:gd name="connsiteY8" fmla="*/ 4291316 h 4747375"/>
              <a:gd name="connsiteX9" fmla="*/ 1190453 w 14945944"/>
              <a:gd name="connsiteY9" fmla="*/ 892509 h 474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945944" h="4747375">
                <a:moveTo>
                  <a:pt x="1190453" y="1228939"/>
                </a:moveTo>
                <a:cubicBezTo>
                  <a:pt x="1702287" y="865910"/>
                  <a:pt x="2214121" y="502882"/>
                  <a:pt x="2924362" y="487067"/>
                </a:cubicBezTo>
                <a:cubicBezTo>
                  <a:pt x="3634603" y="471252"/>
                  <a:pt x="4675525" y="1134048"/>
                  <a:pt x="5451902" y="1134048"/>
                </a:cubicBezTo>
                <a:cubicBezTo>
                  <a:pt x="6228279" y="1134048"/>
                  <a:pt x="6673977" y="484192"/>
                  <a:pt x="7582626" y="487067"/>
                </a:cubicBezTo>
                <a:cubicBezTo>
                  <a:pt x="8491275" y="489942"/>
                  <a:pt x="9871502" y="1177180"/>
                  <a:pt x="10903796" y="1151301"/>
                </a:cubicBezTo>
                <a:cubicBezTo>
                  <a:pt x="11936090" y="1125422"/>
                  <a:pt x="13254495" y="469815"/>
                  <a:pt x="13776393" y="331792"/>
                </a:cubicBezTo>
                <a:cubicBezTo>
                  <a:pt x="14298291" y="193769"/>
                  <a:pt x="14002117" y="-335318"/>
                  <a:pt x="14035185" y="323165"/>
                </a:cubicBezTo>
                <a:cubicBezTo>
                  <a:pt x="14068253" y="981648"/>
                  <a:pt x="16106962" y="3621332"/>
                  <a:pt x="13974800" y="4282690"/>
                </a:cubicBezTo>
                <a:cubicBezTo>
                  <a:pt x="11842638" y="4944048"/>
                  <a:pt x="3372936" y="4856346"/>
                  <a:pt x="1242211" y="4291316"/>
                </a:cubicBezTo>
                <a:cubicBezTo>
                  <a:pt x="-888514" y="3726286"/>
                  <a:pt x="150969" y="2309397"/>
                  <a:pt x="1190453" y="892509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DB686-3B21-7911-39BE-F1C0D1E1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Паттерны деградации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D3245-D6EA-7505-39A4-B4F68CA97E7A}"/>
              </a:ext>
            </a:extLst>
          </p:cNvPr>
          <p:cNvSpPr txBox="1"/>
          <p:nvPr/>
        </p:nvSpPr>
        <p:spPr>
          <a:xfrm>
            <a:off x="9978572" y="6485516"/>
            <a:ext cx="2213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(Briggs et al. 2007)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689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F6040697-DCC7-4412-CFF6-19C0159EB1A5}"/>
              </a:ext>
            </a:extLst>
          </p:cNvPr>
          <p:cNvSpPr/>
          <p:nvPr/>
        </p:nvSpPr>
        <p:spPr>
          <a:xfrm rot="10800000">
            <a:off x="10856685" y="-1693640"/>
            <a:ext cx="4331687" cy="11817708"/>
          </a:xfrm>
          <a:custGeom>
            <a:avLst/>
            <a:gdLst>
              <a:gd name="connsiteX0" fmla="*/ 3167823 w 3948873"/>
              <a:gd name="connsiteY0" fmla="*/ 2312040 h 11032762"/>
              <a:gd name="connsiteX1" fmla="*/ 3796473 w 3948873"/>
              <a:gd name="connsiteY1" fmla="*/ 3531240 h 11032762"/>
              <a:gd name="connsiteX2" fmla="*/ 3186873 w 3948873"/>
              <a:gd name="connsiteY2" fmla="*/ 4902840 h 11032762"/>
              <a:gd name="connsiteX3" fmla="*/ 3777423 w 3948873"/>
              <a:gd name="connsiteY3" fmla="*/ 6369690 h 11032762"/>
              <a:gd name="connsiteX4" fmla="*/ 3339273 w 3948873"/>
              <a:gd name="connsiteY4" fmla="*/ 7703190 h 11032762"/>
              <a:gd name="connsiteX5" fmla="*/ 3739323 w 3948873"/>
              <a:gd name="connsiteY5" fmla="*/ 9170040 h 11032762"/>
              <a:gd name="connsiteX6" fmla="*/ 3148773 w 3948873"/>
              <a:gd name="connsiteY6" fmla="*/ 10427340 h 11032762"/>
              <a:gd name="connsiteX7" fmla="*/ 1929573 w 3948873"/>
              <a:gd name="connsiteY7" fmla="*/ 10198740 h 11032762"/>
              <a:gd name="connsiteX8" fmla="*/ 43623 w 3948873"/>
              <a:gd name="connsiteY8" fmla="*/ 654690 h 11032762"/>
              <a:gd name="connsiteX9" fmla="*/ 3948873 w 3948873"/>
              <a:gd name="connsiteY9" fmla="*/ 1607190 h 1103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48873" h="11032762">
                <a:moveTo>
                  <a:pt x="3167823" y="2312040"/>
                </a:moveTo>
                <a:cubicBezTo>
                  <a:pt x="3480560" y="2705740"/>
                  <a:pt x="3793298" y="3099440"/>
                  <a:pt x="3796473" y="3531240"/>
                </a:cubicBezTo>
                <a:cubicBezTo>
                  <a:pt x="3799648" y="3963040"/>
                  <a:pt x="3190048" y="4429765"/>
                  <a:pt x="3186873" y="4902840"/>
                </a:cubicBezTo>
                <a:cubicBezTo>
                  <a:pt x="3183698" y="5375915"/>
                  <a:pt x="3752023" y="5902965"/>
                  <a:pt x="3777423" y="6369690"/>
                </a:cubicBezTo>
                <a:cubicBezTo>
                  <a:pt x="3802823" y="6836415"/>
                  <a:pt x="3345623" y="7236465"/>
                  <a:pt x="3339273" y="7703190"/>
                </a:cubicBezTo>
                <a:cubicBezTo>
                  <a:pt x="3332923" y="8169915"/>
                  <a:pt x="3771073" y="8716015"/>
                  <a:pt x="3739323" y="9170040"/>
                </a:cubicBezTo>
                <a:cubicBezTo>
                  <a:pt x="3707573" y="9624065"/>
                  <a:pt x="3450398" y="10255890"/>
                  <a:pt x="3148773" y="10427340"/>
                </a:cubicBezTo>
                <a:cubicBezTo>
                  <a:pt x="2847148" y="10598790"/>
                  <a:pt x="2447098" y="11827515"/>
                  <a:pt x="1929573" y="10198740"/>
                </a:cubicBezTo>
                <a:cubicBezTo>
                  <a:pt x="1412048" y="8569965"/>
                  <a:pt x="-292927" y="2086615"/>
                  <a:pt x="43623" y="654690"/>
                </a:cubicBezTo>
                <a:cubicBezTo>
                  <a:pt x="380173" y="-777235"/>
                  <a:pt x="2164523" y="414977"/>
                  <a:pt x="3948873" y="1607190"/>
                </a:cubicBezTo>
              </a:path>
            </a:pathLst>
          </a:custGeom>
          <a:gradFill flip="none" rotWithShape="1">
            <a:gsLst>
              <a:gs pos="75000">
                <a:schemeClr val="accent5">
                  <a:lumMod val="60000"/>
                  <a:lumOff val="40000"/>
                </a:schemeClr>
              </a:gs>
              <a:gs pos="60000">
                <a:schemeClr val="accent4">
                  <a:lumMod val="60000"/>
                  <a:lumOff val="40000"/>
                </a:schemeClr>
              </a:gs>
              <a:gs pos="45000">
                <a:schemeClr val="accent2">
                  <a:lumMod val="60000"/>
                  <a:lumOff val="40000"/>
                </a:schemeClr>
              </a:gs>
              <a:gs pos="30000">
                <a:schemeClr val="accent1">
                  <a:lumMod val="60000"/>
                  <a:lumOff val="4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FC034AD4-8A88-50C1-1317-AF15F4F46A15}"/>
              </a:ext>
            </a:extLst>
          </p:cNvPr>
          <p:cNvSpPr/>
          <p:nvPr/>
        </p:nvSpPr>
        <p:spPr>
          <a:xfrm>
            <a:off x="-2977323" y="-3095048"/>
            <a:ext cx="4202873" cy="11434769"/>
          </a:xfrm>
          <a:custGeom>
            <a:avLst/>
            <a:gdLst>
              <a:gd name="connsiteX0" fmla="*/ 3167823 w 3948873"/>
              <a:gd name="connsiteY0" fmla="*/ 2312040 h 11032762"/>
              <a:gd name="connsiteX1" fmla="*/ 3796473 w 3948873"/>
              <a:gd name="connsiteY1" fmla="*/ 3531240 h 11032762"/>
              <a:gd name="connsiteX2" fmla="*/ 3186873 w 3948873"/>
              <a:gd name="connsiteY2" fmla="*/ 4902840 h 11032762"/>
              <a:gd name="connsiteX3" fmla="*/ 3777423 w 3948873"/>
              <a:gd name="connsiteY3" fmla="*/ 6369690 h 11032762"/>
              <a:gd name="connsiteX4" fmla="*/ 3339273 w 3948873"/>
              <a:gd name="connsiteY4" fmla="*/ 7703190 h 11032762"/>
              <a:gd name="connsiteX5" fmla="*/ 3739323 w 3948873"/>
              <a:gd name="connsiteY5" fmla="*/ 9170040 h 11032762"/>
              <a:gd name="connsiteX6" fmla="*/ 3148773 w 3948873"/>
              <a:gd name="connsiteY6" fmla="*/ 10427340 h 11032762"/>
              <a:gd name="connsiteX7" fmla="*/ 1929573 w 3948873"/>
              <a:gd name="connsiteY7" fmla="*/ 10198740 h 11032762"/>
              <a:gd name="connsiteX8" fmla="*/ 43623 w 3948873"/>
              <a:gd name="connsiteY8" fmla="*/ 654690 h 11032762"/>
              <a:gd name="connsiteX9" fmla="*/ 3948873 w 3948873"/>
              <a:gd name="connsiteY9" fmla="*/ 1607190 h 1103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48873" h="11032762">
                <a:moveTo>
                  <a:pt x="3167823" y="2312040"/>
                </a:moveTo>
                <a:cubicBezTo>
                  <a:pt x="3480560" y="2705740"/>
                  <a:pt x="3793298" y="3099440"/>
                  <a:pt x="3796473" y="3531240"/>
                </a:cubicBezTo>
                <a:cubicBezTo>
                  <a:pt x="3799648" y="3963040"/>
                  <a:pt x="3190048" y="4429765"/>
                  <a:pt x="3186873" y="4902840"/>
                </a:cubicBezTo>
                <a:cubicBezTo>
                  <a:pt x="3183698" y="5375915"/>
                  <a:pt x="3752023" y="5902965"/>
                  <a:pt x="3777423" y="6369690"/>
                </a:cubicBezTo>
                <a:cubicBezTo>
                  <a:pt x="3802823" y="6836415"/>
                  <a:pt x="3345623" y="7236465"/>
                  <a:pt x="3339273" y="7703190"/>
                </a:cubicBezTo>
                <a:cubicBezTo>
                  <a:pt x="3332923" y="8169915"/>
                  <a:pt x="3771073" y="8716015"/>
                  <a:pt x="3739323" y="9170040"/>
                </a:cubicBezTo>
                <a:cubicBezTo>
                  <a:pt x="3707573" y="9624065"/>
                  <a:pt x="3450398" y="10255890"/>
                  <a:pt x="3148773" y="10427340"/>
                </a:cubicBezTo>
                <a:cubicBezTo>
                  <a:pt x="2847148" y="10598790"/>
                  <a:pt x="2447098" y="11827515"/>
                  <a:pt x="1929573" y="10198740"/>
                </a:cubicBezTo>
                <a:cubicBezTo>
                  <a:pt x="1412048" y="8569965"/>
                  <a:pt x="-292927" y="2086615"/>
                  <a:pt x="43623" y="654690"/>
                </a:cubicBezTo>
                <a:cubicBezTo>
                  <a:pt x="380173" y="-777235"/>
                  <a:pt x="2164523" y="414977"/>
                  <a:pt x="3948873" y="1607190"/>
                </a:cubicBezTo>
              </a:path>
            </a:pathLst>
          </a:custGeom>
          <a:gradFill flip="none" rotWithShape="1">
            <a:gsLst>
              <a:gs pos="43000">
                <a:schemeClr val="accent2">
                  <a:lumMod val="60000"/>
                  <a:lumOff val="40000"/>
                </a:schemeClr>
              </a:gs>
              <a:gs pos="82000">
                <a:schemeClr val="accent5">
                  <a:lumMod val="60000"/>
                  <a:lumOff val="40000"/>
                </a:schemeClr>
              </a:gs>
              <a:gs pos="69000">
                <a:schemeClr val="accent4">
                  <a:lumMod val="60000"/>
                  <a:lumOff val="40000"/>
                </a:schemeClr>
              </a:gs>
              <a:gs pos="23000">
                <a:schemeClr val="accent1">
                  <a:lumMod val="60000"/>
                  <a:lumOff val="4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9B2E9-1513-AA47-47C2-74E1DF0A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4" y="2438797"/>
            <a:ext cx="11364686" cy="2053431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Расшифровка геномов древних гоминид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5D49030F-979B-885C-EE83-A215B96F25B4}"/>
              </a:ext>
            </a:extLst>
          </p:cNvPr>
          <p:cNvSpPr/>
          <p:nvPr/>
        </p:nvSpPr>
        <p:spPr>
          <a:xfrm>
            <a:off x="-2977323" y="-2693040"/>
            <a:ext cx="3948873" cy="11032762"/>
          </a:xfrm>
          <a:custGeom>
            <a:avLst/>
            <a:gdLst>
              <a:gd name="connsiteX0" fmla="*/ 3167823 w 3948873"/>
              <a:gd name="connsiteY0" fmla="*/ 2312040 h 11032762"/>
              <a:gd name="connsiteX1" fmla="*/ 3796473 w 3948873"/>
              <a:gd name="connsiteY1" fmla="*/ 3531240 h 11032762"/>
              <a:gd name="connsiteX2" fmla="*/ 3186873 w 3948873"/>
              <a:gd name="connsiteY2" fmla="*/ 4902840 h 11032762"/>
              <a:gd name="connsiteX3" fmla="*/ 3777423 w 3948873"/>
              <a:gd name="connsiteY3" fmla="*/ 6369690 h 11032762"/>
              <a:gd name="connsiteX4" fmla="*/ 3339273 w 3948873"/>
              <a:gd name="connsiteY4" fmla="*/ 7703190 h 11032762"/>
              <a:gd name="connsiteX5" fmla="*/ 3739323 w 3948873"/>
              <a:gd name="connsiteY5" fmla="*/ 9170040 h 11032762"/>
              <a:gd name="connsiteX6" fmla="*/ 3148773 w 3948873"/>
              <a:gd name="connsiteY6" fmla="*/ 10427340 h 11032762"/>
              <a:gd name="connsiteX7" fmla="*/ 1929573 w 3948873"/>
              <a:gd name="connsiteY7" fmla="*/ 10198740 h 11032762"/>
              <a:gd name="connsiteX8" fmla="*/ 43623 w 3948873"/>
              <a:gd name="connsiteY8" fmla="*/ 654690 h 11032762"/>
              <a:gd name="connsiteX9" fmla="*/ 3948873 w 3948873"/>
              <a:gd name="connsiteY9" fmla="*/ 1607190 h 1103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48873" h="11032762">
                <a:moveTo>
                  <a:pt x="3167823" y="2312040"/>
                </a:moveTo>
                <a:cubicBezTo>
                  <a:pt x="3480560" y="2705740"/>
                  <a:pt x="3793298" y="3099440"/>
                  <a:pt x="3796473" y="3531240"/>
                </a:cubicBezTo>
                <a:cubicBezTo>
                  <a:pt x="3799648" y="3963040"/>
                  <a:pt x="3190048" y="4429765"/>
                  <a:pt x="3186873" y="4902840"/>
                </a:cubicBezTo>
                <a:cubicBezTo>
                  <a:pt x="3183698" y="5375915"/>
                  <a:pt x="3752023" y="5902965"/>
                  <a:pt x="3777423" y="6369690"/>
                </a:cubicBezTo>
                <a:cubicBezTo>
                  <a:pt x="3802823" y="6836415"/>
                  <a:pt x="3345623" y="7236465"/>
                  <a:pt x="3339273" y="7703190"/>
                </a:cubicBezTo>
                <a:cubicBezTo>
                  <a:pt x="3332923" y="8169915"/>
                  <a:pt x="3771073" y="8716015"/>
                  <a:pt x="3739323" y="9170040"/>
                </a:cubicBezTo>
                <a:cubicBezTo>
                  <a:pt x="3707573" y="9624065"/>
                  <a:pt x="3450398" y="10255890"/>
                  <a:pt x="3148773" y="10427340"/>
                </a:cubicBezTo>
                <a:cubicBezTo>
                  <a:pt x="2847148" y="10598790"/>
                  <a:pt x="2447098" y="11827515"/>
                  <a:pt x="1929573" y="10198740"/>
                </a:cubicBezTo>
                <a:cubicBezTo>
                  <a:pt x="1412048" y="8569965"/>
                  <a:pt x="-292927" y="2086615"/>
                  <a:pt x="43623" y="654690"/>
                </a:cubicBezTo>
                <a:cubicBezTo>
                  <a:pt x="380173" y="-777235"/>
                  <a:pt x="2164523" y="414977"/>
                  <a:pt x="3948873" y="160719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ADED9BE5-54F3-9ECA-61AB-878F17D7692D}"/>
              </a:ext>
            </a:extLst>
          </p:cNvPr>
          <p:cNvSpPr/>
          <p:nvPr/>
        </p:nvSpPr>
        <p:spPr>
          <a:xfrm rot="10800000">
            <a:off x="11087100" y="-1264290"/>
            <a:ext cx="3948873" cy="11032762"/>
          </a:xfrm>
          <a:custGeom>
            <a:avLst/>
            <a:gdLst>
              <a:gd name="connsiteX0" fmla="*/ 3167823 w 3948873"/>
              <a:gd name="connsiteY0" fmla="*/ 2312040 h 11032762"/>
              <a:gd name="connsiteX1" fmla="*/ 3796473 w 3948873"/>
              <a:gd name="connsiteY1" fmla="*/ 3531240 h 11032762"/>
              <a:gd name="connsiteX2" fmla="*/ 3186873 w 3948873"/>
              <a:gd name="connsiteY2" fmla="*/ 4902840 h 11032762"/>
              <a:gd name="connsiteX3" fmla="*/ 3777423 w 3948873"/>
              <a:gd name="connsiteY3" fmla="*/ 6369690 h 11032762"/>
              <a:gd name="connsiteX4" fmla="*/ 3339273 w 3948873"/>
              <a:gd name="connsiteY4" fmla="*/ 7703190 h 11032762"/>
              <a:gd name="connsiteX5" fmla="*/ 3739323 w 3948873"/>
              <a:gd name="connsiteY5" fmla="*/ 9170040 h 11032762"/>
              <a:gd name="connsiteX6" fmla="*/ 3148773 w 3948873"/>
              <a:gd name="connsiteY6" fmla="*/ 10427340 h 11032762"/>
              <a:gd name="connsiteX7" fmla="*/ 1929573 w 3948873"/>
              <a:gd name="connsiteY7" fmla="*/ 10198740 h 11032762"/>
              <a:gd name="connsiteX8" fmla="*/ 43623 w 3948873"/>
              <a:gd name="connsiteY8" fmla="*/ 654690 h 11032762"/>
              <a:gd name="connsiteX9" fmla="*/ 3948873 w 3948873"/>
              <a:gd name="connsiteY9" fmla="*/ 1607190 h 1103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48873" h="11032762">
                <a:moveTo>
                  <a:pt x="3167823" y="2312040"/>
                </a:moveTo>
                <a:cubicBezTo>
                  <a:pt x="3480560" y="2705740"/>
                  <a:pt x="3793298" y="3099440"/>
                  <a:pt x="3796473" y="3531240"/>
                </a:cubicBezTo>
                <a:cubicBezTo>
                  <a:pt x="3799648" y="3963040"/>
                  <a:pt x="3190048" y="4429765"/>
                  <a:pt x="3186873" y="4902840"/>
                </a:cubicBezTo>
                <a:cubicBezTo>
                  <a:pt x="3183698" y="5375915"/>
                  <a:pt x="3752023" y="5902965"/>
                  <a:pt x="3777423" y="6369690"/>
                </a:cubicBezTo>
                <a:cubicBezTo>
                  <a:pt x="3802823" y="6836415"/>
                  <a:pt x="3345623" y="7236465"/>
                  <a:pt x="3339273" y="7703190"/>
                </a:cubicBezTo>
                <a:cubicBezTo>
                  <a:pt x="3332923" y="8169915"/>
                  <a:pt x="3771073" y="8716015"/>
                  <a:pt x="3739323" y="9170040"/>
                </a:cubicBezTo>
                <a:cubicBezTo>
                  <a:pt x="3707573" y="9624065"/>
                  <a:pt x="3450398" y="10255890"/>
                  <a:pt x="3148773" y="10427340"/>
                </a:cubicBezTo>
                <a:cubicBezTo>
                  <a:pt x="2847148" y="10598790"/>
                  <a:pt x="2447098" y="11827515"/>
                  <a:pt x="1929573" y="10198740"/>
                </a:cubicBezTo>
                <a:cubicBezTo>
                  <a:pt x="1412048" y="8569965"/>
                  <a:pt x="-292927" y="2086615"/>
                  <a:pt x="43623" y="654690"/>
                </a:cubicBezTo>
                <a:cubicBezTo>
                  <a:pt x="380173" y="-777235"/>
                  <a:pt x="2164523" y="414977"/>
                  <a:pt x="3948873" y="160719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35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B0D2D6-E4BD-6C58-3D61-BD75A58F87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93" t="13559" r="316" b="6624"/>
          <a:stretch/>
        </p:blipFill>
        <p:spPr>
          <a:xfrm>
            <a:off x="0" y="4687494"/>
            <a:ext cx="3906175" cy="21705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C7CDEC-675F-D5FB-CB0A-3699FB239F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" t="6108" r="67413" b="4668"/>
          <a:stretch/>
        </p:blipFill>
        <p:spPr>
          <a:xfrm>
            <a:off x="0" y="0"/>
            <a:ext cx="3906174" cy="4687493"/>
          </a:xfrm>
          <a:prstGeom prst="rect">
            <a:avLst/>
          </a:prstGeom>
        </p:spPr>
      </p:pic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B1416EBB-B7DF-0E04-A879-92FB008CC46A}"/>
              </a:ext>
            </a:extLst>
          </p:cNvPr>
          <p:cNvSpPr/>
          <p:nvPr/>
        </p:nvSpPr>
        <p:spPr>
          <a:xfrm>
            <a:off x="3276600" y="-1397000"/>
            <a:ext cx="11291681" cy="9814593"/>
          </a:xfrm>
          <a:custGeom>
            <a:avLst/>
            <a:gdLst>
              <a:gd name="connsiteX0" fmla="*/ 25400 w 10923381"/>
              <a:gd name="connsiteY0" fmla="*/ 7830835 h 9085627"/>
              <a:gd name="connsiteX1" fmla="*/ 508000 w 10923381"/>
              <a:gd name="connsiteY1" fmla="*/ 6548135 h 9085627"/>
              <a:gd name="connsiteX2" fmla="*/ 127000 w 10923381"/>
              <a:gd name="connsiteY2" fmla="*/ 4897135 h 9085627"/>
              <a:gd name="connsiteX3" fmla="*/ 558800 w 10923381"/>
              <a:gd name="connsiteY3" fmla="*/ 3233435 h 9085627"/>
              <a:gd name="connsiteX4" fmla="*/ 139700 w 10923381"/>
              <a:gd name="connsiteY4" fmla="*/ 1671335 h 9085627"/>
              <a:gd name="connsiteX5" fmla="*/ 647700 w 10923381"/>
              <a:gd name="connsiteY5" fmla="*/ 528335 h 9085627"/>
              <a:gd name="connsiteX6" fmla="*/ 901700 w 10923381"/>
              <a:gd name="connsiteY6" fmla="*/ 439435 h 9085627"/>
              <a:gd name="connsiteX7" fmla="*/ 9601200 w 10923381"/>
              <a:gd name="connsiteY7" fmla="*/ 642635 h 9085627"/>
              <a:gd name="connsiteX8" fmla="*/ 9893300 w 10923381"/>
              <a:gd name="connsiteY8" fmla="*/ 8402335 h 9085627"/>
              <a:gd name="connsiteX9" fmla="*/ 0 w 10923381"/>
              <a:gd name="connsiteY9" fmla="*/ 8199135 h 908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23381" h="9085627">
                <a:moveTo>
                  <a:pt x="25400" y="7830835"/>
                </a:moveTo>
                <a:cubicBezTo>
                  <a:pt x="258233" y="7433960"/>
                  <a:pt x="491067" y="7037085"/>
                  <a:pt x="508000" y="6548135"/>
                </a:cubicBezTo>
                <a:cubicBezTo>
                  <a:pt x="524933" y="6059185"/>
                  <a:pt x="118533" y="5449585"/>
                  <a:pt x="127000" y="4897135"/>
                </a:cubicBezTo>
                <a:cubicBezTo>
                  <a:pt x="135467" y="4344685"/>
                  <a:pt x="556683" y="3771068"/>
                  <a:pt x="558800" y="3233435"/>
                </a:cubicBezTo>
                <a:cubicBezTo>
                  <a:pt x="560917" y="2695802"/>
                  <a:pt x="124883" y="2122185"/>
                  <a:pt x="139700" y="1671335"/>
                </a:cubicBezTo>
                <a:cubicBezTo>
                  <a:pt x="154517" y="1220485"/>
                  <a:pt x="520700" y="733652"/>
                  <a:pt x="647700" y="528335"/>
                </a:cubicBezTo>
                <a:cubicBezTo>
                  <a:pt x="774700" y="323018"/>
                  <a:pt x="901700" y="439435"/>
                  <a:pt x="901700" y="439435"/>
                </a:cubicBezTo>
                <a:cubicBezTo>
                  <a:pt x="2393950" y="458485"/>
                  <a:pt x="8102600" y="-684515"/>
                  <a:pt x="9601200" y="642635"/>
                </a:cubicBezTo>
                <a:cubicBezTo>
                  <a:pt x="11099800" y="1969785"/>
                  <a:pt x="11493500" y="7142918"/>
                  <a:pt x="9893300" y="8402335"/>
                </a:cubicBezTo>
                <a:cubicBezTo>
                  <a:pt x="8293100" y="9661752"/>
                  <a:pt x="4146550" y="8930443"/>
                  <a:pt x="0" y="8199135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9432D9C-609C-33F2-A81C-E37979E7FBF2}"/>
              </a:ext>
            </a:extLst>
          </p:cNvPr>
          <p:cNvSpPr/>
          <p:nvPr/>
        </p:nvSpPr>
        <p:spPr>
          <a:xfrm>
            <a:off x="3530600" y="-820435"/>
            <a:ext cx="10923381" cy="9085627"/>
          </a:xfrm>
          <a:custGeom>
            <a:avLst/>
            <a:gdLst>
              <a:gd name="connsiteX0" fmla="*/ 25400 w 10923381"/>
              <a:gd name="connsiteY0" fmla="*/ 7830835 h 9085627"/>
              <a:gd name="connsiteX1" fmla="*/ 508000 w 10923381"/>
              <a:gd name="connsiteY1" fmla="*/ 6548135 h 9085627"/>
              <a:gd name="connsiteX2" fmla="*/ 127000 w 10923381"/>
              <a:gd name="connsiteY2" fmla="*/ 4897135 h 9085627"/>
              <a:gd name="connsiteX3" fmla="*/ 558800 w 10923381"/>
              <a:gd name="connsiteY3" fmla="*/ 3233435 h 9085627"/>
              <a:gd name="connsiteX4" fmla="*/ 139700 w 10923381"/>
              <a:gd name="connsiteY4" fmla="*/ 1671335 h 9085627"/>
              <a:gd name="connsiteX5" fmla="*/ 647700 w 10923381"/>
              <a:gd name="connsiteY5" fmla="*/ 528335 h 9085627"/>
              <a:gd name="connsiteX6" fmla="*/ 901700 w 10923381"/>
              <a:gd name="connsiteY6" fmla="*/ 439435 h 9085627"/>
              <a:gd name="connsiteX7" fmla="*/ 9601200 w 10923381"/>
              <a:gd name="connsiteY7" fmla="*/ 642635 h 9085627"/>
              <a:gd name="connsiteX8" fmla="*/ 9893300 w 10923381"/>
              <a:gd name="connsiteY8" fmla="*/ 8402335 h 9085627"/>
              <a:gd name="connsiteX9" fmla="*/ 0 w 10923381"/>
              <a:gd name="connsiteY9" fmla="*/ 8199135 h 908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23381" h="9085627">
                <a:moveTo>
                  <a:pt x="25400" y="7830835"/>
                </a:moveTo>
                <a:cubicBezTo>
                  <a:pt x="258233" y="7433960"/>
                  <a:pt x="491067" y="7037085"/>
                  <a:pt x="508000" y="6548135"/>
                </a:cubicBezTo>
                <a:cubicBezTo>
                  <a:pt x="524933" y="6059185"/>
                  <a:pt x="118533" y="5449585"/>
                  <a:pt x="127000" y="4897135"/>
                </a:cubicBezTo>
                <a:cubicBezTo>
                  <a:pt x="135467" y="4344685"/>
                  <a:pt x="556683" y="3771068"/>
                  <a:pt x="558800" y="3233435"/>
                </a:cubicBezTo>
                <a:cubicBezTo>
                  <a:pt x="560917" y="2695802"/>
                  <a:pt x="124883" y="2122185"/>
                  <a:pt x="139700" y="1671335"/>
                </a:cubicBezTo>
                <a:cubicBezTo>
                  <a:pt x="154517" y="1220485"/>
                  <a:pt x="520700" y="733652"/>
                  <a:pt x="647700" y="528335"/>
                </a:cubicBezTo>
                <a:cubicBezTo>
                  <a:pt x="774700" y="323018"/>
                  <a:pt x="901700" y="439435"/>
                  <a:pt x="901700" y="439435"/>
                </a:cubicBezTo>
                <a:cubicBezTo>
                  <a:pt x="2393950" y="458485"/>
                  <a:pt x="8102600" y="-684515"/>
                  <a:pt x="9601200" y="642635"/>
                </a:cubicBezTo>
                <a:cubicBezTo>
                  <a:pt x="11099800" y="1969785"/>
                  <a:pt x="11493500" y="7142918"/>
                  <a:pt x="9893300" y="8402335"/>
                </a:cubicBezTo>
                <a:cubicBezTo>
                  <a:pt x="8293100" y="9661752"/>
                  <a:pt x="4146550" y="8930443"/>
                  <a:pt x="0" y="8199135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12A2A-E235-974F-DEDE-8675C66A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151" y="344795"/>
            <a:ext cx="60960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Ядерный геном Неандертальца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F042A3-87B3-2002-D3DF-8FE63F2E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0" y="2047567"/>
            <a:ext cx="75946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Палеонтологический материал: </a:t>
            </a:r>
          </a:p>
          <a:p>
            <a:pPr marL="0" indent="0">
              <a:buNone/>
            </a:pPr>
            <a:r>
              <a:rPr lang="ru-RU" i="1" dirty="0">
                <a:solidFill>
                  <a:schemeClr val="bg1">
                    <a:lumMod val="95000"/>
                  </a:schemeClr>
                </a:solidFill>
              </a:rPr>
              <a:t>3 морфологически неопределимых костных фрагмента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(пещера Виндия, Хорватия) возрастом   ~44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тыс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лет</a:t>
            </a:r>
          </a:p>
          <a:p>
            <a:pPr marL="0" indent="0">
              <a:buNone/>
            </a:pP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3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 генома из каждой из костей </a:t>
            </a:r>
            <a:br>
              <a:rPr lang="ru-RU" sz="39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ru-RU" sz="3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(глубина 35, 29 и 72)</a:t>
            </a:r>
          </a:p>
          <a:p>
            <a:pPr marL="0" indent="0">
              <a:buNone/>
            </a:pP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Референсные геномы: 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человек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UCSC hg18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) и шимпанзе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panTro2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F9FD6-1CB7-1AE9-BFFD-4DD7764D0AE3}"/>
              </a:ext>
            </a:extLst>
          </p:cNvPr>
          <p:cNvSpPr txBox="1"/>
          <p:nvPr/>
        </p:nvSpPr>
        <p:spPr>
          <a:xfrm>
            <a:off x="9892839" y="6376004"/>
            <a:ext cx="2426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(Green et al. 2010)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F1A2D5C-BEB1-9664-9D33-06A8886371AF}"/>
              </a:ext>
            </a:extLst>
          </p:cNvPr>
          <p:cNvSpPr/>
          <p:nvPr/>
        </p:nvSpPr>
        <p:spPr>
          <a:xfrm>
            <a:off x="1521287" y="5633642"/>
            <a:ext cx="1018713" cy="665558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88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6E9A9C-1E6B-4098-A461-2F4FA7F8C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749" y="2952238"/>
            <a:ext cx="5281739" cy="42697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83035F-FE97-0368-1CDB-B1A520C2F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49" y="4763"/>
            <a:ext cx="5292851" cy="2947474"/>
          </a:xfrm>
          <a:prstGeom prst="rect">
            <a:avLst/>
          </a:prstGeom>
        </p:spPr>
      </p:pic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66603322-0FC7-9A49-4B28-535FBB3DAD81}"/>
              </a:ext>
            </a:extLst>
          </p:cNvPr>
          <p:cNvSpPr/>
          <p:nvPr/>
        </p:nvSpPr>
        <p:spPr>
          <a:xfrm>
            <a:off x="571500" y="-2603500"/>
            <a:ext cx="7213600" cy="10983031"/>
          </a:xfrm>
          <a:custGeom>
            <a:avLst/>
            <a:gdLst>
              <a:gd name="connsiteX0" fmla="*/ 8690644 w 8690644"/>
              <a:gd name="connsiteY0" fmla="*/ 8896955 h 9783486"/>
              <a:gd name="connsiteX1" fmla="*/ 7801644 w 8690644"/>
              <a:gd name="connsiteY1" fmla="*/ 7347555 h 9783486"/>
              <a:gd name="connsiteX2" fmla="*/ 8195344 w 8690644"/>
              <a:gd name="connsiteY2" fmla="*/ 5442555 h 9783486"/>
              <a:gd name="connsiteX3" fmla="*/ 7674644 w 8690644"/>
              <a:gd name="connsiteY3" fmla="*/ 2788255 h 9783486"/>
              <a:gd name="connsiteX4" fmla="*/ 8347744 w 8690644"/>
              <a:gd name="connsiteY4" fmla="*/ 654655 h 9783486"/>
              <a:gd name="connsiteX5" fmla="*/ 7788944 w 8690644"/>
              <a:gd name="connsiteY5" fmla="*/ 438755 h 9783486"/>
              <a:gd name="connsiteX6" fmla="*/ 981744 w 8690644"/>
              <a:gd name="connsiteY6" fmla="*/ 705455 h 9783486"/>
              <a:gd name="connsiteX7" fmla="*/ 854744 w 8690644"/>
              <a:gd name="connsiteY7" fmla="*/ 8947755 h 9783486"/>
              <a:gd name="connsiteX8" fmla="*/ 8652544 w 8690644"/>
              <a:gd name="connsiteY8" fmla="*/ 9074755 h 978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90644" h="9783486">
                <a:moveTo>
                  <a:pt x="8690644" y="8896955"/>
                </a:moveTo>
                <a:cubicBezTo>
                  <a:pt x="8287419" y="8410121"/>
                  <a:pt x="7884194" y="7923288"/>
                  <a:pt x="7801644" y="7347555"/>
                </a:cubicBezTo>
                <a:cubicBezTo>
                  <a:pt x="7719094" y="6771822"/>
                  <a:pt x="8216511" y="6202438"/>
                  <a:pt x="8195344" y="5442555"/>
                </a:cubicBezTo>
                <a:cubicBezTo>
                  <a:pt x="8174177" y="4682672"/>
                  <a:pt x="7649244" y="3586238"/>
                  <a:pt x="7674644" y="2788255"/>
                </a:cubicBezTo>
                <a:cubicBezTo>
                  <a:pt x="7700044" y="1990272"/>
                  <a:pt x="8328694" y="1046238"/>
                  <a:pt x="8347744" y="654655"/>
                </a:cubicBezTo>
                <a:cubicBezTo>
                  <a:pt x="8366794" y="263072"/>
                  <a:pt x="9016611" y="430288"/>
                  <a:pt x="7788944" y="438755"/>
                </a:cubicBezTo>
                <a:cubicBezTo>
                  <a:pt x="6561277" y="447222"/>
                  <a:pt x="2137444" y="-712712"/>
                  <a:pt x="981744" y="705455"/>
                </a:cubicBezTo>
                <a:cubicBezTo>
                  <a:pt x="-173956" y="2123622"/>
                  <a:pt x="-423723" y="7552872"/>
                  <a:pt x="854744" y="8947755"/>
                </a:cubicBezTo>
                <a:cubicBezTo>
                  <a:pt x="2133211" y="10342638"/>
                  <a:pt x="5392877" y="9708696"/>
                  <a:pt x="8652544" y="9074755"/>
                </a:cubicBez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B399B3D1-8E9D-4CDB-BCDE-CD698B965600}"/>
              </a:ext>
            </a:extLst>
          </p:cNvPr>
          <p:cNvSpPr/>
          <p:nvPr/>
        </p:nvSpPr>
        <p:spPr>
          <a:xfrm>
            <a:off x="-1057944" y="-1556355"/>
            <a:ext cx="8690644" cy="9783486"/>
          </a:xfrm>
          <a:custGeom>
            <a:avLst/>
            <a:gdLst>
              <a:gd name="connsiteX0" fmla="*/ 8690644 w 8690644"/>
              <a:gd name="connsiteY0" fmla="*/ 8896955 h 9783486"/>
              <a:gd name="connsiteX1" fmla="*/ 7801644 w 8690644"/>
              <a:gd name="connsiteY1" fmla="*/ 7347555 h 9783486"/>
              <a:gd name="connsiteX2" fmla="*/ 8195344 w 8690644"/>
              <a:gd name="connsiteY2" fmla="*/ 5442555 h 9783486"/>
              <a:gd name="connsiteX3" fmla="*/ 7674644 w 8690644"/>
              <a:gd name="connsiteY3" fmla="*/ 2788255 h 9783486"/>
              <a:gd name="connsiteX4" fmla="*/ 8347744 w 8690644"/>
              <a:gd name="connsiteY4" fmla="*/ 654655 h 9783486"/>
              <a:gd name="connsiteX5" fmla="*/ 7788944 w 8690644"/>
              <a:gd name="connsiteY5" fmla="*/ 438755 h 9783486"/>
              <a:gd name="connsiteX6" fmla="*/ 981744 w 8690644"/>
              <a:gd name="connsiteY6" fmla="*/ 705455 h 9783486"/>
              <a:gd name="connsiteX7" fmla="*/ 854744 w 8690644"/>
              <a:gd name="connsiteY7" fmla="*/ 8947755 h 9783486"/>
              <a:gd name="connsiteX8" fmla="*/ 8652544 w 8690644"/>
              <a:gd name="connsiteY8" fmla="*/ 9074755 h 978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90644" h="9783486">
                <a:moveTo>
                  <a:pt x="8690644" y="8896955"/>
                </a:moveTo>
                <a:cubicBezTo>
                  <a:pt x="8287419" y="8410121"/>
                  <a:pt x="7884194" y="7923288"/>
                  <a:pt x="7801644" y="7347555"/>
                </a:cubicBezTo>
                <a:cubicBezTo>
                  <a:pt x="7719094" y="6771822"/>
                  <a:pt x="8216511" y="6202438"/>
                  <a:pt x="8195344" y="5442555"/>
                </a:cubicBezTo>
                <a:cubicBezTo>
                  <a:pt x="8174177" y="4682672"/>
                  <a:pt x="7649244" y="3586238"/>
                  <a:pt x="7674644" y="2788255"/>
                </a:cubicBezTo>
                <a:cubicBezTo>
                  <a:pt x="7700044" y="1990272"/>
                  <a:pt x="8328694" y="1046238"/>
                  <a:pt x="8347744" y="654655"/>
                </a:cubicBezTo>
                <a:cubicBezTo>
                  <a:pt x="8366794" y="263072"/>
                  <a:pt x="9016611" y="430288"/>
                  <a:pt x="7788944" y="438755"/>
                </a:cubicBezTo>
                <a:cubicBezTo>
                  <a:pt x="6561277" y="447222"/>
                  <a:pt x="2137444" y="-712712"/>
                  <a:pt x="981744" y="705455"/>
                </a:cubicBezTo>
                <a:cubicBezTo>
                  <a:pt x="-173956" y="2123622"/>
                  <a:pt x="-423723" y="7552872"/>
                  <a:pt x="854744" y="8947755"/>
                </a:cubicBezTo>
                <a:cubicBezTo>
                  <a:pt x="2133211" y="10342638"/>
                  <a:pt x="5392877" y="9708696"/>
                  <a:pt x="8652544" y="9074755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4ACB6-6B24-00A9-2D34-77D5360D4A85}"/>
              </a:ext>
            </a:extLst>
          </p:cNvPr>
          <p:cNvSpPr txBox="1"/>
          <p:nvPr/>
        </p:nvSpPr>
        <p:spPr>
          <a:xfrm>
            <a:off x="-180849" y="6064220"/>
            <a:ext cx="3004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r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(Krause et al. 2010)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B3AF2-E892-B621-2581-19AA97173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37062"/>
            <a:ext cx="6235700" cy="1325563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мтДНК Денисовца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77F3F0-5FEE-BF89-A54B-6179E008D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306512"/>
            <a:ext cx="6413500" cy="49577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Палеонтологический материал:</a:t>
            </a:r>
            <a:b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Фаланга мизинца руки (Денисова пещера, Россия) 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Отличия от современного человека: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Неандерталец – 202 позиции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Исследуемый гоминид – в 385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Шимпанзе – в 1462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Вероятный новый вид древних людей: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39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Денисовский человек </a:t>
            </a:r>
            <a:r>
              <a:rPr lang="en-US" sz="3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39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Denisova hominin</a:t>
            </a:r>
            <a:r>
              <a:rPr lang="en-US" sz="3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 </a:t>
            </a:r>
            <a:endParaRPr lang="ru-RU" sz="3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76E7861-DF6A-771F-5EEF-E7BA6158731A}"/>
              </a:ext>
            </a:extLst>
          </p:cNvPr>
          <p:cNvSpPr/>
          <p:nvPr/>
        </p:nvSpPr>
        <p:spPr>
          <a:xfrm>
            <a:off x="10477500" y="776855"/>
            <a:ext cx="1524000" cy="901700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229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B29314-86EA-4CFD-764A-563A5E8AF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201" y="1312627"/>
            <a:ext cx="4648200" cy="4667487"/>
          </a:xfrm>
          <a:prstGeom prst="rect">
            <a:avLst/>
          </a:prstGeom>
        </p:spPr>
      </p:pic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6EC8D4AB-E4A6-E155-BA45-882EE2A04D71}"/>
              </a:ext>
            </a:extLst>
          </p:cNvPr>
          <p:cNvSpPr/>
          <p:nvPr/>
        </p:nvSpPr>
        <p:spPr>
          <a:xfrm>
            <a:off x="-2768600" y="-1106769"/>
            <a:ext cx="11518901" cy="9501468"/>
          </a:xfrm>
          <a:custGeom>
            <a:avLst/>
            <a:gdLst>
              <a:gd name="connsiteX0" fmla="*/ 9739880 w 10046354"/>
              <a:gd name="connsiteY0" fmla="*/ 718844 h 8817537"/>
              <a:gd name="connsiteX1" fmla="*/ 9231880 w 10046354"/>
              <a:gd name="connsiteY1" fmla="*/ 1582444 h 8817537"/>
              <a:gd name="connsiteX2" fmla="*/ 9841480 w 10046354"/>
              <a:gd name="connsiteY2" fmla="*/ 2738144 h 8817537"/>
              <a:gd name="connsiteX3" fmla="*/ 9384280 w 10046354"/>
              <a:gd name="connsiteY3" fmla="*/ 3868444 h 8817537"/>
              <a:gd name="connsiteX4" fmla="*/ 10044680 w 10046354"/>
              <a:gd name="connsiteY4" fmla="*/ 4960644 h 8817537"/>
              <a:gd name="connsiteX5" fmla="*/ 9587480 w 10046354"/>
              <a:gd name="connsiteY5" fmla="*/ 6141744 h 8817537"/>
              <a:gd name="connsiteX6" fmla="*/ 10044680 w 10046354"/>
              <a:gd name="connsiteY6" fmla="*/ 7335544 h 8817537"/>
              <a:gd name="connsiteX7" fmla="*/ 9625580 w 10046354"/>
              <a:gd name="connsiteY7" fmla="*/ 8376944 h 8817537"/>
              <a:gd name="connsiteX8" fmla="*/ 9396980 w 10046354"/>
              <a:gd name="connsiteY8" fmla="*/ 8440444 h 8817537"/>
              <a:gd name="connsiteX9" fmla="*/ 1116580 w 10046354"/>
              <a:gd name="connsiteY9" fmla="*/ 8186444 h 8817537"/>
              <a:gd name="connsiteX10" fmla="*/ 989580 w 10046354"/>
              <a:gd name="connsiteY10" fmla="*/ 807744 h 8817537"/>
              <a:gd name="connsiteX11" fmla="*/ 9523980 w 10046354"/>
              <a:gd name="connsiteY11" fmla="*/ 528344 h 8817537"/>
              <a:gd name="connsiteX0" fmla="*/ 9739880 w 10044773"/>
              <a:gd name="connsiteY0" fmla="*/ 718844 h 8817537"/>
              <a:gd name="connsiteX1" fmla="*/ 9231880 w 10044773"/>
              <a:gd name="connsiteY1" fmla="*/ 1582444 h 8817537"/>
              <a:gd name="connsiteX2" fmla="*/ 9841480 w 10044773"/>
              <a:gd name="connsiteY2" fmla="*/ 27381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  <a:gd name="connsiteX0" fmla="*/ 9739880 w 10044773"/>
              <a:gd name="connsiteY0" fmla="*/ 718844 h 8817537"/>
              <a:gd name="connsiteX1" fmla="*/ 9231880 w 10044773"/>
              <a:gd name="connsiteY1" fmla="*/ 1582444 h 8817537"/>
              <a:gd name="connsiteX2" fmla="*/ 9727180 w 10044773"/>
              <a:gd name="connsiteY2" fmla="*/ 23444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  <a:gd name="connsiteX0" fmla="*/ 9739880 w 10044773"/>
              <a:gd name="connsiteY0" fmla="*/ 718844 h 8817537"/>
              <a:gd name="connsiteX1" fmla="*/ 9206480 w 10044773"/>
              <a:gd name="connsiteY1" fmla="*/ 1239544 h 8817537"/>
              <a:gd name="connsiteX2" fmla="*/ 9727180 w 10044773"/>
              <a:gd name="connsiteY2" fmla="*/ 23444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  <a:gd name="connsiteX0" fmla="*/ 9777980 w 10044773"/>
              <a:gd name="connsiteY0" fmla="*/ 439444 h 8817537"/>
              <a:gd name="connsiteX1" fmla="*/ 9206480 w 10044773"/>
              <a:gd name="connsiteY1" fmla="*/ 1239544 h 8817537"/>
              <a:gd name="connsiteX2" fmla="*/ 9727180 w 10044773"/>
              <a:gd name="connsiteY2" fmla="*/ 23444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4773" h="8817537">
                <a:moveTo>
                  <a:pt x="9777980" y="439444"/>
                </a:moveTo>
                <a:cubicBezTo>
                  <a:pt x="9515513" y="702969"/>
                  <a:pt x="9214947" y="922044"/>
                  <a:pt x="9206480" y="1239544"/>
                </a:cubicBezTo>
                <a:cubicBezTo>
                  <a:pt x="9198013" y="1557044"/>
                  <a:pt x="9697547" y="1906294"/>
                  <a:pt x="9727180" y="2344444"/>
                </a:cubicBezTo>
                <a:cubicBezTo>
                  <a:pt x="9756813" y="2782594"/>
                  <a:pt x="9358880" y="3430294"/>
                  <a:pt x="9384280" y="3868444"/>
                </a:cubicBezTo>
                <a:cubicBezTo>
                  <a:pt x="9409680" y="4306594"/>
                  <a:pt x="9845713" y="4594461"/>
                  <a:pt x="9879580" y="4973344"/>
                </a:cubicBezTo>
                <a:cubicBezTo>
                  <a:pt x="9913447" y="5352227"/>
                  <a:pt x="9559963" y="5748044"/>
                  <a:pt x="9587480" y="6141744"/>
                </a:cubicBezTo>
                <a:cubicBezTo>
                  <a:pt x="9614997" y="6535444"/>
                  <a:pt x="10038330" y="6963011"/>
                  <a:pt x="10044680" y="7335544"/>
                </a:cubicBezTo>
                <a:cubicBezTo>
                  <a:pt x="10051030" y="7708077"/>
                  <a:pt x="9733530" y="8192794"/>
                  <a:pt x="9625580" y="8376944"/>
                </a:cubicBezTo>
                <a:cubicBezTo>
                  <a:pt x="9517630" y="8561094"/>
                  <a:pt x="9396980" y="8440444"/>
                  <a:pt x="9396980" y="8440444"/>
                </a:cubicBezTo>
                <a:cubicBezTo>
                  <a:pt x="7978813" y="8408694"/>
                  <a:pt x="2517813" y="9458561"/>
                  <a:pt x="1116580" y="8186444"/>
                </a:cubicBezTo>
                <a:cubicBezTo>
                  <a:pt x="-284653" y="6914327"/>
                  <a:pt x="-411653" y="2084094"/>
                  <a:pt x="989580" y="807744"/>
                </a:cubicBezTo>
                <a:cubicBezTo>
                  <a:pt x="2390813" y="-468606"/>
                  <a:pt x="5957396" y="29869"/>
                  <a:pt x="9523980" y="528344"/>
                </a:cubicBezTo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11E8801-B50F-5A1B-F733-7B65A21A99C5}"/>
              </a:ext>
            </a:extLst>
          </p:cNvPr>
          <p:cNvSpPr/>
          <p:nvPr/>
        </p:nvSpPr>
        <p:spPr>
          <a:xfrm>
            <a:off x="-1764281" y="-979769"/>
            <a:ext cx="10171681" cy="8817537"/>
          </a:xfrm>
          <a:custGeom>
            <a:avLst/>
            <a:gdLst>
              <a:gd name="connsiteX0" fmla="*/ 9739880 w 10046354"/>
              <a:gd name="connsiteY0" fmla="*/ 718844 h 8817537"/>
              <a:gd name="connsiteX1" fmla="*/ 9231880 w 10046354"/>
              <a:gd name="connsiteY1" fmla="*/ 1582444 h 8817537"/>
              <a:gd name="connsiteX2" fmla="*/ 9841480 w 10046354"/>
              <a:gd name="connsiteY2" fmla="*/ 2738144 h 8817537"/>
              <a:gd name="connsiteX3" fmla="*/ 9384280 w 10046354"/>
              <a:gd name="connsiteY3" fmla="*/ 3868444 h 8817537"/>
              <a:gd name="connsiteX4" fmla="*/ 10044680 w 10046354"/>
              <a:gd name="connsiteY4" fmla="*/ 4960644 h 8817537"/>
              <a:gd name="connsiteX5" fmla="*/ 9587480 w 10046354"/>
              <a:gd name="connsiteY5" fmla="*/ 6141744 h 8817537"/>
              <a:gd name="connsiteX6" fmla="*/ 10044680 w 10046354"/>
              <a:gd name="connsiteY6" fmla="*/ 7335544 h 8817537"/>
              <a:gd name="connsiteX7" fmla="*/ 9625580 w 10046354"/>
              <a:gd name="connsiteY7" fmla="*/ 8376944 h 8817537"/>
              <a:gd name="connsiteX8" fmla="*/ 9396980 w 10046354"/>
              <a:gd name="connsiteY8" fmla="*/ 8440444 h 8817537"/>
              <a:gd name="connsiteX9" fmla="*/ 1116580 w 10046354"/>
              <a:gd name="connsiteY9" fmla="*/ 8186444 h 8817537"/>
              <a:gd name="connsiteX10" fmla="*/ 989580 w 10046354"/>
              <a:gd name="connsiteY10" fmla="*/ 807744 h 8817537"/>
              <a:gd name="connsiteX11" fmla="*/ 9523980 w 10046354"/>
              <a:gd name="connsiteY11" fmla="*/ 528344 h 8817537"/>
              <a:gd name="connsiteX0" fmla="*/ 9739880 w 10044773"/>
              <a:gd name="connsiteY0" fmla="*/ 718844 h 8817537"/>
              <a:gd name="connsiteX1" fmla="*/ 9231880 w 10044773"/>
              <a:gd name="connsiteY1" fmla="*/ 1582444 h 8817537"/>
              <a:gd name="connsiteX2" fmla="*/ 9841480 w 10044773"/>
              <a:gd name="connsiteY2" fmla="*/ 27381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  <a:gd name="connsiteX0" fmla="*/ 9739880 w 10044773"/>
              <a:gd name="connsiteY0" fmla="*/ 718844 h 8817537"/>
              <a:gd name="connsiteX1" fmla="*/ 9231880 w 10044773"/>
              <a:gd name="connsiteY1" fmla="*/ 1582444 h 8817537"/>
              <a:gd name="connsiteX2" fmla="*/ 9727180 w 10044773"/>
              <a:gd name="connsiteY2" fmla="*/ 23444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  <a:gd name="connsiteX0" fmla="*/ 9739880 w 10044773"/>
              <a:gd name="connsiteY0" fmla="*/ 718844 h 8817537"/>
              <a:gd name="connsiteX1" fmla="*/ 9206480 w 10044773"/>
              <a:gd name="connsiteY1" fmla="*/ 1239544 h 8817537"/>
              <a:gd name="connsiteX2" fmla="*/ 9727180 w 10044773"/>
              <a:gd name="connsiteY2" fmla="*/ 23444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  <a:gd name="connsiteX0" fmla="*/ 9777980 w 10044773"/>
              <a:gd name="connsiteY0" fmla="*/ 439444 h 8817537"/>
              <a:gd name="connsiteX1" fmla="*/ 9206480 w 10044773"/>
              <a:gd name="connsiteY1" fmla="*/ 1239544 h 8817537"/>
              <a:gd name="connsiteX2" fmla="*/ 9727180 w 10044773"/>
              <a:gd name="connsiteY2" fmla="*/ 2344444 h 8817537"/>
              <a:gd name="connsiteX3" fmla="*/ 9384280 w 10044773"/>
              <a:gd name="connsiteY3" fmla="*/ 3868444 h 8817537"/>
              <a:gd name="connsiteX4" fmla="*/ 9879580 w 10044773"/>
              <a:gd name="connsiteY4" fmla="*/ 4973344 h 8817537"/>
              <a:gd name="connsiteX5" fmla="*/ 9587480 w 10044773"/>
              <a:gd name="connsiteY5" fmla="*/ 6141744 h 8817537"/>
              <a:gd name="connsiteX6" fmla="*/ 10044680 w 10044773"/>
              <a:gd name="connsiteY6" fmla="*/ 7335544 h 8817537"/>
              <a:gd name="connsiteX7" fmla="*/ 9625580 w 10044773"/>
              <a:gd name="connsiteY7" fmla="*/ 8376944 h 8817537"/>
              <a:gd name="connsiteX8" fmla="*/ 9396980 w 10044773"/>
              <a:gd name="connsiteY8" fmla="*/ 8440444 h 8817537"/>
              <a:gd name="connsiteX9" fmla="*/ 1116580 w 10044773"/>
              <a:gd name="connsiteY9" fmla="*/ 8186444 h 8817537"/>
              <a:gd name="connsiteX10" fmla="*/ 989580 w 10044773"/>
              <a:gd name="connsiteY10" fmla="*/ 807744 h 8817537"/>
              <a:gd name="connsiteX11" fmla="*/ 9523980 w 10044773"/>
              <a:gd name="connsiteY11" fmla="*/ 528344 h 8817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44773" h="8817537">
                <a:moveTo>
                  <a:pt x="9777980" y="439444"/>
                </a:moveTo>
                <a:cubicBezTo>
                  <a:pt x="9515513" y="702969"/>
                  <a:pt x="9214947" y="922044"/>
                  <a:pt x="9206480" y="1239544"/>
                </a:cubicBezTo>
                <a:cubicBezTo>
                  <a:pt x="9198013" y="1557044"/>
                  <a:pt x="9697547" y="1906294"/>
                  <a:pt x="9727180" y="2344444"/>
                </a:cubicBezTo>
                <a:cubicBezTo>
                  <a:pt x="9756813" y="2782594"/>
                  <a:pt x="9358880" y="3430294"/>
                  <a:pt x="9384280" y="3868444"/>
                </a:cubicBezTo>
                <a:cubicBezTo>
                  <a:pt x="9409680" y="4306594"/>
                  <a:pt x="9845713" y="4594461"/>
                  <a:pt x="9879580" y="4973344"/>
                </a:cubicBezTo>
                <a:cubicBezTo>
                  <a:pt x="9913447" y="5352227"/>
                  <a:pt x="9559963" y="5748044"/>
                  <a:pt x="9587480" y="6141744"/>
                </a:cubicBezTo>
                <a:cubicBezTo>
                  <a:pt x="9614997" y="6535444"/>
                  <a:pt x="10038330" y="6963011"/>
                  <a:pt x="10044680" y="7335544"/>
                </a:cubicBezTo>
                <a:cubicBezTo>
                  <a:pt x="10051030" y="7708077"/>
                  <a:pt x="9733530" y="8192794"/>
                  <a:pt x="9625580" y="8376944"/>
                </a:cubicBezTo>
                <a:cubicBezTo>
                  <a:pt x="9517630" y="8561094"/>
                  <a:pt x="9396980" y="8440444"/>
                  <a:pt x="9396980" y="8440444"/>
                </a:cubicBezTo>
                <a:cubicBezTo>
                  <a:pt x="7978813" y="8408694"/>
                  <a:pt x="2517813" y="9458561"/>
                  <a:pt x="1116580" y="8186444"/>
                </a:cubicBezTo>
                <a:cubicBezTo>
                  <a:pt x="-284653" y="6914327"/>
                  <a:pt x="-411653" y="2084094"/>
                  <a:pt x="989580" y="807744"/>
                </a:cubicBezTo>
                <a:cubicBezTo>
                  <a:pt x="2390813" y="-468606"/>
                  <a:pt x="5957396" y="29869"/>
                  <a:pt x="9523980" y="528344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5CA1A-4797-8A05-9546-94FC22D22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8" y="34012"/>
            <a:ext cx="6934203" cy="1325563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Ядерный геном Денисовца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C29FE6-A204-E9FD-7ADE-72CB3ADCA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359575"/>
            <a:ext cx="7134228" cy="537142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Глубина библиотеки – 1.7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Дивергенция гоминид:</a:t>
            </a:r>
          </a:p>
          <a:p>
            <a:pPr>
              <a:lnSpc>
                <a:spcPct val="120000"/>
              </a:lnSpc>
            </a:pPr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Денисовец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– современный человек – 11,7% от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CHLCA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Неандерталец – современный человек – 12,2% от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CHLCA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Время расхождения: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Неандертальцы – Денисовцы 640 тыс. лет назад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Группа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Неандертальцы+Денисовцы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– современные люди 804 тыс. лет назад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E89BD-9998-DEB9-FCFA-44190ADC546A}"/>
              </a:ext>
            </a:extLst>
          </p:cNvPr>
          <p:cNvSpPr txBox="1"/>
          <p:nvPr/>
        </p:nvSpPr>
        <p:spPr>
          <a:xfrm>
            <a:off x="9853613" y="6408809"/>
            <a:ext cx="3711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(Reich et al. 2010)</a:t>
            </a:r>
            <a:endParaRPr lang="ru-RU" sz="2000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D9E093C-BDE9-1FA4-07D4-A6CA319AE5B1}"/>
              </a:ext>
            </a:extLst>
          </p:cNvPr>
          <p:cNvSpPr/>
          <p:nvPr/>
        </p:nvSpPr>
        <p:spPr>
          <a:xfrm>
            <a:off x="10361103" y="1312627"/>
            <a:ext cx="1703898" cy="584200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B66179-3162-3878-19CA-3CA3EE975108}"/>
              </a:ext>
            </a:extLst>
          </p:cNvPr>
          <p:cNvSpPr txBox="1"/>
          <p:nvPr/>
        </p:nvSpPr>
        <p:spPr>
          <a:xfrm>
            <a:off x="9029701" y="1801418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640 </a:t>
            </a:r>
            <a:r>
              <a:rPr lang="en-US" dirty="0" err="1"/>
              <a:t>kyr</a:t>
            </a:r>
            <a:r>
              <a:rPr lang="en-US" dirty="0"/>
              <a:t> BP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42B55-9273-0A96-2042-4980EEDC6F31}"/>
              </a:ext>
            </a:extLst>
          </p:cNvPr>
          <p:cNvSpPr txBox="1"/>
          <p:nvPr/>
        </p:nvSpPr>
        <p:spPr>
          <a:xfrm>
            <a:off x="8740774" y="3028873"/>
            <a:ext cx="283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804 </a:t>
            </a:r>
            <a:r>
              <a:rPr lang="en-US" dirty="0" err="1"/>
              <a:t>kyr</a:t>
            </a:r>
            <a:r>
              <a:rPr lang="en-US" dirty="0"/>
              <a:t> BP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49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C0C00E4C-F998-9AEE-DD7B-1ACFEF6BD967}"/>
              </a:ext>
            </a:extLst>
          </p:cNvPr>
          <p:cNvSpPr/>
          <p:nvPr/>
        </p:nvSpPr>
        <p:spPr>
          <a:xfrm>
            <a:off x="8428852" y="-1713222"/>
            <a:ext cx="3971496" cy="9382580"/>
          </a:xfrm>
          <a:custGeom>
            <a:avLst/>
            <a:gdLst>
              <a:gd name="connsiteX0" fmla="*/ 12481774 w 14340680"/>
              <a:gd name="connsiteY0" fmla="*/ 1364820 h 10151590"/>
              <a:gd name="connsiteX1" fmla="*/ 13129474 w 14340680"/>
              <a:gd name="connsiteY1" fmla="*/ 2596720 h 10151590"/>
              <a:gd name="connsiteX2" fmla="*/ 12710374 w 14340680"/>
              <a:gd name="connsiteY2" fmla="*/ 3930220 h 10151590"/>
              <a:gd name="connsiteX3" fmla="*/ 13154874 w 14340680"/>
              <a:gd name="connsiteY3" fmla="*/ 5238320 h 10151590"/>
              <a:gd name="connsiteX4" fmla="*/ 12583374 w 14340680"/>
              <a:gd name="connsiteY4" fmla="*/ 6863920 h 10151590"/>
              <a:gd name="connsiteX5" fmla="*/ 13345374 w 14340680"/>
              <a:gd name="connsiteY5" fmla="*/ 8895920 h 10151590"/>
              <a:gd name="connsiteX6" fmla="*/ 13446974 w 14340680"/>
              <a:gd name="connsiteY6" fmla="*/ 9162620 h 10151590"/>
              <a:gd name="connsiteX7" fmla="*/ 1356574 w 14340680"/>
              <a:gd name="connsiteY7" fmla="*/ 9607120 h 10151590"/>
              <a:gd name="connsiteX8" fmla="*/ 1508974 w 14340680"/>
              <a:gd name="connsiteY8" fmla="*/ 767920 h 10151590"/>
              <a:gd name="connsiteX9" fmla="*/ 12253174 w 14340680"/>
              <a:gd name="connsiteY9" fmla="*/ 1034620 h 10151590"/>
              <a:gd name="connsiteX0" fmla="*/ 11259726 w 12552187"/>
              <a:gd name="connsiteY0" fmla="*/ 1364820 h 9238057"/>
              <a:gd name="connsiteX1" fmla="*/ 11907426 w 12552187"/>
              <a:gd name="connsiteY1" fmla="*/ 2596720 h 9238057"/>
              <a:gd name="connsiteX2" fmla="*/ 11488326 w 12552187"/>
              <a:gd name="connsiteY2" fmla="*/ 3930220 h 9238057"/>
              <a:gd name="connsiteX3" fmla="*/ 11932826 w 12552187"/>
              <a:gd name="connsiteY3" fmla="*/ 5238320 h 9238057"/>
              <a:gd name="connsiteX4" fmla="*/ 11361326 w 12552187"/>
              <a:gd name="connsiteY4" fmla="*/ 6863920 h 9238057"/>
              <a:gd name="connsiteX5" fmla="*/ 12123326 w 12552187"/>
              <a:gd name="connsiteY5" fmla="*/ 8895920 h 9238057"/>
              <a:gd name="connsiteX6" fmla="*/ 12224926 w 12552187"/>
              <a:gd name="connsiteY6" fmla="*/ 9162620 h 9238057"/>
              <a:gd name="connsiteX7" fmla="*/ 7781616 w 12552187"/>
              <a:gd name="connsiteY7" fmla="*/ 8097232 h 9238057"/>
              <a:gd name="connsiteX8" fmla="*/ 286926 w 12552187"/>
              <a:gd name="connsiteY8" fmla="*/ 767920 h 9238057"/>
              <a:gd name="connsiteX9" fmla="*/ 11031126 w 12552187"/>
              <a:gd name="connsiteY9" fmla="*/ 1034620 h 9238057"/>
              <a:gd name="connsiteX0" fmla="*/ 4131341 w 5423801"/>
              <a:gd name="connsiteY0" fmla="*/ 591039 h 8464276"/>
              <a:gd name="connsiteX1" fmla="*/ 4779041 w 5423801"/>
              <a:gd name="connsiteY1" fmla="*/ 1822939 h 8464276"/>
              <a:gd name="connsiteX2" fmla="*/ 4359941 w 5423801"/>
              <a:gd name="connsiteY2" fmla="*/ 3156439 h 8464276"/>
              <a:gd name="connsiteX3" fmla="*/ 4804441 w 5423801"/>
              <a:gd name="connsiteY3" fmla="*/ 4464539 h 8464276"/>
              <a:gd name="connsiteX4" fmla="*/ 4232941 w 5423801"/>
              <a:gd name="connsiteY4" fmla="*/ 6090139 h 8464276"/>
              <a:gd name="connsiteX5" fmla="*/ 4994941 w 5423801"/>
              <a:gd name="connsiteY5" fmla="*/ 8122139 h 8464276"/>
              <a:gd name="connsiteX6" fmla="*/ 5096541 w 5423801"/>
              <a:gd name="connsiteY6" fmla="*/ 8388839 h 8464276"/>
              <a:gd name="connsiteX7" fmla="*/ 653231 w 5423801"/>
              <a:gd name="connsiteY7" fmla="*/ 7323451 h 8464276"/>
              <a:gd name="connsiteX8" fmla="*/ 1196787 w 5423801"/>
              <a:gd name="connsiteY8" fmla="*/ 2210783 h 8464276"/>
              <a:gd name="connsiteX9" fmla="*/ 3902741 w 5423801"/>
              <a:gd name="connsiteY9" fmla="*/ 260839 h 8464276"/>
              <a:gd name="connsiteX0" fmla="*/ 3675825 w 4865428"/>
              <a:gd name="connsiteY0" fmla="*/ 591039 h 8502273"/>
              <a:gd name="connsiteX1" fmla="*/ 4323525 w 4865428"/>
              <a:gd name="connsiteY1" fmla="*/ 1822939 h 8502273"/>
              <a:gd name="connsiteX2" fmla="*/ 3904425 w 4865428"/>
              <a:gd name="connsiteY2" fmla="*/ 3156439 h 8502273"/>
              <a:gd name="connsiteX3" fmla="*/ 4348925 w 4865428"/>
              <a:gd name="connsiteY3" fmla="*/ 4464539 h 8502273"/>
              <a:gd name="connsiteX4" fmla="*/ 3777425 w 4865428"/>
              <a:gd name="connsiteY4" fmla="*/ 6090139 h 8502273"/>
              <a:gd name="connsiteX5" fmla="*/ 4539425 w 4865428"/>
              <a:gd name="connsiteY5" fmla="*/ 8122139 h 8502273"/>
              <a:gd name="connsiteX6" fmla="*/ 4641025 w 4865428"/>
              <a:gd name="connsiteY6" fmla="*/ 8388839 h 8502273"/>
              <a:gd name="connsiteX7" fmla="*/ 1586317 w 4865428"/>
              <a:gd name="connsiteY7" fmla="*/ 6809446 h 8502273"/>
              <a:gd name="connsiteX8" fmla="*/ 741271 w 4865428"/>
              <a:gd name="connsiteY8" fmla="*/ 2210783 h 8502273"/>
              <a:gd name="connsiteX9" fmla="*/ 3447225 w 4865428"/>
              <a:gd name="connsiteY9" fmla="*/ 260839 h 8502273"/>
              <a:gd name="connsiteX0" fmla="*/ 2887751 w 4077355"/>
              <a:gd name="connsiteY0" fmla="*/ 557841 h 8469075"/>
              <a:gd name="connsiteX1" fmla="*/ 3535451 w 4077355"/>
              <a:gd name="connsiteY1" fmla="*/ 1789741 h 8469075"/>
              <a:gd name="connsiteX2" fmla="*/ 3116351 w 4077355"/>
              <a:gd name="connsiteY2" fmla="*/ 3123241 h 8469075"/>
              <a:gd name="connsiteX3" fmla="*/ 3560851 w 4077355"/>
              <a:gd name="connsiteY3" fmla="*/ 4431341 h 8469075"/>
              <a:gd name="connsiteX4" fmla="*/ 2989351 w 4077355"/>
              <a:gd name="connsiteY4" fmla="*/ 6056941 h 8469075"/>
              <a:gd name="connsiteX5" fmla="*/ 3751351 w 4077355"/>
              <a:gd name="connsiteY5" fmla="*/ 8088941 h 8469075"/>
              <a:gd name="connsiteX6" fmla="*/ 3852951 w 4077355"/>
              <a:gd name="connsiteY6" fmla="*/ 8355641 h 8469075"/>
              <a:gd name="connsiteX7" fmla="*/ 798243 w 4077355"/>
              <a:gd name="connsiteY7" fmla="*/ 6776248 h 8469075"/>
              <a:gd name="connsiteX8" fmla="*/ 989759 w 4077355"/>
              <a:gd name="connsiteY8" fmla="*/ 2498838 h 8469075"/>
              <a:gd name="connsiteX9" fmla="*/ 2659151 w 4077355"/>
              <a:gd name="connsiteY9" fmla="*/ 227641 h 8469075"/>
              <a:gd name="connsiteX0" fmla="*/ 2887751 w 4077355"/>
              <a:gd name="connsiteY0" fmla="*/ 0 h 7911234"/>
              <a:gd name="connsiteX1" fmla="*/ 3535451 w 4077355"/>
              <a:gd name="connsiteY1" fmla="*/ 1231900 h 7911234"/>
              <a:gd name="connsiteX2" fmla="*/ 3116351 w 4077355"/>
              <a:gd name="connsiteY2" fmla="*/ 2565400 h 7911234"/>
              <a:gd name="connsiteX3" fmla="*/ 3560851 w 4077355"/>
              <a:gd name="connsiteY3" fmla="*/ 3873500 h 7911234"/>
              <a:gd name="connsiteX4" fmla="*/ 2989351 w 4077355"/>
              <a:gd name="connsiteY4" fmla="*/ 5499100 h 7911234"/>
              <a:gd name="connsiteX5" fmla="*/ 3751351 w 4077355"/>
              <a:gd name="connsiteY5" fmla="*/ 7531100 h 7911234"/>
              <a:gd name="connsiteX6" fmla="*/ 3852951 w 4077355"/>
              <a:gd name="connsiteY6" fmla="*/ 7797800 h 7911234"/>
              <a:gd name="connsiteX7" fmla="*/ 798243 w 4077355"/>
              <a:gd name="connsiteY7" fmla="*/ 6218407 h 7911234"/>
              <a:gd name="connsiteX8" fmla="*/ 989759 w 4077355"/>
              <a:gd name="connsiteY8" fmla="*/ 1940997 h 7911234"/>
              <a:gd name="connsiteX9" fmla="*/ 1818166 w 4077355"/>
              <a:gd name="connsiteY9" fmla="*/ 601433 h 7911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77355" h="7911234">
                <a:moveTo>
                  <a:pt x="2887751" y="0"/>
                </a:moveTo>
                <a:cubicBezTo>
                  <a:pt x="3192551" y="402166"/>
                  <a:pt x="3497351" y="804333"/>
                  <a:pt x="3535451" y="1231900"/>
                </a:cubicBezTo>
                <a:cubicBezTo>
                  <a:pt x="3573551" y="1659467"/>
                  <a:pt x="3112118" y="2125133"/>
                  <a:pt x="3116351" y="2565400"/>
                </a:cubicBezTo>
                <a:cubicBezTo>
                  <a:pt x="3120584" y="3005667"/>
                  <a:pt x="3582018" y="3384550"/>
                  <a:pt x="3560851" y="3873500"/>
                </a:cubicBezTo>
                <a:cubicBezTo>
                  <a:pt x="3539684" y="4362450"/>
                  <a:pt x="2957601" y="4889500"/>
                  <a:pt x="2989351" y="5499100"/>
                </a:cubicBezTo>
                <a:cubicBezTo>
                  <a:pt x="3021101" y="6108700"/>
                  <a:pt x="3607418" y="7147983"/>
                  <a:pt x="3751351" y="7531100"/>
                </a:cubicBezTo>
                <a:cubicBezTo>
                  <a:pt x="3895284" y="7914217"/>
                  <a:pt x="4345136" y="8016582"/>
                  <a:pt x="3852951" y="7797800"/>
                </a:cubicBezTo>
                <a:cubicBezTo>
                  <a:pt x="3360766" y="7579018"/>
                  <a:pt x="1275442" y="7194541"/>
                  <a:pt x="798243" y="6218407"/>
                </a:cubicBezTo>
                <a:cubicBezTo>
                  <a:pt x="321044" y="5242273"/>
                  <a:pt x="-826341" y="3369747"/>
                  <a:pt x="989759" y="1940997"/>
                </a:cubicBezTo>
                <a:cubicBezTo>
                  <a:pt x="2805859" y="512247"/>
                  <a:pt x="-2645884" y="-246292"/>
                  <a:pt x="1818166" y="601433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A66B366-C49B-F058-1123-76317BFB2FEB}"/>
              </a:ext>
            </a:extLst>
          </p:cNvPr>
          <p:cNvSpPr/>
          <p:nvPr/>
        </p:nvSpPr>
        <p:spPr>
          <a:xfrm>
            <a:off x="-1" y="-17349"/>
            <a:ext cx="10334171" cy="68674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B15581C1-B787-9C57-894E-8583E2E2C030}"/>
              </a:ext>
            </a:extLst>
          </p:cNvPr>
          <p:cNvSpPr/>
          <p:nvPr/>
        </p:nvSpPr>
        <p:spPr>
          <a:xfrm>
            <a:off x="8356281" y="-888844"/>
            <a:ext cx="3580487" cy="8171229"/>
          </a:xfrm>
          <a:custGeom>
            <a:avLst/>
            <a:gdLst>
              <a:gd name="connsiteX0" fmla="*/ 12481774 w 14340680"/>
              <a:gd name="connsiteY0" fmla="*/ 1364820 h 10151590"/>
              <a:gd name="connsiteX1" fmla="*/ 13129474 w 14340680"/>
              <a:gd name="connsiteY1" fmla="*/ 2596720 h 10151590"/>
              <a:gd name="connsiteX2" fmla="*/ 12710374 w 14340680"/>
              <a:gd name="connsiteY2" fmla="*/ 3930220 h 10151590"/>
              <a:gd name="connsiteX3" fmla="*/ 13154874 w 14340680"/>
              <a:gd name="connsiteY3" fmla="*/ 5238320 h 10151590"/>
              <a:gd name="connsiteX4" fmla="*/ 12583374 w 14340680"/>
              <a:gd name="connsiteY4" fmla="*/ 6863920 h 10151590"/>
              <a:gd name="connsiteX5" fmla="*/ 13345374 w 14340680"/>
              <a:gd name="connsiteY5" fmla="*/ 8895920 h 10151590"/>
              <a:gd name="connsiteX6" fmla="*/ 13446974 w 14340680"/>
              <a:gd name="connsiteY6" fmla="*/ 9162620 h 10151590"/>
              <a:gd name="connsiteX7" fmla="*/ 1356574 w 14340680"/>
              <a:gd name="connsiteY7" fmla="*/ 9607120 h 10151590"/>
              <a:gd name="connsiteX8" fmla="*/ 1508974 w 14340680"/>
              <a:gd name="connsiteY8" fmla="*/ 767920 h 10151590"/>
              <a:gd name="connsiteX9" fmla="*/ 12253174 w 14340680"/>
              <a:gd name="connsiteY9" fmla="*/ 1034620 h 10151590"/>
              <a:gd name="connsiteX0" fmla="*/ 11238478 w 12479324"/>
              <a:gd name="connsiteY0" fmla="*/ 1364820 h 9683657"/>
              <a:gd name="connsiteX1" fmla="*/ 11886178 w 12479324"/>
              <a:gd name="connsiteY1" fmla="*/ 2596720 h 9683657"/>
              <a:gd name="connsiteX2" fmla="*/ 11467078 w 12479324"/>
              <a:gd name="connsiteY2" fmla="*/ 3930220 h 9683657"/>
              <a:gd name="connsiteX3" fmla="*/ 11911578 w 12479324"/>
              <a:gd name="connsiteY3" fmla="*/ 5238320 h 9683657"/>
              <a:gd name="connsiteX4" fmla="*/ 11340078 w 12479324"/>
              <a:gd name="connsiteY4" fmla="*/ 6863920 h 9683657"/>
              <a:gd name="connsiteX5" fmla="*/ 12102078 w 12479324"/>
              <a:gd name="connsiteY5" fmla="*/ 8895920 h 9683657"/>
              <a:gd name="connsiteX6" fmla="*/ 12203678 w 12479324"/>
              <a:gd name="connsiteY6" fmla="*/ 9162620 h 9683657"/>
              <a:gd name="connsiteX7" fmla="*/ 8457178 w 12479324"/>
              <a:gd name="connsiteY7" fmla="*/ 9016570 h 9683657"/>
              <a:gd name="connsiteX8" fmla="*/ 265678 w 12479324"/>
              <a:gd name="connsiteY8" fmla="*/ 767920 h 9683657"/>
              <a:gd name="connsiteX9" fmla="*/ 11009878 w 12479324"/>
              <a:gd name="connsiteY9" fmla="*/ 1034620 h 9683657"/>
              <a:gd name="connsiteX0" fmla="*/ 3220354 w 4461200"/>
              <a:gd name="connsiteY0" fmla="*/ 1186154 h 9483934"/>
              <a:gd name="connsiteX1" fmla="*/ 3868054 w 4461200"/>
              <a:gd name="connsiteY1" fmla="*/ 2418054 h 9483934"/>
              <a:gd name="connsiteX2" fmla="*/ 3448954 w 4461200"/>
              <a:gd name="connsiteY2" fmla="*/ 3751554 h 9483934"/>
              <a:gd name="connsiteX3" fmla="*/ 3893454 w 4461200"/>
              <a:gd name="connsiteY3" fmla="*/ 5059654 h 9483934"/>
              <a:gd name="connsiteX4" fmla="*/ 3321954 w 4461200"/>
              <a:gd name="connsiteY4" fmla="*/ 6685254 h 9483934"/>
              <a:gd name="connsiteX5" fmla="*/ 4083954 w 4461200"/>
              <a:gd name="connsiteY5" fmla="*/ 8717254 h 9483934"/>
              <a:gd name="connsiteX6" fmla="*/ 4185554 w 4461200"/>
              <a:gd name="connsiteY6" fmla="*/ 8983954 h 9483934"/>
              <a:gd name="connsiteX7" fmla="*/ 439054 w 4461200"/>
              <a:gd name="connsiteY7" fmla="*/ 8837904 h 9483934"/>
              <a:gd name="connsiteX8" fmla="*/ 1296304 w 4461200"/>
              <a:gd name="connsiteY8" fmla="*/ 875004 h 9483934"/>
              <a:gd name="connsiteX9" fmla="*/ 2991754 w 4461200"/>
              <a:gd name="connsiteY9" fmla="*/ 855954 h 9483934"/>
              <a:gd name="connsiteX0" fmla="*/ 2960187 w 4201033"/>
              <a:gd name="connsiteY0" fmla="*/ 667550 h 8965330"/>
              <a:gd name="connsiteX1" fmla="*/ 3607887 w 4201033"/>
              <a:gd name="connsiteY1" fmla="*/ 1899450 h 8965330"/>
              <a:gd name="connsiteX2" fmla="*/ 3188787 w 4201033"/>
              <a:gd name="connsiteY2" fmla="*/ 3232950 h 8965330"/>
              <a:gd name="connsiteX3" fmla="*/ 3633287 w 4201033"/>
              <a:gd name="connsiteY3" fmla="*/ 4541050 h 8965330"/>
              <a:gd name="connsiteX4" fmla="*/ 3061787 w 4201033"/>
              <a:gd name="connsiteY4" fmla="*/ 6166650 h 8965330"/>
              <a:gd name="connsiteX5" fmla="*/ 3823787 w 4201033"/>
              <a:gd name="connsiteY5" fmla="*/ 8198650 h 8965330"/>
              <a:gd name="connsiteX6" fmla="*/ 3925387 w 4201033"/>
              <a:gd name="connsiteY6" fmla="*/ 8465350 h 8965330"/>
              <a:gd name="connsiteX7" fmla="*/ 178887 w 4201033"/>
              <a:gd name="connsiteY7" fmla="*/ 8319300 h 8965330"/>
              <a:gd name="connsiteX8" fmla="*/ 1036137 w 4201033"/>
              <a:gd name="connsiteY8" fmla="*/ 356400 h 8965330"/>
              <a:gd name="connsiteX9" fmla="*/ 2731587 w 4201033"/>
              <a:gd name="connsiteY9" fmla="*/ 337350 h 8965330"/>
              <a:gd name="connsiteX0" fmla="*/ 2917600 w 4158446"/>
              <a:gd name="connsiteY0" fmla="*/ 2424862 h 10722642"/>
              <a:gd name="connsiteX1" fmla="*/ 3565300 w 4158446"/>
              <a:gd name="connsiteY1" fmla="*/ 3656762 h 10722642"/>
              <a:gd name="connsiteX2" fmla="*/ 3146200 w 4158446"/>
              <a:gd name="connsiteY2" fmla="*/ 4990262 h 10722642"/>
              <a:gd name="connsiteX3" fmla="*/ 3590700 w 4158446"/>
              <a:gd name="connsiteY3" fmla="*/ 6298362 h 10722642"/>
              <a:gd name="connsiteX4" fmla="*/ 3019200 w 4158446"/>
              <a:gd name="connsiteY4" fmla="*/ 7923962 h 10722642"/>
              <a:gd name="connsiteX5" fmla="*/ 3781200 w 4158446"/>
              <a:gd name="connsiteY5" fmla="*/ 9955962 h 10722642"/>
              <a:gd name="connsiteX6" fmla="*/ 3882800 w 4158446"/>
              <a:gd name="connsiteY6" fmla="*/ 10222662 h 10722642"/>
              <a:gd name="connsiteX7" fmla="*/ 136300 w 4158446"/>
              <a:gd name="connsiteY7" fmla="*/ 10076612 h 10722642"/>
              <a:gd name="connsiteX8" fmla="*/ 993550 w 4158446"/>
              <a:gd name="connsiteY8" fmla="*/ 2113712 h 10722642"/>
              <a:gd name="connsiteX9" fmla="*/ 2669950 w 4158446"/>
              <a:gd name="connsiteY9" fmla="*/ 303962 h 10722642"/>
              <a:gd name="connsiteX0" fmla="*/ 2977158 w 4218004"/>
              <a:gd name="connsiteY0" fmla="*/ 1145770 h 9443550"/>
              <a:gd name="connsiteX1" fmla="*/ 3624858 w 4218004"/>
              <a:gd name="connsiteY1" fmla="*/ 2377670 h 9443550"/>
              <a:gd name="connsiteX2" fmla="*/ 3205758 w 4218004"/>
              <a:gd name="connsiteY2" fmla="*/ 3711170 h 9443550"/>
              <a:gd name="connsiteX3" fmla="*/ 3650258 w 4218004"/>
              <a:gd name="connsiteY3" fmla="*/ 5019270 h 9443550"/>
              <a:gd name="connsiteX4" fmla="*/ 3078758 w 4218004"/>
              <a:gd name="connsiteY4" fmla="*/ 6644870 h 9443550"/>
              <a:gd name="connsiteX5" fmla="*/ 3840758 w 4218004"/>
              <a:gd name="connsiteY5" fmla="*/ 8676870 h 9443550"/>
              <a:gd name="connsiteX6" fmla="*/ 3942358 w 4218004"/>
              <a:gd name="connsiteY6" fmla="*/ 8943570 h 9443550"/>
              <a:gd name="connsiteX7" fmla="*/ 195858 w 4218004"/>
              <a:gd name="connsiteY7" fmla="*/ 8797520 h 9443550"/>
              <a:gd name="connsiteX8" fmla="*/ 1053108 w 4218004"/>
              <a:gd name="connsiteY8" fmla="*/ 834620 h 9443550"/>
              <a:gd name="connsiteX9" fmla="*/ 2253258 w 4218004"/>
              <a:gd name="connsiteY9" fmla="*/ 815570 h 9443550"/>
              <a:gd name="connsiteX0" fmla="*/ 3164864 w 4405710"/>
              <a:gd name="connsiteY0" fmla="*/ 422857 h 8308964"/>
              <a:gd name="connsiteX1" fmla="*/ 3812564 w 4405710"/>
              <a:gd name="connsiteY1" fmla="*/ 1654757 h 8308964"/>
              <a:gd name="connsiteX2" fmla="*/ 3393464 w 4405710"/>
              <a:gd name="connsiteY2" fmla="*/ 2988257 h 8308964"/>
              <a:gd name="connsiteX3" fmla="*/ 3837964 w 4405710"/>
              <a:gd name="connsiteY3" fmla="*/ 4296357 h 8308964"/>
              <a:gd name="connsiteX4" fmla="*/ 3266464 w 4405710"/>
              <a:gd name="connsiteY4" fmla="*/ 5921957 h 8308964"/>
              <a:gd name="connsiteX5" fmla="*/ 4028464 w 4405710"/>
              <a:gd name="connsiteY5" fmla="*/ 7953957 h 8308964"/>
              <a:gd name="connsiteX6" fmla="*/ 4130064 w 4405710"/>
              <a:gd name="connsiteY6" fmla="*/ 8220657 h 8308964"/>
              <a:gd name="connsiteX7" fmla="*/ 383564 w 4405710"/>
              <a:gd name="connsiteY7" fmla="*/ 8074607 h 8308964"/>
              <a:gd name="connsiteX8" fmla="*/ 726464 w 4405710"/>
              <a:gd name="connsiteY8" fmla="*/ 5788607 h 8308964"/>
              <a:gd name="connsiteX9" fmla="*/ 2440964 w 4405710"/>
              <a:gd name="connsiteY9" fmla="*/ 92657 h 8308964"/>
              <a:gd name="connsiteX0" fmla="*/ 3257108 w 4497954"/>
              <a:gd name="connsiteY0" fmla="*/ 433982 h 8320089"/>
              <a:gd name="connsiteX1" fmla="*/ 3904808 w 4497954"/>
              <a:gd name="connsiteY1" fmla="*/ 1665882 h 8320089"/>
              <a:gd name="connsiteX2" fmla="*/ 3485708 w 4497954"/>
              <a:gd name="connsiteY2" fmla="*/ 2999382 h 8320089"/>
              <a:gd name="connsiteX3" fmla="*/ 3930208 w 4497954"/>
              <a:gd name="connsiteY3" fmla="*/ 4307482 h 8320089"/>
              <a:gd name="connsiteX4" fmla="*/ 3358708 w 4497954"/>
              <a:gd name="connsiteY4" fmla="*/ 5933082 h 8320089"/>
              <a:gd name="connsiteX5" fmla="*/ 4120708 w 4497954"/>
              <a:gd name="connsiteY5" fmla="*/ 7965082 h 8320089"/>
              <a:gd name="connsiteX6" fmla="*/ 4222308 w 4497954"/>
              <a:gd name="connsiteY6" fmla="*/ 8231782 h 8320089"/>
              <a:gd name="connsiteX7" fmla="*/ 475808 w 4497954"/>
              <a:gd name="connsiteY7" fmla="*/ 8085732 h 8320089"/>
              <a:gd name="connsiteX8" fmla="*/ 818708 w 4497954"/>
              <a:gd name="connsiteY8" fmla="*/ 5799732 h 8320089"/>
              <a:gd name="connsiteX9" fmla="*/ 2533208 w 4497954"/>
              <a:gd name="connsiteY9" fmla="*/ 103782 h 8320089"/>
              <a:gd name="connsiteX0" fmla="*/ 2975091 w 4215937"/>
              <a:gd name="connsiteY0" fmla="*/ 338977 h 8225084"/>
              <a:gd name="connsiteX1" fmla="*/ 3622791 w 4215937"/>
              <a:gd name="connsiteY1" fmla="*/ 1570877 h 8225084"/>
              <a:gd name="connsiteX2" fmla="*/ 3203691 w 4215937"/>
              <a:gd name="connsiteY2" fmla="*/ 2904377 h 8225084"/>
              <a:gd name="connsiteX3" fmla="*/ 3648191 w 4215937"/>
              <a:gd name="connsiteY3" fmla="*/ 4212477 h 8225084"/>
              <a:gd name="connsiteX4" fmla="*/ 3076691 w 4215937"/>
              <a:gd name="connsiteY4" fmla="*/ 5838077 h 8225084"/>
              <a:gd name="connsiteX5" fmla="*/ 3838691 w 4215937"/>
              <a:gd name="connsiteY5" fmla="*/ 7870077 h 8225084"/>
              <a:gd name="connsiteX6" fmla="*/ 3940291 w 4215937"/>
              <a:gd name="connsiteY6" fmla="*/ 8136777 h 8225084"/>
              <a:gd name="connsiteX7" fmla="*/ 193791 w 4215937"/>
              <a:gd name="connsiteY7" fmla="*/ 7990727 h 8225084"/>
              <a:gd name="connsiteX8" fmla="*/ 536691 w 4215937"/>
              <a:gd name="connsiteY8" fmla="*/ 5704727 h 8225084"/>
              <a:gd name="connsiteX9" fmla="*/ 2251191 w 4215937"/>
              <a:gd name="connsiteY9" fmla="*/ 8777 h 8225084"/>
              <a:gd name="connsiteX0" fmla="*/ 2448291 w 3580487"/>
              <a:gd name="connsiteY0" fmla="*/ 337693 h 8171229"/>
              <a:gd name="connsiteX1" fmla="*/ 3095991 w 3580487"/>
              <a:gd name="connsiteY1" fmla="*/ 1569593 h 8171229"/>
              <a:gd name="connsiteX2" fmla="*/ 2676891 w 3580487"/>
              <a:gd name="connsiteY2" fmla="*/ 2903093 h 8171229"/>
              <a:gd name="connsiteX3" fmla="*/ 3121391 w 3580487"/>
              <a:gd name="connsiteY3" fmla="*/ 4211193 h 8171229"/>
              <a:gd name="connsiteX4" fmla="*/ 2549891 w 3580487"/>
              <a:gd name="connsiteY4" fmla="*/ 5836793 h 8171229"/>
              <a:gd name="connsiteX5" fmla="*/ 3311891 w 3580487"/>
              <a:gd name="connsiteY5" fmla="*/ 7868793 h 8171229"/>
              <a:gd name="connsiteX6" fmla="*/ 3413491 w 3580487"/>
              <a:gd name="connsiteY6" fmla="*/ 8135493 h 8171229"/>
              <a:gd name="connsiteX7" fmla="*/ 1133841 w 3580487"/>
              <a:gd name="connsiteY7" fmla="*/ 7608443 h 8171229"/>
              <a:gd name="connsiteX8" fmla="*/ 9891 w 3580487"/>
              <a:gd name="connsiteY8" fmla="*/ 5703443 h 8171229"/>
              <a:gd name="connsiteX9" fmla="*/ 1724391 w 3580487"/>
              <a:gd name="connsiteY9" fmla="*/ 7493 h 8171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487" h="8171229">
                <a:moveTo>
                  <a:pt x="2448291" y="337693"/>
                </a:moveTo>
                <a:cubicBezTo>
                  <a:pt x="2753091" y="739859"/>
                  <a:pt x="3057891" y="1142026"/>
                  <a:pt x="3095991" y="1569593"/>
                </a:cubicBezTo>
                <a:cubicBezTo>
                  <a:pt x="3134091" y="1997160"/>
                  <a:pt x="2672658" y="2462826"/>
                  <a:pt x="2676891" y="2903093"/>
                </a:cubicBezTo>
                <a:cubicBezTo>
                  <a:pt x="2681124" y="3343360"/>
                  <a:pt x="3142558" y="3722243"/>
                  <a:pt x="3121391" y="4211193"/>
                </a:cubicBezTo>
                <a:cubicBezTo>
                  <a:pt x="3100224" y="4700143"/>
                  <a:pt x="2518141" y="5227193"/>
                  <a:pt x="2549891" y="5836793"/>
                </a:cubicBezTo>
                <a:cubicBezTo>
                  <a:pt x="2581641" y="6446393"/>
                  <a:pt x="3167958" y="7485676"/>
                  <a:pt x="3311891" y="7868793"/>
                </a:cubicBezTo>
                <a:cubicBezTo>
                  <a:pt x="3455824" y="8251910"/>
                  <a:pt x="3776499" y="8178885"/>
                  <a:pt x="3413491" y="8135493"/>
                </a:cubicBezTo>
                <a:cubicBezTo>
                  <a:pt x="3050483" y="8092101"/>
                  <a:pt x="1701108" y="8013785"/>
                  <a:pt x="1133841" y="7608443"/>
                </a:cubicBezTo>
                <a:cubicBezTo>
                  <a:pt x="566574" y="7203101"/>
                  <a:pt x="-88534" y="6970268"/>
                  <a:pt x="9891" y="5703443"/>
                </a:cubicBezTo>
                <a:cubicBezTo>
                  <a:pt x="108316" y="4436618"/>
                  <a:pt x="975091" y="-211582"/>
                  <a:pt x="1724391" y="7493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43E88-523C-09DD-57C2-D1044268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3905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Высококачественные геномы архаичных людей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59F7D9-9699-AB1A-AC66-A35015063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978025"/>
            <a:ext cx="979351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Одноцепочечный метод выделения древней ДНК 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Gansauge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and Meyer 2013)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Геномы древних людей с высоким покрытием: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Денисовского человека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(Meyer et al. 2012)</a:t>
            </a:r>
            <a:endParaRPr lang="ru-RU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Популяции неандертальцев Южной Сибири, названных «Алтайскими Неандертальцами»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Prüfer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et al. 2014)</a:t>
            </a:r>
            <a:endParaRPr lang="ru-RU" sz="2000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Подтверждена филогения гоминид </a:t>
            </a:r>
            <a:r>
              <a:rPr lang="en-US" sz="2000" dirty="0"/>
              <a:t>(</a:t>
            </a:r>
            <a:r>
              <a:rPr lang="en-US" sz="2000" dirty="0" err="1"/>
              <a:t>Prüfer</a:t>
            </a:r>
            <a:r>
              <a:rPr lang="en-US" sz="2000" dirty="0"/>
              <a:t> et al. 2014)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7790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C001E54A-499D-861B-0BB9-B4E7F0663523}"/>
              </a:ext>
            </a:extLst>
          </p:cNvPr>
          <p:cNvSpPr/>
          <p:nvPr/>
        </p:nvSpPr>
        <p:spPr>
          <a:xfrm>
            <a:off x="-1074966" y="-1714500"/>
            <a:ext cx="2362244" cy="9801336"/>
          </a:xfrm>
          <a:custGeom>
            <a:avLst/>
            <a:gdLst>
              <a:gd name="connsiteX0" fmla="*/ 1850196 w 2593190"/>
              <a:gd name="connsiteY0" fmla="*/ 1024744 h 9416380"/>
              <a:gd name="connsiteX1" fmla="*/ 2593146 w 2593190"/>
              <a:gd name="connsiteY1" fmla="*/ 2643994 h 9416380"/>
              <a:gd name="connsiteX2" fmla="*/ 1888296 w 2593190"/>
              <a:gd name="connsiteY2" fmla="*/ 3882244 h 9416380"/>
              <a:gd name="connsiteX3" fmla="*/ 2402646 w 2593190"/>
              <a:gd name="connsiteY3" fmla="*/ 4796644 h 9416380"/>
              <a:gd name="connsiteX4" fmla="*/ 1926396 w 2593190"/>
              <a:gd name="connsiteY4" fmla="*/ 5711044 h 9416380"/>
              <a:gd name="connsiteX5" fmla="*/ 2402646 w 2593190"/>
              <a:gd name="connsiteY5" fmla="*/ 7063594 h 9416380"/>
              <a:gd name="connsiteX6" fmla="*/ 1926396 w 2593190"/>
              <a:gd name="connsiteY6" fmla="*/ 7977994 h 9416380"/>
              <a:gd name="connsiteX7" fmla="*/ 2288346 w 2593190"/>
              <a:gd name="connsiteY7" fmla="*/ 8949544 h 9416380"/>
              <a:gd name="connsiteX8" fmla="*/ 211896 w 2593190"/>
              <a:gd name="connsiteY8" fmla="*/ 8701894 h 9416380"/>
              <a:gd name="connsiteX9" fmla="*/ 269046 w 2593190"/>
              <a:gd name="connsiteY9" fmla="*/ 719944 h 9416380"/>
              <a:gd name="connsiteX10" fmla="*/ 1983546 w 2593190"/>
              <a:gd name="connsiteY10" fmla="*/ 872344 h 941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3190" h="9416380">
                <a:moveTo>
                  <a:pt x="1850196" y="1024744"/>
                </a:moveTo>
                <a:cubicBezTo>
                  <a:pt x="2218496" y="1596244"/>
                  <a:pt x="2586796" y="2167744"/>
                  <a:pt x="2593146" y="2643994"/>
                </a:cubicBezTo>
                <a:cubicBezTo>
                  <a:pt x="2599496" y="3120244"/>
                  <a:pt x="1920046" y="3523469"/>
                  <a:pt x="1888296" y="3882244"/>
                </a:cubicBezTo>
                <a:cubicBezTo>
                  <a:pt x="1856546" y="4241019"/>
                  <a:pt x="2396296" y="4491844"/>
                  <a:pt x="2402646" y="4796644"/>
                </a:cubicBezTo>
                <a:cubicBezTo>
                  <a:pt x="2408996" y="5101444"/>
                  <a:pt x="1926396" y="5333219"/>
                  <a:pt x="1926396" y="5711044"/>
                </a:cubicBezTo>
                <a:cubicBezTo>
                  <a:pt x="1926396" y="6088869"/>
                  <a:pt x="2402646" y="6685769"/>
                  <a:pt x="2402646" y="7063594"/>
                </a:cubicBezTo>
                <a:cubicBezTo>
                  <a:pt x="2402646" y="7441419"/>
                  <a:pt x="1945446" y="7663669"/>
                  <a:pt x="1926396" y="7977994"/>
                </a:cubicBezTo>
                <a:cubicBezTo>
                  <a:pt x="1907346" y="8292319"/>
                  <a:pt x="2574096" y="8828894"/>
                  <a:pt x="2288346" y="8949544"/>
                </a:cubicBezTo>
                <a:cubicBezTo>
                  <a:pt x="2002596" y="9070194"/>
                  <a:pt x="548446" y="10073494"/>
                  <a:pt x="211896" y="8701894"/>
                </a:cubicBezTo>
                <a:cubicBezTo>
                  <a:pt x="-124654" y="7330294"/>
                  <a:pt x="-26229" y="2024869"/>
                  <a:pt x="269046" y="719944"/>
                </a:cubicBezTo>
                <a:cubicBezTo>
                  <a:pt x="564321" y="-584981"/>
                  <a:pt x="1273933" y="143681"/>
                  <a:pt x="1983546" y="872344"/>
                </a:cubicBezTo>
              </a:path>
            </a:pathLst>
          </a:custGeom>
          <a:gradFill>
            <a:gsLst>
              <a:gs pos="85000">
                <a:schemeClr val="accent5">
                  <a:lumMod val="60000"/>
                  <a:lumOff val="40000"/>
                </a:schemeClr>
              </a:gs>
              <a:gs pos="60000">
                <a:schemeClr val="accent4">
                  <a:lumMod val="60000"/>
                  <a:lumOff val="40000"/>
                </a:schemeClr>
              </a:gs>
              <a:gs pos="45000">
                <a:schemeClr val="accent2">
                  <a:lumMod val="60000"/>
                  <a:lumOff val="40000"/>
                </a:schemeClr>
              </a:gs>
              <a:gs pos="3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CAA22-3F3A-FB17-C723-F12C5DC1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94" y="1885950"/>
            <a:ext cx="10017865" cy="3200400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Поток генов между группами людей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A98BCA99-AAB9-C2AD-75C7-4F2F1C47A3A2}"/>
              </a:ext>
            </a:extLst>
          </p:cNvPr>
          <p:cNvSpPr/>
          <p:nvPr/>
        </p:nvSpPr>
        <p:spPr>
          <a:xfrm>
            <a:off x="-1458312" y="-1481944"/>
            <a:ext cx="2593190" cy="9416380"/>
          </a:xfrm>
          <a:custGeom>
            <a:avLst/>
            <a:gdLst>
              <a:gd name="connsiteX0" fmla="*/ 1850196 w 2593190"/>
              <a:gd name="connsiteY0" fmla="*/ 1024744 h 9416380"/>
              <a:gd name="connsiteX1" fmla="*/ 2593146 w 2593190"/>
              <a:gd name="connsiteY1" fmla="*/ 2643994 h 9416380"/>
              <a:gd name="connsiteX2" fmla="*/ 1888296 w 2593190"/>
              <a:gd name="connsiteY2" fmla="*/ 3882244 h 9416380"/>
              <a:gd name="connsiteX3" fmla="*/ 2402646 w 2593190"/>
              <a:gd name="connsiteY3" fmla="*/ 4796644 h 9416380"/>
              <a:gd name="connsiteX4" fmla="*/ 1926396 w 2593190"/>
              <a:gd name="connsiteY4" fmla="*/ 5711044 h 9416380"/>
              <a:gd name="connsiteX5" fmla="*/ 2402646 w 2593190"/>
              <a:gd name="connsiteY5" fmla="*/ 7063594 h 9416380"/>
              <a:gd name="connsiteX6" fmla="*/ 1926396 w 2593190"/>
              <a:gd name="connsiteY6" fmla="*/ 7977994 h 9416380"/>
              <a:gd name="connsiteX7" fmla="*/ 2288346 w 2593190"/>
              <a:gd name="connsiteY7" fmla="*/ 8949544 h 9416380"/>
              <a:gd name="connsiteX8" fmla="*/ 211896 w 2593190"/>
              <a:gd name="connsiteY8" fmla="*/ 8701894 h 9416380"/>
              <a:gd name="connsiteX9" fmla="*/ 269046 w 2593190"/>
              <a:gd name="connsiteY9" fmla="*/ 719944 h 9416380"/>
              <a:gd name="connsiteX10" fmla="*/ 1983546 w 2593190"/>
              <a:gd name="connsiteY10" fmla="*/ 872344 h 941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3190" h="9416380">
                <a:moveTo>
                  <a:pt x="1850196" y="1024744"/>
                </a:moveTo>
                <a:cubicBezTo>
                  <a:pt x="2218496" y="1596244"/>
                  <a:pt x="2586796" y="2167744"/>
                  <a:pt x="2593146" y="2643994"/>
                </a:cubicBezTo>
                <a:cubicBezTo>
                  <a:pt x="2599496" y="3120244"/>
                  <a:pt x="1920046" y="3523469"/>
                  <a:pt x="1888296" y="3882244"/>
                </a:cubicBezTo>
                <a:cubicBezTo>
                  <a:pt x="1856546" y="4241019"/>
                  <a:pt x="2396296" y="4491844"/>
                  <a:pt x="2402646" y="4796644"/>
                </a:cubicBezTo>
                <a:cubicBezTo>
                  <a:pt x="2408996" y="5101444"/>
                  <a:pt x="1926396" y="5333219"/>
                  <a:pt x="1926396" y="5711044"/>
                </a:cubicBezTo>
                <a:cubicBezTo>
                  <a:pt x="1926396" y="6088869"/>
                  <a:pt x="2402646" y="6685769"/>
                  <a:pt x="2402646" y="7063594"/>
                </a:cubicBezTo>
                <a:cubicBezTo>
                  <a:pt x="2402646" y="7441419"/>
                  <a:pt x="1945446" y="7663669"/>
                  <a:pt x="1926396" y="7977994"/>
                </a:cubicBezTo>
                <a:cubicBezTo>
                  <a:pt x="1907346" y="8292319"/>
                  <a:pt x="2574096" y="8828894"/>
                  <a:pt x="2288346" y="8949544"/>
                </a:cubicBezTo>
                <a:cubicBezTo>
                  <a:pt x="2002596" y="9070194"/>
                  <a:pt x="548446" y="10073494"/>
                  <a:pt x="211896" y="8701894"/>
                </a:cubicBezTo>
                <a:cubicBezTo>
                  <a:pt x="-124654" y="7330294"/>
                  <a:pt x="-26229" y="2024869"/>
                  <a:pt x="269046" y="719944"/>
                </a:cubicBezTo>
                <a:cubicBezTo>
                  <a:pt x="564321" y="-584981"/>
                  <a:pt x="1273933" y="143681"/>
                  <a:pt x="1983546" y="872344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578A3174-763D-A1A6-61D8-AE942A45AE8B}"/>
              </a:ext>
            </a:extLst>
          </p:cNvPr>
          <p:cNvSpPr/>
          <p:nvPr/>
        </p:nvSpPr>
        <p:spPr>
          <a:xfrm rot="10800000">
            <a:off x="10891491" y="-1325588"/>
            <a:ext cx="2362244" cy="10107638"/>
          </a:xfrm>
          <a:custGeom>
            <a:avLst/>
            <a:gdLst>
              <a:gd name="connsiteX0" fmla="*/ 1850196 w 2593190"/>
              <a:gd name="connsiteY0" fmla="*/ 1024744 h 9416380"/>
              <a:gd name="connsiteX1" fmla="*/ 2593146 w 2593190"/>
              <a:gd name="connsiteY1" fmla="*/ 2643994 h 9416380"/>
              <a:gd name="connsiteX2" fmla="*/ 1888296 w 2593190"/>
              <a:gd name="connsiteY2" fmla="*/ 3882244 h 9416380"/>
              <a:gd name="connsiteX3" fmla="*/ 2402646 w 2593190"/>
              <a:gd name="connsiteY3" fmla="*/ 4796644 h 9416380"/>
              <a:gd name="connsiteX4" fmla="*/ 1926396 w 2593190"/>
              <a:gd name="connsiteY4" fmla="*/ 5711044 h 9416380"/>
              <a:gd name="connsiteX5" fmla="*/ 2402646 w 2593190"/>
              <a:gd name="connsiteY5" fmla="*/ 7063594 h 9416380"/>
              <a:gd name="connsiteX6" fmla="*/ 1926396 w 2593190"/>
              <a:gd name="connsiteY6" fmla="*/ 7977994 h 9416380"/>
              <a:gd name="connsiteX7" fmla="*/ 2288346 w 2593190"/>
              <a:gd name="connsiteY7" fmla="*/ 8949544 h 9416380"/>
              <a:gd name="connsiteX8" fmla="*/ 211896 w 2593190"/>
              <a:gd name="connsiteY8" fmla="*/ 8701894 h 9416380"/>
              <a:gd name="connsiteX9" fmla="*/ 269046 w 2593190"/>
              <a:gd name="connsiteY9" fmla="*/ 719944 h 9416380"/>
              <a:gd name="connsiteX10" fmla="*/ 1983546 w 2593190"/>
              <a:gd name="connsiteY10" fmla="*/ 872344 h 941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3190" h="9416380">
                <a:moveTo>
                  <a:pt x="1850196" y="1024744"/>
                </a:moveTo>
                <a:cubicBezTo>
                  <a:pt x="2218496" y="1596244"/>
                  <a:pt x="2586796" y="2167744"/>
                  <a:pt x="2593146" y="2643994"/>
                </a:cubicBezTo>
                <a:cubicBezTo>
                  <a:pt x="2599496" y="3120244"/>
                  <a:pt x="1920046" y="3523469"/>
                  <a:pt x="1888296" y="3882244"/>
                </a:cubicBezTo>
                <a:cubicBezTo>
                  <a:pt x="1856546" y="4241019"/>
                  <a:pt x="2396296" y="4491844"/>
                  <a:pt x="2402646" y="4796644"/>
                </a:cubicBezTo>
                <a:cubicBezTo>
                  <a:pt x="2408996" y="5101444"/>
                  <a:pt x="1926396" y="5333219"/>
                  <a:pt x="1926396" y="5711044"/>
                </a:cubicBezTo>
                <a:cubicBezTo>
                  <a:pt x="1926396" y="6088869"/>
                  <a:pt x="2402646" y="6685769"/>
                  <a:pt x="2402646" y="7063594"/>
                </a:cubicBezTo>
                <a:cubicBezTo>
                  <a:pt x="2402646" y="7441419"/>
                  <a:pt x="1945446" y="7663669"/>
                  <a:pt x="1926396" y="7977994"/>
                </a:cubicBezTo>
                <a:cubicBezTo>
                  <a:pt x="1907346" y="8292319"/>
                  <a:pt x="2574096" y="8828894"/>
                  <a:pt x="2288346" y="8949544"/>
                </a:cubicBezTo>
                <a:cubicBezTo>
                  <a:pt x="2002596" y="9070194"/>
                  <a:pt x="548446" y="10073494"/>
                  <a:pt x="211896" y="8701894"/>
                </a:cubicBezTo>
                <a:cubicBezTo>
                  <a:pt x="-124654" y="7330294"/>
                  <a:pt x="-26229" y="2024869"/>
                  <a:pt x="269046" y="719944"/>
                </a:cubicBezTo>
                <a:cubicBezTo>
                  <a:pt x="564321" y="-584981"/>
                  <a:pt x="1273933" y="143681"/>
                  <a:pt x="1983546" y="872344"/>
                </a:cubicBezTo>
              </a:path>
            </a:pathLst>
          </a:custGeom>
          <a:gradFill>
            <a:gsLst>
              <a:gs pos="90000">
                <a:schemeClr val="accent5">
                  <a:lumMod val="60000"/>
                  <a:lumOff val="40000"/>
                </a:schemeClr>
              </a:gs>
              <a:gs pos="60000">
                <a:schemeClr val="accent4">
                  <a:lumMod val="60000"/>
                  <a:lumOff val="40000"/>
                </a:schemeClr>
              </a:gs>
              <a:gs pos="45000">
                <a:schemeClr val="accent2">
                  <a:lumMod val="60000"/>
                  <a:lumOff val="40000"/>
                </a:schemeClr>
              </a:gs>
              <a:gs pos="3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DA315635-D5EA-CD50-8D6C-F866C8F0CC7F}"/>
              </a:ext>
            </a:extLst>
          </p:cNvPr>
          <p:cNvSpPr/>
          <p:nvPr/>
        </p:nvSpPr>
        <p:spPr>
          <a:xfrm rot="10800000">
            <a:off x="11043892" y="-925538"/>
            <a:ext cx="2593190" cy="9416380"/>
          </a:xfrm>
          <a:custGeom>
            <a:avLst/>
            <a:gdLst>
              <a:gd name="connsiteX0" fmla="*/ 1850196 w 2593190"/>
              <a:gd name="connsiteY0" fmla="*/ 1024744 h 9416380"/>
              <a:gd name="connsiteX1" fmla="*/ 2593146 w 2593190"/>
              <a:gd name="connsiteY1" fmla="*/ 2643994 h 9416380"/>
              <a:gd name="connsiteX2" fmla="*/ 1888296 w 2593190"/>
              <a:gd name="connsiteY2" fmla="*/ 3882244 h 9416380"/>
              <a:gd name="connsiteX3" fmla="*/ 2402646 w 2593190"/>
              <a:gd name="connsiteY3" fmla="*/ 4796644 h 9416380"/>
              <a:gd name="connsiteX4" fmla="*/ 1926396 w 2593190"/>
              <a:gd name="connsiteY4" fmla="*/ 5711044 h 9416380"/>
              <a:gd name="connsiteX5" fmla="*/ 2402646 w 2593190"/>
              <a:gd name="connsiteY5" fmla="*/ 7063594 h 9416380"/>
              <a:gd name="connsiteX6" fmla="*/ 1926396 w 2593190"/>
              <a:gd name="connsiteY6" fmla="*/ 7977994 h 9416380"/>
              <a:gd name="connsiteX7" fmla="*/ 2288346 w 2593190"/>
              <a:gd name="connsiteY7" fmla="*/ 8949544 h 9416380"/>
              <a:gd name="connsiteX8" fmla="*/ 211896 w 2593190"/>
              <a:gd name="connsiteY8" fmla="*/ 8701894 h 9416380"/>
              <a:gd name="connsiteX9" fmla="*/ 269046 w 2593190"/>
              <a:gd name="connsiteY9" fmla="*/ 719944 h 9416380"/>
              <a:gd name="connsiteX10" fmla="*/ 1983546 w 2593190"/>
              <a:gd name="connsiteY10" fmla="*/ 872344 h 941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3190" h="9416380">
                <a:moveTo>
                  <a:pt x="1850196" y="1024744"/>
                </a:moveTo>
                <a:cubicBezTo>
                  <a:pt x="2218496" y="1596244"/>
                  <a:pt x="2586796" y="2167744"/>
                  <a:pt x="2593146" y="2643994"/>
                </a:cubicBezTo>
                <a:cubicBezTo>
                  <a:pt x="2599496" y="3120244"/>
                  <a:pt x="1920046" y="3523469"/>
                  <a:pt x="1888296" y="3882244"/>
                </a:cubicBezTo>
                <a:cubicBezTo>
                  <a:pt x="1856546" y="4241019"/>
                  <a:pt x="2396296" y="4491844"/>
                  <a:pt x="2402646" y="4796644"/>
                </a:cubicBezTo>
                <a:cubicBezTo>
                  <a:pt x="2408996" y="5101444"/>
                  <a:pt x="1926396" y="5333219"/>
                  <a:pt x="1926396" y="5711044"/>
                </a:cubicBezTo>
                <a:cubicBezTo>
                  <a:pt x="1926396" y="6088869"/>
                  <a:pt x="2402646" y="6685769"/>
                  <a:pt x="2402646" y="7063594"/>
                </a:cubicBezTo>
                <a:cubicBezTo>
                  <a:pt x="2402646" y="7441419"/>
                  <a:pt x="1945446" y="7663669"/>
                  <a:pt x="1926396" y="7977994"/>
                </a:cubicBezTo>
                <a:cubicBezTo>
                  <a:pt x="1907346" y="8292319"/>
                  <a:pt x="2574096" y="8828894"/>
                  <a:pt x="2288346" y="8949544"/>
                </a:cubicBezTo>
                <a:cubicBezTo>
                  <a:pt x="2002596" y="9070194"/>
                  <a:pt x="548446" y="10073494"/>
                  <a:pt x="211896" y="8701894"/>
                </a:cubicBezTo>
                <a:cubicBezTo>
                  <a:pt x="-124654" y="7330294"/>
                  <a:pt x="-26229" y="2024869"/>
                  <a:pt x="269046" y="719944"/>
                </a:cubicBezTo>
                <a:cubicBezTo>
                  <a:pt x="564321" y="-584981"/>
                  <a:pt x="1273933" y="143681"/>
                  <a:pt x="1983546" y="872344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5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2D6989-AEA9-6A0F-00FD-40F3069D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488" y="1534319"/>
            <a:ext cx="5740400" cy="4770438"/>
          </a:xfrm>
          <a:prstGeom prst="rect">
            <a:avLst/>
          </a:prstGeom>
        </p:spPr>
      </p:pic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DDB9116A-C160-9CD9-11ED-97294BD3B115}"/>
              </a:ext>
            </a:extLst>
          </p:cNvPr>
          <p:cNvSpPr/>
          <p:nvPr/>
        </p:nvSpPr>
        <p:spPr>
          <a:xfrm>
            <a:off x="-997679" y="-1633498"/>
            <a:ext cx="8066076" cy="10002798"/>
          </a:xfrm>
          <a:custGeom>
            <a:avLst/>
            <a:gdLst>
              <a:gd name="connsiteX0" fmla="*/ 7093679 w 8066076"/>
              <a:gd name="connsiteY0" fmla="*/ 8123198 h 9086734"/>
              <a:gd name="connsiteX1" fmla="*/ 7754079 w 8066076"/>
              <a:gd name="connsiteY1" fmla="*/ 6789698 h 9086734"/>
              <a:gd name="connsiteX2" fmla="*/ 7411179 w 8066076"/>
              <a:gd name="connsiteY2" fmla="*/ 4376698 h 9086734"/>
              <a:gd name="connsiteX3" fmla="*/ 8058879 w 8066076"/>
              <a:gd name="connsiteY3" fmla="*/ 2598698 h 9086734"/>
              <a:gd name="connsiteX4" fmla="*/ 7728679 w 8066076"/>
              <a:gd name="connsiteY4" fmla="*/ 807998 h 9086734"/>
              <a:gd name="connsiteX5" fmla="*/ 7271479 w 8066076"/>
              <a:gd name="connsiteY5" fmla="*/ 477798 h 9086734"/>
              <a:gd name="connsiteX6" fmla="*/ 1086579 w 8066076"/>
              <a:gd name="connsiteY6" fmla="*/ 655598 h 9086734"/>
              <a:gd name="connsiteX7" fmla="*/ 527779 w 8066076"/>
              <a:gd name="connsiteY7" fmla="*/ 8567698 h 9086734"/>
              <a:gd name="connsiteX8" fmla="*/ 6649179 w 8066076"/>
              <a:gd name="connsiteY8" fmla="*/ 8351798 h 9086734"/>
              <a:gd name="connsiteX9" fmla="*/ 6636479 w 8066076"/>
              <a:gd name="connsiteY9" fmla="*/ 8313698 h 9086734"/>
              <a:gd name="connsiteX10" fmla="*/ 6941279 w 8066076"/>
              <a:gd name="connsiteY10" fmla="*/ 8593098 h 908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66076" h="9086734">
                <a:moveTo>
                  <a:pt x="7093679" y="8123198"/>
                </a:moveTo>
                <a:cubicBezTo>
                  <a:pt x="7397420" y="7768656"/>
                  <a:pt x="7701162" y="7414115"/>
                  <a:pt x="7754079" y="6789698"/>
                </a:cubicBezTo>
                <a:cubicBezTo>
                  <a:pt x="7806996" y="6165281"/>
                  <a:pt x="7360379" y="5075198"/>
                  <a:pt x="7411179" y="4376698"/>
                </a:cubicBezTo>
                <a:cubicBezTo>
                  <a:pt x="7461979" y="3678198"/>
                  <a:pt x="8005962" y="3193481"/>
                  <a:pt x="8058879" y="2598698"/>
                </a:cubicBezTo>
                <a:cubicBezTo>
                  <a:pt x="8111796" y="2003915"/>
                  <a:pt x="7859912" y="1161481"/>
                  <a:pt x="7728679" y="807998"/>
                </a:cubicBezTo>
                <a:cubicBezTo>
                  <a:pt x="7597446" y="454515"/>
                  <a:pt x="7271479" y="477798"/>
                  <a:pt x="7271479" y="477798"/>
                </a:cubicBezTo>
                <a:cubicBezTo>
                  <a:pt x="6164462" y="452398"/>
                  <a:pt x="2210529" y="-692719"/>
                  <a:pt x="1086579" y="655598"/>
                </a:cubicBezTo>
                <a:cubicBezTo>
                  <a:pt x="-37371" y="2003915"/>
                  <a:pt x="-399321" y="7284998"/>
                  <a:pt x="527779" y="8567698"/>
                </a:cubicBezTo>
                <a:cubicBezTo>
                  <a:pt x="1454879" y="9850398"/>
                  <a:pt x="6649179" y="8351798"/>
                  <a:pt x="6649179" y="8351798"/>
                </a:cubicBezTo>
                <a:cubicBezTo>
                  <a:pt x="7667296" y="8309465"/>
                  <a:pt x="6587796" y="8273481"/>
                  <a:pt x="6636479" y="8313698"/>
                </a:cubicBezTo>
                <a:cubicBezTo>
                  <a:pt x="6685162" y="8353915"/>
                  <a:pt x="6813220" y="8473506"/>
                  <a:pt x="6941279" y="8593098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61BCDE75-74F7-2791-E647-FCB3C875807E}"/>
              </a:ext>
            </a:extLst>
          </p:cNvPr>
          <p:cNvSpPr/>
          <p:nvPr/>
        </p:nvSpPr>
        <p:spPr>
          <a:xfrm>
            <a:off x="-1315179" y="-1061998"/>
            <a:ext cx="8066076" cy="9086734"/>
          </a:xfrm>
          <a:custGeom>
            <a:avLst/>
            <a:gdLst>
              <a:gd name="connsiteX0" fmla="*/ 7093679 w 8066076"/>
              <a:gd name="connsiteY0" fmla="*/ 8123198 h 9086734"/>
              <a:gd name="connsiteX1" fmla="*/ 7754079 w 8066076"/>
              <a:gd name="connsiteY1" fmla="*/ 6789698 h 9086734"/>
              <a:gd name="connsiteX2" fmla="*/ 7411179 w 8066076"/>
              <a:gd name="connsiteY2" fmla="*/ 4376698 h 9086734"/>
              <a:gd name="connsiteX3" fmla="*/ 8058879 w 8066076"/>
              <a:gd name="connsiteY3" fmla="*/ 2598698 h 9086734"/>
              <a:gd name="connsiteX4" fmla="*/ 7728679 w 8066076"/>
              <a:gd name="connsiteY4" fmla="*/ 807998 h 9086734"/>
              <a:gd name="connsiteX5" fmla="*/ 7271479 w 8066076"/>
              <a:gd name="connsiteY5" fmla="*/ 477798 h 9086734"/>
              <a:gd name="connsiteX6" fmla="*/ 1086579 w 8066076"/>
              <a:gd name="connsiteY6" fmla="*/ 655598 h 9086734"/>
              <a:gd name="connsiteX7" fmla="*/ 527779 w 8066076"/>
              <a:gd name="connsiteY7" fmla="*/ 8567698 h 9086734"/>
              <a:gd name="connsiteX8" fmla="*/ 6649179 w 8066076"/>
              <a:gd name="connsiteY8" fmla="*/ 8351798 h 9086734"/>
              <a:gd name="connsiteX9" fmla="*/ 6636479 w 8066076"/>
              <a:gd name="connsiteY9" fmla="*/ 8313698 h 9086734"/>
              <a:gd name="connsiteX10" fmla="*/ 6941279 w 8066076"/>
              <a:gd name="connsiteY10" fmla="*/ 8593098 h 908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66076" h="9086734">
                <a:moveTo>
                  <a:pt x="7093679" y="8123198"/>
                </a:moveTo>
                <a:cubicBezTo>
                  <a:pt x="7397420" y="7768656"/>
                  <a:pt x="7701162" y="7414115"/>
                  <a:pt x="7754079" y="6789698"/>
                </a:cubicBezTo>
                <a:cubicBezTo>
                  <a:pt x="7806996" y="6165281"/>
                  <a:pt x="7360379" y="5075198"/>
                  <a:pt x="7411179" y="4376698"/>
                </a:cubicBezTo>
                <a:cubicBezTo>
                  <a:pt x="7461979" y="3678198"/>
                  <a:pt x="8005962" y="3193481"/>
                  <a:pt x="8058879" y="2598698"/>
                </a:cubicBezTo>
                <a:cubicBezTo>
                  <a:pt x="8111796" y="2003915"/>
                  <a:pt x="7859912" y="1161481"/>
                  <a:pt x="7728679" y="807998"/>
                </a:cubicBezTo>
                <a:cubicBezTo>
                  <a:pt x="7597446" y="454515"/>
                  <a:pt x="7271479" y="477798"/>
                  <a:pt x="7271479" y="477798"/>
                </a:cubicBezTo>
                <a:cubicBezTo>
                  <a:pt x="6164462" y="452398"/>
                  <a:pt x="2210529" y="-692719"/>
                  <a:pt x="1086579" y="655598"/>
                </a:cubicBezTo>
                <a:cubicBezTo>
                  <a:pt x="-37371" y="2003915"/>
                  <a:pt x="-399321" y="7284998"/>
                  <a:pt x="527779" y="8567698"/>
                </a:cubicBezTo>
                <a:cubicBezTo>
                  <a:pt x="1454879" y="9850398"/>
                  <a:pt x="6649179" y="8351798"/>
                  <a:pt x="6649179" y="8351798"/>
                </a:cubicBezTo>
                <a:cubicBezTo>
                  <a:pt x="7667296" y="8309465"/>
                  <a:pt x="6587796" y="8273481"/>
                  <a:pt x="6636479" y="8313698"/>
                </a:cubicBezTo>
                <a:cubicBezTo>
                  <a:pt x="6685162" y="8353915"/>
                  <a:pt x="6813220" y="8473506"/>
                  <a:pt x="6941279" y="859309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38BB-C210-D6C0-021B-B0CA68B8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21672"/>
            <a:ext cx="6762750" cy="1325563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Неандертальцы – Современные люди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37A5B-AC83-96D4-DB6E-890E0378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669143"/>
            <a:ext cx="5892800" cy="518024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Время дивергенции 270-440 тыс. лет назад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Не-африканцы генетически более схожи с Неандертальцами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Н. ближе к Европейцам и Восточным Азиатам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Н. делят с не-африканцами 1,5-2,1% всей ДНК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Н-кие аллели в геномах современных людей ближе к геномам из Мезмайской пещеры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Направление потока генов: Н. → Современные люди</a:t>
            </a:r>
          </a:p>
        </p:txBody>
      </p:sp>
    </p:spTree>
    <p:extLst>
      <p:ext uri="{BB962C8B-B14F-4D97-AF65-F5344CB8AC3E}">
        <p14:creationId xmlns:p14="http://schemas.microsoft.com/office/powerpoint/2010/main" val="1031028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2D6989-AEA9-6A0F-00FD-40F3069D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488" y="1534319"/>
            <a:ext cx="5740400" cy="4770438"/>
          </a:xfrm>
          <a:prstGeom prst="rect">
            <a:avLst/>
          </a:prstGeom>
        </p:spPr>
      </p:pic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6B02CF6F-E8C0-9A9C-77E8-3996B6BA53DC}"/>
              </a:ext>
            </a:extLst>
          </p:cNvPr>
          <p:cNvSpPr/>
          <p:nvPr/>
        </p:nvSpPr>
        <p:spPr>
          <a:xfrm>
            <a:off x="-997679" y="-1633498"/>
            <a:ext cx="8066076" cy="10002798"/>
          </a:xfrm>
          <a:custGeom>
            <a:avLst/>
            <a:gdLst>
              <a:gd name="connsiteX0" fmla="*/ 7093679 w 8066076"/>
              <a:gd name="connsiteY0" fmla="*/ 8123198 h 9086734"/>
              <a:gd name="connsiteX1" fmla="*/ 7754079 w 8066076"/>
              <a:gd name="connsiteY1" fmla="*/ 6789698 h 9086734"/>
              <a:gd name="connsiteX2" fmla="*/ 7411179 w 8066076"/>
              <a:gd name="connsiteY2" fmla="*/ 4376698 h 9086734"/>
              <a:gd name="connsiteX3" fmla="*/ 8058879 w 8066076"/>
              <a:gd name="connsiteY3" fmla="*/ 2598698 h 9086734"/>
              <a:gd name="connsiteX4" fmla="*/ 7728679 w 8066076"/>
              <a:gd name="connsiteY4" fmla="*/ 807998 h 9086734"/>
              <a:gd name="connsiteX5" fmla="*/ 7271479 w 8066076"/>
              <a:gd name="connsiteY5" fmla="*/ 477798 h 9086734"/>
              <a:gd name="connsiteX6" fmla="*/ 1086579 w 8066076"/>
              <a:gd name="connsiteY6" fmla="*/ 655598 h 9086734"/>
              <a:gd name="connsiteX7" fmla="*/ 527779 w 8066076"/>
              <a:gd name="connsiteY7" fmla="*/ 8567698 h 9086734"/>
              <a:gd name="connsiteX8" fmla="*/ 6649179 w 8066076"/>
              <a:gd name="connsiteY8" fmla="*/ 8351798 h 9086734"/>
              <a:gd name="connsiteX9" fmla="*/ 6636479 w 8066076"/>
              <a:gd name="connsiteY9" fmla="*/ 8313698 h 9086734"/>
              <a:gd name="connsiteX10" fmla="*/ 6941279 w 8066076"/>
              <a:gd name="connsiteY10" fmla="*/ 8593098 h 908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66076" h="9086734">
                <a:moveTo>
                  <a:pt x="7093679" y="8123198"/>
                </a:moveTo>
                <a:cubicBezTo>
                  <a:pt x="7397420" y="7768656"/>
                  <a:pt x="7701162" y="7414115"/>
                  <a:pt x="7754079" y="6789698"/>
                </a:cubicBezTo>
                <a:cubicBezTo>
                  <a:pt x="7806996" y="6165281"/>
                  <a:pt x="7360379" y="5075198"/>
                  <a:pt x="7411179" y="4376698"/>
                </a:cubicBezTo>
                <a:cubicBezTo>
                  <a:pt x="7461979" y="3678198"/>
                  <a:pt x="8005962" y="3193481"/>
                  <a:pt x="8058879" y="2598698"/>
                </a:cubicBezTo>
                <a:cubicBezTo>
                  <a:pt x="8111796" y="2003915"/>
                  <a:pt x="7859912" y="1161481"/>
                  <a:pt x="7728679" y="807998"/>
                </a:cubicBezTo>
                <a:cubicBezTo>
                  <a:pt x="7597446" y="454515"/>
                  <a:pt x="7271479" y="477798"/>
                  <a:pt x="7271479" y="477798"/>
                </a:cubicBezTo>
                <a:cubicBezTo>
                  <a:pt x="6164462" y="452398"/>
                  <a:pt x="2210529" y="-692719"/>
                  <a:pt x="1086579" y="655598"/>
                </a:cubicBezTo>
                <a:cubicBezTo>
                  <a:pt x="-37371" y="2003915"/>
                  <a:pt x="-399321" y="7284998"/>
                  <a:pt x="527779" y="8567698"/>
                </a:cubicBezTo>
                <a:cubicBezTo>
                  <a:pt x="1454879" y="9850398"/>
                  <a:pt x="6649179" y="8351798"/>
                  <a:pt x="6649179" y="8351798"/>
                </a:cubicBezTo>
                <a:cubicBezTo>
                  <a:pt x="7667296" y="8309465"/>
                  <a:pt x="6587796" y="8273481"/>
                  <a:pt x="6636479" y="8313698"/>
                </a:cubicBezTo>
                <a:cubicBezTo>
                  <a:pt x="6685162" y="8353915"/>
                  <a:pt x="6813220" y="8473506"/>
                  <a:pt x="6941279" y="8593098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3CD44EF7-FD52-3946-1AC1-7AF156EBAF7C}"/>
              </a:ext>
            </a:extLst>
          </p:cNvPr>
          <p:cNvSpPr/>
          <p:nvPr/>
        </p:nvSpPr>
        <p:spPr>
          <a:xfrm>
            <a:off x="-1315179" y="-1061998"/>
            <a:ext cx="8066076" cy="9086734"/>
          </a:xfrm>
          <a:custGeom>
            <a:avLst/>
            <a:gdLst>
              <a:gd name="connsiteX0" fmla="*/ 7093679 w 8066076"/>
              <a:gd name="connsiteY0" fmla="*/ 8123198 h 9086734"/>
              <a:gd name="connsiteX1" fmla="*/ 7754079 w 8066076"/>
              <a:gd name="connsiteY1" fmla="*/ 6789698 h 9086734"/>
              <a:gd name="connsiteX2" fmla="*/ 7411179 w 8066076"/>
              <a:gd name="connsiteY2" fmla="*/ 4376698 h 9086734"/>
              <a:gd name="connsiteX3" fmla="*/ 8058879 w 8066076"/>
              <a:gd name="connsiteY3" fmla="*/ 2598698 h 9086734"/>
              <a:gd name="connsiteX4" fmla="*/ 7728679 w 8066076"/>
              <a:gd name="connsiteY4" fmla="*/ 807998 h 9086734"/>
              <a:gd name="connsiteX5" fmla="*/ 7271479 w 8066076"/>
              <a:gd name="connsiteY5" fmla="*/ 477798 h 9086734"/>
              <a:gd name="connsiteX6" fmla="*/ 1086579 w 8066076"/>
              <a:gd name="connsiteY6" fmla="*/ 655598 h 9086734"/>
              <a:gd name="connsiteX7" fmla="*/ 527779 w 8066076"/>
              <a:gd name="connsiteY7" fmla="*/ 8567698 h 9086734"/>
              <a:gd name="connsiteX8" fmla="*/ 6649179 w 8066076"/>
              <a:gd name="connsiteY8" fmla="*/ 8351798 h 9086734"/>
              <a:gd name="connsiteX9" fmla="*/ 6636479 w 8066076"/>
              <a:gd name="connsiteY9" fmla="*/ 8313698 h 9086734"/>
              <a:gd name="connsiteX10" fmla="*/ 6941279 w 8066076"/>
              <a:gd name="connsiteY10" fmla="*/ 8593098 h 908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66076" h="9086734">
                <a:moveTo>
                  <a:pt x="7093679" y="8123198"/>
                </a:moveTo>
                <a:cubicBezTo>
                  <a:pt x="7397420" y="7768656"/>
                  <a:pt x="7701162" y="7414115"/>
                  <a:pt x="7754079" y="6789698"/>
                </a:cubicBezTo>
                <a:cubicBezTo>
                  <a:pt x="7806996" y="6165281"/>
                  <a:pt x="7360379" y="5075198"/>
                  <a:pt x="7411179" y="4376698"/>
                </a:cubicBezTo>
                <a:cubicBezTo>
                  <a:pt x="7461979" y="3678198"/>
                  <a:pt x="8005962" y="3193481"/>
                  <a:pt x="8058879" y="2598698"/>
                </a:cubicBezTo>
                <a:cubicBezTo>
                  <a:pt x="8111796" y="2003915"/>
                  <a:pt x="7859912" y="1161481"/>
                  <a:pt x="7728679" y="807998"/>
                </a:cubicBezTo>
                <a:cubicBezTo>
                  <a:pt x="7597446" y="454515"/>
                  <a:pt x="7271479" y="477798"/>
                  <a:pt x="7271479" y="477798"/>
                </a:cubicBezTo>
                <a:cubicBezTo>
                  <a:pt x="6164462" y="452398"/>
                  <a:pt x="2210529" y="-692719"/>
                  <a:pt x="1086579" y="655598"/>
                </a:cubicBezTo>
                <a:cubicBezTo>
                  <a:pt x="-37371" y="2003915"/>
                  <a:pt x="-399321" y="7284998"/>
                  <a:pt x="527779" y="8567698"/>
                </a:cubicBezTo>
                <a:cubicBezTo>
                  <a:pt x="1454879" y="9850398"/>
                  <a:pt x="6649179" y="8351798"/>
                  <a:pt x="6649179" y="8351798"/>
                </a:cubicBezTo>
                <a:cubicBezTo>
                  <a:pt x="7667296" y="8309465"/>
                  <a:pt x="6587796" y="8273481"/>
                  <a:pt x="6636479" y="8313698"/>
                </a:cubicBezTo>
                <a:cubicBezTo>
                  <a:pt x="6685162" y="8353915"/>
                  <a:pt x="6813220" y="8473506"/>
                  <a:pt x="6941279" y="859309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38BB-C210-D6C0-021B-B0CA68B8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208756"/>
            <a:ext cx="6762750" cy="1325563"/>
          </a:xfrm>
        </p:spPr>
        <p:txBody>
          <a:bodyPr/>
          <a:lstStyle/>
          <a:p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Денисовцы – Современные люди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37A5B-AC83-96D4-DB6E-890E0378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857375"/>
            <a:ext cx="5892800" cy="4992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Меланезийцы генетически более сходны с Денисовцами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4,8±0,5% генома меланезийцев произошла от Денисовцев. – </a:t>
            </a:r>
          </a:p>
          <a:p>
            <a:pPr marL="0" indent="0">
              <a:buNone/>
            </a:pP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Происходила слабая гибридизация между Денисовцами и жителями материковой Азии 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0,2% их генома произошла от Денисовцев</a:t>
            </a:r>
          </a:p>
        </p:txBody>
      </p:sp>
    </p:spTree>
    <p:extLst>
      <p:ext uri="{BB962C8B-B14F-4D97-AF65-F5344CB8AC3E}">
        <p14:creationId xmlns:p14="http://schemas.microsoft.com/office/powerpoint/2010/main" val="112745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2D6989-AEA9-6A0F-00FD-40F3069D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488" y="1534319"/>
            <a:ext cx="5740400" cy="4770438"/>
          </a:xfrm>
          <a:prstGeom prst="rect">
            <a:avLst/>
          </a:prstGeom>
        </p:spPr>
      </p:pic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6B02CF6F-E8C0-9A9C-77E8-3996B6BA53DC}"/>
              </a:ext>
            </a:extLst>
          </p:cNvPr>
          <p:cNvSpPr/>
          <p:nvPr/>
        </p:nvSpPr>
        <p:spPr>
          <a:xfrm>
            <a:off x="-997679" y="-1633498"/>
            <a:ext cx="8066076" cy="10002798"/>
          </a:xfrm>
          <a:custGeom>
            <a:avLst/>
            <a:gdLst>
              <a:gd name="connsiteX0" fmla="*/ 7093679 w 8066076"/>
              <a:gd name="connsiteY0" fmla="*/ 8123198 h 9086734"/>
              <a:gd name="connsiteX1" fmla="*/ 7754079 w 8066076"/>
              <a:gd name="connsiteY1" fmla="*/ 6789698 h 9086734"/>
              <a:gd name="connsiteX2" fmla="*/ 7411179 w 8066076"/>
              <a:gd name="connsiteY2" fmla="*/ 4376698 h 9086734"/>
              <a:gd name="connsiteX3" fmla="*/ 8058879 w 8066076"/>
              <a:gd name="connsiteY3" fmla="*/ 2598698 h 9086734"/>
              <a:gd name="connsiteX4" fmla="*/ 7728679 w 8066076"/>
              <a:gd name="connsiteY4" fmla="*/ 807998 h 9086734"/>
              <a:gd name="connsiteX5" fmla="*/ 7271479 w 8066076"/>
              <a:gd name="connsiteY5" fmla="*/ 477798 h 9086734"/>
              <a:gd name="connsiteX6" fmla="*/ 1086579 w 8066076"/>
              <a:gd name="connsiteY6" fmla="*/ 655598 h 9086734"/>
              <a:gd name="connsiteX7" fmla="*/ 527779 w 8066076"/>
              <a:gd name="connsiteY7" fmla="*/ 8567698 h 9086734"/>
              <a:gd name="connsiteX8" fmla="*/ 6649179 w 8066076"/>
              <a:gd name="connsiteY8" fmla="*/ 8351798 h 9086734"/>
              <a:gd name="connsiteX9" fmla="*/ 6636479 w 8066076"/>
              <a:gd name="connsiteY9" fmla="*/ 8313698 h 9086734"/>
              <a:gd name="connsiteX10" fmla="*/ 6941279 w 8066076"/>
              <a:gd name="connsiteY10" fmla="*/ 8593098 h 908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66076" h="9086734">
                <a:moveTo>
                  <a:pt x="7093679" y="8123198"/>
                </a:moveTo>
                <a:cubicBezTo>
                  <a:pt x="7397420" y="7768656"/>
                  <a:pt x="7701162" y="7414115"/>
                  <a:pt x="7754079" y="6789698"/>
                </a:cubicBezTo>
                <a:cubicBezTo>
                  <a:pt x="7806996" y="6165281"/>
                  <a:pt x="7360379" y="5075198"/>
                  <a:pt x="7411179" y="4376698"/>
                </a:cubicBezTo>
                <a:cubicBezTo>
                  <a:pt x="7461979" y="3678198"/>
                  <a:pt x="8005962" y="3193481"/>
                  <a:pt x="8058879" y="2598698"/>
                </a:cubicBezTo>
                <a:cubicBezTo>
                  <a:pt x="8111796" y="2003915"/>
                  <a:pt x="7859912" y="1161481"/>
                  <a:pt x="7728679" y="807998"/>
                </a:cubicBezTo>
                <a:cubicBezTo>
                  <a:pt x="7597446" y="454515"/>
                  <a:pt x="7271479" y="477798"/>
                  <a:pt x="7271479" y="477798"/>
                </a:cubicBezTo>
                <a:cubicBezTo>
                  <a:pt x="6164462" y="452398"/>
                  <a:pt x="2210529" y="-692719"/>
                  <a:pt x="1086579" y="655598"/>
                </a:cubicBezTo>
                <a:cubicBezTo>
                  <a:pt x="-37371" y="2003915"/>
                  <a:pt x="-399321" y="7284998"/>
                  <a:pt x="527779" y="8567698"/>
                </a:cubicBezTo>
                <a:cubicBezTo>
                  <a:pt x="1454879" y="9850398"/>
                  <a:pt x="6649179" y="8351798"/>
                  <a:pt x="6649179" y="8351798"/>
                </a:cubicBezTo>
                <a:cubicBezTo>
                  <a:pt x="7667296" y="8309465"/>
                  <a:pt x="6587796" y="8273481"/>
                  <a:pt x="6636479" y="8313698"/>
                </a:cubicBezTo>
                <a:cubicBezTo>
                  <a:pt x="6685162" y="8353915"/>
                  <a:pt x="6813220" y="8473506"/>
                  <a:pt x="6941279" y="8593098"/>
                </a:cubicBez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3CD44EF7-FD52-3946-1AC1-7AF156EBAF7C}"/>
              </a:ext>
            </a:extLst>
          </p:cNvPr>
          <p:cNvSpPr/>
          <p:nvPr/>
        </p:nvSpPr>
        <p:spPr>
          <a:xfrm>
            <a:off x="-1315179" y="-1061998"/>
            <a:ext cx="8066076" cy="9086734"/>
          </a:xfrm>
          <a:custGeom>
            <a:avLst/>
            <a:gdLst>
              <a:gd name="connsiteX0" fmla="*/ 7093679 w 8066076"/>
              <a:gd name="connsiteY0" fmla="*/ 8123198 h 9086734"/>
              <a:gd name="connsiteX1" fmla="*/ 7754079 w 8066076"/>
              <a:gd name="connsiteY1" fmla="*/ 6789698 h 9086734"/>
              <a:gd name="connsiteX2" fmla="*/ 7411179 w 8066076"/>
              <a:gd name="connsiteY2" fmla="*/ 4376698 h 9086734"/>
              <a:gd name="connsiteX3" fmla="*/ 8058879 w 8066076"/>
              <a:gd name="connsiteY3" fmla="*/ 2598698 h 9086734"/>
              <a:gd name="connsiteX4" fmla="*/ 7728679 w 8066076"/>
              <a:gd name="connsiteY4" fmla="*/ 807998 h 9086734"/>
              <a:gd name="connsiteX5" fmla="*/ 7271479 w 8066076"/>
              <a:gd name="connsiteY5" fmla="*/ 477798 h 9086734"/>
              <a:gd name="connsiteX6" fmla="*/ 1086579 w 8066076"/>
              <a:gd name="connsiteY6" fmla="*/ 655598 h 9086734"/>
              <a:gd name="connsiteX7" fmla="*/ 527779 w 8066076"/>
              <a:gd name="connsiteY7" fmla="*/ 8567698 h 9086734"/>
              <a:gd name="connsiteX8" fmla="*/ 6649179 w 8066076"/>
              <a:gd name="connsiteY8" fmla="*/ 8351798 h 9086734"/>
              <a:gd name="connsiteX9" fmla="*/ 6636479 w 8066076"/>
              <a:gd name="connsiteY9" fmla="*/ 8313698 h 9086734"/>
              <a:gd name="connsiteX10" fmla="*/ 6941279 w 8066076"/>
              <a:gd name="connsiteY10" fmla="*/ 8593098 h 908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66076" h="9086734">
                <a:moveTo>
                  <a:pt x="7093679" y="8123198"/>
                </a:moveTo>
                <a:cubicBezTo>
                  <a:pt x="7397420" y="7768656"/>
                  <a:pt x="7701162" y="7414115"/>
                  <a:pt x="7754079" y="6789698"/>
                </a:cubicBezTo>
                <a:cubicBezTo>
                  <a:pt x="7806996" y="6165281"/>
                  <a:pt x="7360379" y="5075198"/>
                  <a:pt x="7411179" y="4376698"/>
                </a:cubicBezTo>
                <a:cubicBezTo>
                  <a:pt x="7461979" y="3678198"/>
                  <a:pt x="8005962" y="3193481"/>
                  <a:pt x="8058879" y="2598698"/>
                </a:cubicBezTo>
                <a:cubicBezTo>
                  <a:pt x="8111796" y="2003915"/>
                  <a:pt x="7859912" y="1161481"/>
                  <a:pt x="7728679" y="807998"/>
                </a:cubicBezTo>
                <a:cubicBezTo>
                  <a:pt x="7597446" y="454515"/>
                  <a:pt x="7271479" y="477798"/>
                  <a:pt x="7271479" y="477798"/>
                </a:cubicBezTo>
                <a:cubicBezTo>
                  <a:pt x="6164462" y="452398"/>
                  <a:pt x="2210529" y="-692719"/>
                  <a:pt x="1086579" y="655598"/>
                </a:cubicBezTo>
                <a:cubicBezTo>
                  <a:pt x="-37371" y="2003915"/>
                  <a:pt x="-399321" y="7284998"/>
                  <a:pt x="527779" y="8567698"/>
                </a:cubicBezTo>
                <a:cubicBezTo>
                  <a:pt x="1454879" y="9850398"/>
                  <a:pt x="6649179" y="8351798"/>
                  <a:pt x="6649179" y="8351798"/>
                </a:cubicBezTo>
                <a:cubicBezTo>
                  <a:pt x="7667296" y="8309465"/>
                  <a:pt x="6587796" y="8273481"/>
                  <a:pt x="6636479" y="8313698"/>
                </a:cubicBezTo>
                <a:cubicBezTo>
                  <a:pt x="6685162" y="8353915"/>
                  <a:pt x="6813220" y="8473506"/>
                  <a:pt x="6941279" y="859309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38BB-C210-D6C0-021B-B0CA68B8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" y="-223044"/>
            <a:ext cx="6739785" cy="1899444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Между архаичными гоминидами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37A5B-AC83-96D4-DB6E-890E0378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857375"/>
            <a:ext cx="5892800" cy="49926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Дивергенция неандертальцы-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денисовцы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~77-114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</a:rPr>
              <a:t>тыс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лет назад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Минимум 0,5% генома </a:t>
            </a:r>
            <a:r>
              <a:rPr lang="ru-RU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денисовцев</a:t>
            </a:r>
            <a:r>
              <a:rPr lang="ru-R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имеют неандертальское происхождение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Денисовцы больше схожи с алтайскими неандертальцами, </a:t>
            </a:r>
          </a:p>
          <a:p>
            <a:pPr marL="0" indent="0">
              <a:buNone/>
            </a:pP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Вероятно существовал еще 1 ненайденный гоминид, от которого был поток генов к </a:t>
            </a:r>
            <a:r>
              <a:rPr lang="ru-RU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денисовцам</a:t>
            </a:r>
            <a:r>
              <a:rPr lang="ru-R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8038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74D18CD9-41BB-20DC-EEF6-5A34EC6FC151}"/>
              </a:ext>
            </a:extLst>
          </p:cNvPr>
          <p:cNvSpPr/>
          <p:nvPr/>
        </p:nvSpPr>
        <p:spPr>
          <a:xfrm rot="10800000">
            <a:off x="10687822" y="-798286"/>
            <a:ext cx="2394407" cy="8917302"/>
          </a:xfrm>
          <a:custGeom>
            <a:avLst/>
            <a:gdLst>
              <a:gd name="connsiteX0" fmla="*/ 1671093 w 2394407"/>
              <a:gd name="connsiteY0" fmla="*/ 787904 h 8917302"/>
              <a:gd name="connsiteX1" fmla="*/ 2164579 w 2394407"/>
              <a:gd name="connsiteY1" fmla="*/ 1890990 h 8917302"/>
              <a:gd name="connsiteX2" fmla="*/ 1714636 w 2394407"/>
              <a:gd name="connsiteY2" fmla="*/ 3139218 h 8917302"/>
              <a:gd name="connsiteX3" fmla="*/ 2048464 w 2394407"/>
              <a:gd name="connsiteY3" fmla="*/ 4663218 h 8917302"/>
              <a:gd name="connsiteX4" fmla="*/ 1511436 w 2394407"/>
              <a:gd name="connsiteY4" fmla="*/ 6477504 h 8917302"/>
              <a:gd name="connsiteX5" fmla="*/ 2222636 w 2394407"/>
              <a:gd name="connsiteY5" fmla="*/ 8103104 h 8917302"/>
              <a:gd name="connsiteX6" fmla="*/ 2237150 w 2394407"/>
              <a:gd name="connsiteY6" fmla="*/ 8436932 h 8917302"/>
              <a:gd name="connsiteX7" fmla="*/ 451893 w 2394407"/>
              <a:gd name="connsiteY7" fmla="*/ 8306304 h 8917302"/>
              <a:gd name="connsiteX8" fmla="*/ 74521 w 2394407"/>
              <a:gd name="connsiteY8" fmla="*/ 787904 h 8917302"/>
              <a:gd name="connsiteX9" fmla="*/ 1627550 w 2394407"/>
              <a:gd name="connsiteY9" fmla="*/ 599218 h 891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4407" h="8917302">
                <a:moveTo>
                  <a:pt x="1671093" y="787904"/>
                </a:moveTo>
                <a:cubicBezTo>
                  <a:pt x="1914207" y="1143504"/>
                  <a:pt x="2157322" y="1499104"/>
                  <a:pt x="2164579" y="1890990"/>
                </a:cubicBezTo>
                <a:cubicBezTo>
                  <a:pt x="2171836" y="2282876"/>
                  <a:pt x="1733988" y="2677180"/>
                  <a:pt x="1714636" y="3139218"/>
                </a:cubicBezTo>
                <a:cubicBezTo>
                  <a:pt x="1695284" y="3601256"/>
                  <a:pt x="2082331" y="4106837"/>
                  <a:pt x="2048464" y="4663218"/>
                </a:cubicBezTo>
                <a:cubicBezTo>
                  <a:pt x="2014597" y="5219599"/>
                  <a:pt x="1482407" y="5904190"/>
                  <a:pt x="1511436" y="6477504"/>
                </a:cubicBezTo>
                <a:cubicBezTo>
                  <a:pt x="1540465" y="7050818"/>
                  <a:pt x="2101684" y="7776533"/>
                  <a:pt x="2222636" y="8103104"/>
                </a:cubicBezTo>
                <a:cubicBezTo>
                  <a:pt x="2343588" y="8429675"/>
                  <a:pt x="2532274" y="8403065"/>
                  <a:pt x="2237150" y="8436932"/>
                </a:cubicBezTo>
                <a:cubicBezTo>
                  <a:pt x="1942026" y="8470799"/>
                  <a:pt x="812331" y="9581142"/>
                  <a:pt x="451893" y="8306304"/>
                </a:cubicBezTo>
                <a:cubicBezTo>
                  <a:pt x="91455" y="7031466"/>
                  <a:pt x="-121422" y="2072418"/>
                  <a:pt x="74521" y="787904"/>
                </a:cubicBezTo>
                <a:cubicBezTo>
                  <a:pt x="270464" y="-496610"/>
                  <a:pt x="949007" y="51304"/>
                  <a:pt x="1627550" y="599218"/>
                </a:cubicBezTo>
              </a:path>
            </a:pathLst>
          </a:custGeom>
          <a:gradFill>
            <a:gsLst>
              <a:gs pos="90000">
                <a:schemeClr val="accent5">
                  <a:lumMod val="60000"/>
                  <a:lumOff val="40000"/>
                </a:schemeClr>
              </a:gs>
              <a:gs pos="60000">
                <a:schemeClr val="accent4">
                  <a:lumMod val="60000"/>
                  <a:lumOff val="40000"/>
                </a:schemeClr>
              </a:gs>
              <a:gs pos="45000">
                <a:schemeClr val="accent2">
                  <a:lumMod val="60000"/>
                  <a:lumOff val="40000"/>
                </a:schemeClr>
              </a:gs>
              <a:gs pos="3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D89FA48A-A9B4-F9E7-2B30-308E9E672BAB}"/>
              </a:ext>
            </a:extLst>
          </p:cNvPr>
          <p:cNvSpPr/>
          <p:nvPr/>
        </p:nvSpPr>
        <p:spPr>
          <a:xfrm>
            <a:off x="-537029" y="-1683658"/>
            <a:ext cx="2167486" cy="10014859"/>
          </a:xfrm>
          <a:custGeom>
            <a:avLst/>
            <a:gdLst>
              <a:gd name="connsiteX0" fmla="*/ 1671093 w 2394407"/>
              <a:gd name="connsiteY0" fmla="*/ 787904 h 8917302"/>
              <a:gd name="connsiteX1" fmla="*/ 2164579 w 2394407"/>
              <a:gd name="connsiteY1" fmla="*/ 1890990 h 8917302"/>
              <a:gd name="connsiteX2" fmla="*/ 1714636 w 2394407"/>
              <a:gd name="connsiteY2" fmla="*/ 3139218 h 8917302"/>
              <a:gd name="connsiteX3" fmla="*/ 2048464 w 2394407"/>
              <a:gd name="connsiteY3" fmla="*/ 4663218 h 8917302"/>
              <a:gd name="connsiteX4" fmla="*/ 1511436 w 2394407"/>
              <a:gd name="connsiteY4" fmla="*/ 6477504 h 8917302"/>
              <a:gd name="connsiteX5" fmla="*/ 2222636 w 2394407"/>
              <a:gd name="connsiteY5" fmla="*/ 8103104 h 8917302"/>
              <a:gd name="connsiteX6" fmla="*/ 2237150 w 2394407"/>
              <a:gd name="connsiteY6" fmla="*/ 8436932 h 8917302"/>
              <a:gd name="connsiteX7" fmla="*/ 451893 w 2394407"/>
              <a:gd name="connsiteY7" fmla="*/ 8306304 h 8917302"/>
              <a:gd name="connsiteX8" fmla="*/ 74521 w 2394407"/>
              <a:gd name="connsiteY8" fmla="*/ 787904 h 8917302"/>
              <a:gd name="connsiteX9" fmla="*/ 1627550 w 2394407"/>
              <a:gd name="connsiteY9" fmla="*/ 599218 h 891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4407" h="8917302">
                <a:moveTo>
                  <a:pt x="1671093" y="787904"/>
                </a:moveTo>
                <a:cubicBezTo>
                  <a:pt x="1914207" y="1143504"/>
                  <a:pt x="2157322" y="1499104"/>
                  <a:pt x="2164579" y="1890990"/>
                </a:cubicBezTo>
                <a:cubicBezTo>
                  <a:pt x="2171836" y="2282876"/>
                  <a:pt x="1733988" y="2677180"/>
                  <a:pt x="1714636" y="3139218"/>
                </a:cubicBezTo>
                <a:cubicBezTo>
                  <a:pt x="1695284" y="3601256"/>
                  <a:pt x="2082331" y="4106837"/>
                  <a:pt x="2048464" y="4663218"/>
                </a:cubicBezTo>
                <a:cubicBezTo>
                  <a:pt x="2014597" y="5219599"/>
                  <a:pt x="1482407" y="5904190"/>
                  <a:pt x="1511436" y="6477504"/>
                </a:cubicBezTo>
                <a:cubicBezTo>
                  <a:pt x="1540465" y="7050818"/>
                  <a:pt x="2101684" y="7776533"/>
                  <a:pt x="2222636" y="8103104"/>
                </a:cubicBezTo>
                <a:cubicBezTo>
                  <a:pt x="2343588" y="8429675"/>
                  <a:pt x="2532274" y="8403065"/>
                  <a:pt x="2237150" y="8436932"/>
                </a:cubicBezTo>
                <a:cubicBezTo>
                  <a:pt x="1942026" y="8470799"/>
                  <a:pt x="812331" y="9581142"/>
                  <a:pt x="451893" y="8306304"/>
                </a:cubicBezTo>
                <a:cubicBezTo>
                  <a:pt x="91455" y="7031466"/>
                  <a:pt x="-121422" y="2072418"/>
                  <a:pt x="74521" y="787904"/>
                </a:cubicBezTo>
                <a:cubicBezTo>
                  <a:pt x="270464" y="-496610"/>
                  <a:pt x="949007" y="51304"/>
                  <a:pt x="1627550" y="599218"/>
                </a:cubicBezTo>
              </a:path>
            </a:pathLst>
          </a:custGeom>
          <a:gradFill>
            <a:gsLst>
              <a:gs pos="90000">
                <a:schemeClr val="accent5">
                  <a:lumMod val="60000"/>
                  <a:lumOff val="40000"/>
                </a:schemeClr>
              </a:gs>
              <a:gs pos="60000">
                <a:schemeClr val="accent4">
                  <a:lumMod val="60000"/>
                  <a:lumOff val="40000"/>
                </a:schemeClr>
              </a:gs>
              <a:gs pos="45000">
                <a:schemeClr val="accent2">
                  <a:lumMod val="60000"/>
                  <a:lumOff val="40000"/>
                </a:schemeClr>
              </a:gs>
              <a:gs pos="3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2D2F6-B9BE-0350-FAEF-6EC09962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339" y="1992086"/>
            <a:ext cx="10515600" cy="2873827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Наше генетическое наследие</a:t>
            </a:r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330B3190-FFCD-F624-947B-5C790C753631}"/>
              </a:ext>
            </a:extLst>
          </p:cNvPr>
          <p:cNvSpPr/>
          <p:nvPr/>
        </p:nvSpPr>
        <p:spPr>
          <a:xfrm>
            <a:off x="-988920" y="-1049161"/>
            <a:ext cx="2394407" cy="8917302"/>
          </a:xfrm>
          <a:custGeom>
            <a:avLst/>
            <a:gdLst>
              <a:gd name="connsiteX0" fmla="*/ 1671093 w 2394407"/>
              <a:gd name="connsiteY0" fmla="*/ 787904 h 8917302"/>
              <a:gd name="connsiteX1" fmla="*/ 2164579 w 2394407"/>
              <a:gd name="connsiteY1" fmla="*/ 1890990 h 8917302"/>
              <a:gd name="connsiteX2" fmla="*/ 1714636 w 2394407"/>
              <a:gd name="connsiteY2" fmla="*/ 3139218 h 8917302"/>
              <a:gd name="connsiteX3" fmla="*/ 2048464 w 2394407"/>
              <a:gd name="connsiteY3" fmla="*/ 4663218 h 8917302"/>
              <a:gd name="connsiteX4" fmla="*/ 1511436 w 2394407"/>
              <a:gd name="connsiteY4" fmla="*/ 6477504 h 8917302"/>
              <a:gd name="connsiteX5" fmla="*/ 2222636 w 2394407"/>
              <a:gd name="connsiteY5" fmla="*/ 8103104 h 8917302"/>
              <a:gd name="connsiteX6" fmla="*/ 2237150 w 2394407"/>
              <a:gd name="connsiteY6" fmla="*/ 8436932 h 8917302"/>
              <a:gd name="connsiteX7" fmla="*/ 451893 w 2394407"/>
              <a:gd name="connsiteY7" fmla="*/ 8306304 h 8917302"/>
              <a:gd name="connsiteX8" fmla="*/ 74521 w 2394407"/>
              <a:gd name="connsiteY8" fmla="*/ 787904 h 8917302"/>
              <a:gd name="connsiteX9" fmla="*/ 1627550 w 2394407"/>
              <a:gd name="connsiteY9" fmla="*/ 599218 h 891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4407" h="8917302">
                <a:moveTo>
                  <a:pt x="1671093" y="787904"/>
                </a:moveTo>
                <a:cubicBezTo>
                  <a:pt x="1914207" y="1143504"/>
                  <a:pt x="2157322" y="1499104"/>
                  <a:pt x="2164579" y="1890990"/>
                </a:cubicBezTo>
                <a:cubicBezTo>
                  <a:pt x="2171836" y="2282876"/>
                  <a:pt x="1733988" y="2677180"/>
                  <a:pt x="1714636" y="3139218"/>
                </a:cubicBezTo>
                <a:cubicBezTo>
                  <a:pt x="1695284" y="3601256"/>
                  <a:pt x="2082331" y="4106837"/>
                  <a:pt x="2048464" y="4663218"/>
                </a:cubicBezTo>
                <a:cubicBezTo>
                  <a:pt x="2014597" y="5219599"/>
                  <a:pt x="1482407" y="5904190"/>
                  <a:pt x="1511436" y="6477504"/>
                </a:cubicBezTo>
                <a:cubicBezTo>
                  <a:pt x="1540465" y="7050818"/>
                  <a:pt x="2101684" y="7776533"/>
                  <a:pt x="2222636" y="8103104"/>
                </a:cubicBezTo>
                <a:cubicBezTo>
                  <a:pt x="2343588" y="8429675"/>
                  <a:pt x="2532274" y="8403065"/>
                  <a:pt x="2237150" y="8436932"/>
                </a:cubicBezTo>
                <a:cubicBezTo>
                  <a:pt x="1942026" y="8470799"/>
                  <a:pt x="812331" y="9581142"/>
                  <a:pt x="451893" y="8306304"/>
                </a:cubicBezTo>
                <a:cubicBezTo>
                  <a:pt x="91455" y="7031466"/>
                  <a:pt x="-121422" y="2072418"/>
                  <a:pt x="74521" y="787904"/>
                </a:cubicBezTo>
                <a:cubicBezTo>
                  <a:pt x="270464" y="-496610"/>
                  <a:pt x="949007" y="51304"/>
                  <a:pt x="1627550" y="59921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DEFC225F-C88D-82AA-D111-0112DFF3B4A3}"/>
              </a:ext>
            </a:extLst>
          </p:cNvPr>
          <p:cNvSpPr/>
          <p:nvPr/>
        </p:nvSpPr>
        <p:spPr>
          <a:xfrm rot="10800000">
            <a:off x="10972799" y="-1049161"/>
            <a:ext cx="2167486" cy="10014859"/>
          </a:xfrm>
          <a:custGeom>
            <a:avLst/>
            <a:gdLst>
              <a:gd name="connsiteX0" fmla="*/ 1671093 w 2394407"/>
              <a:gd name="connsiteY0" fmla="*/ 787904 h 8917302"/>
              <a:gd name="connsiteX1" fmla="*/ 2164579 w 2394407"/>
              <a:gd name="connsiteY1" fmla="*/ 1890990 h 8917302"/>
              <a:gd name="connsiteX2" fmla="*/ 1714636 w 2394407"/>
              <a:gd name="connsiteY2" fmla="*/ 3139218 h 8917302"/>
              <a:gd name="connsiteX3" fmla="*/ 2048464 w 2394407"/>
              <a:gd name="connsiteY3" fmla="*/ 4663218 h 8917302"/>
              <a:gd name="connsiteX4" fmla="*/ 1511436 w 2394407"/>
              <a:gd name="connsiteY4" fmla="*/ 6477504 h 8917302"/>
              <a:gd name="connsiteX5" fmla="*/ 2222636 w 2394407"/>
              <a:gd name="connsiteY5" fmla="*/ 8103104 h 8917302"/>
              <a:gd name="connsiteX6" fmla="*/ 2237150 w 2394407"/>
              <a:gd name="connsiteY6" fmla="*/ 8436932 h 8917302"/>
              <a:gd name="connsiteX7" fmla="*/ 451893 w 2394407"/>
              <a:gd name="connsiteY7" fmla="*/ 8306304 h 8917302"/>
              <a:gd name="connsiteX8" fmla="*/ 74521 w 2394407"/>
              <a:gd name="connsiteY8" fmla="*/ 787904 h 8917302"/>
              <a:gd name="connsiteX9" fmla="*/ 1627550 w 2394407"/>
              <a:gd name="connsiteY9" fmla="*/ 599218 h 891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94407" h="8917302">
                <a:moveTo>
                  <a:pt x="1671093" y="787904"/>
                </a:moveTo>
                <a:cubicBezTo>
                  <a:pt x="1914207" y="1143504"/>
                  <a:pt x="2157322" y="1499104"/>
                  <a:pt x="2164579" y="1890990"/>
                </a:cubicBezTo>
                <a:cubicBezTo>
                  <a:pt x="2171836" y="2282876"/>
                  <a:pt x="1733988" y="2677180"/>
                  <a:pt x="1714636" y="3139218"/>
                </a:cubicBezTo>
                <a:cubicBezTo>
                  <a:pt x="1695284" y="3601256"/>
                  <a:pt x="2082331" y="4106837"/>
                  <a:pt x="2048464" y="4663218"/>
                </a:cubicBezTo>
                <a:cubicBezTo>
                  <a:pt x="2014597" y="5219599"/>
                  <a:pt x="1482407" y="5904190"/>
                  <a:pt x="1511436" y="6477504"/>
                </a:cubicBezTo>
                <a:cubicBezTo>
                  <a:pt x="1540465" y="7050818"/>
                  <a:pt x="2101684" y="7776533"/>
                  <a:pt x="2222636" y="8103104"/>
                </a:cubicBezTo>
                <a:cubicBezTo>
                  <a:pt x="2343588" y="8429675"/>
                  <a:pt x="2532274" y="8403065"/>
                  <a:pt x="2237150" y="8436932"/>
                </a:cubicBezTo>
                <a:cubicBezTo>
                  <a:pt x="1942026" y="8470799"/>
                  <a:pt x="812331" y="9581142"/>
                  <a:pt x="451893" y="8306304"/>
                </a:cubicBezTo>
                <a:cubicBezTo>
                  <a:pt x="91455" y="7031466"/>
                  <a:pt x="-121422" y="2072418"/>
                  <a:pt x="74521" y="787904"/>
                </a:cubicBezTo>
                <a:cubicBezTo>
                  <a:pt x="270464" y="-496610"/>
                  <a:pt x="949007" y="51304"/>
                  <a:pt x="1627550" y="59921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1792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7C4559-0BDA-12C5-FA70-96D6BFD4F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918"/>
            <a:ext cx="4055216" cy="4602163"/>
          </a:xfrm>
          <a:prstGeom prst="rect">
            <a:avLst/>
          </a:prstGeom>
        </p:spPr>
      </p:pic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5C052EA0-6343-80D5-5B14-D7BBDF696830}"/>
              </a:ext>
            </a:extLst>
          </p:cNvPr>
          <p:cNvSpPr/>
          <p:nvPr/>
        </p:nvSpPr>
        <p:spPr>
          <a:xfrm rot="170644">
            <a:off x="2844803" y="-1465943"/>
            <a:ext cx="10240287" cy="9693307"/>
          </a:xfrm>
          <a:custGeom>
            <a:avLst/>
            <a:gdLst>
              <a:gd name="connsiteX0" fmla="*/ 997426 w 10040284"/>
              <a:gd name="connsiteY0" fmla="*/ 517279 h 9056701"/>
              <a:gd name="connsiteX1" fmla="*/ 373312 w 10040284"/>
              <a:gd name="connsiteY1" fmla="*/ 2084822 h 9056701"/>
              <a:gd name="connsiteX2" fmla="*/ 1084512 w 10040284"/>
              <a:gd name="connsiteY2" fmla="*/ 3724937 h 9056701"/>
              <a:gd name="connsiteX3" fmla="*/ 823255 w 10040284"/>
              <a:gd name="connsiteY3" fmla="*/ 5132822 h 9056701"/>
              <a:gd name="connsiteX4" fmla="*/ 1360283 w 10040284"/>
              <a:gd name="connsiteY4" fmla="*/ 6627794 h 9056701"/>
              <a:gd name="connsiteX5" fmla="*/ 620055 w 10040284"/>
              <a:gd name="connsiteY5" fmla="*/ 8267908 h 9056701"/>
              <a:gd name="connsiteX6" fmla="*/ 663597 w 10040284"/>
              <a:gd name="connsiteY6" fmla="*/ 8485622 h 9056701"/>
              <a:gd name="connsiteX7" fmla="*/ 9052855 w 10040284"/>
              <a:gd name="connsiteY7" fmla="*/ 8471108 h 9056701"/>
              <a:gd name="connsiteX8" fmla="*/ 8951255 w 10040284"/>
              <a:gd name="connsiteY8" fmla="*/ 734994 h 9056701"/>
              <a:gd name="connsiteX9" fmla="*/ 750683 w 10040284"/>
              <a:gd name="connsiteY9" fmla="*/ 764022 h 9056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40284" h="9056701">
                <a:moveTo>
                  <a:pt x="997426" y="517279"/>
                </a:moveTo>
                <a:cubicBezTo>
                  <a:pt x="678112" y="1033745"/>
                  <a:pt x="358798" y="1550212"/>
                  <a:pt x="373312" y="2084822"/>
                </a:cubicBezTo>
                <a:cubicBezTo>
                  <a:pt x="387826" y="2619432"/>
                  <a:pt x="1009522" y="3216937"/>
                  <a:pt x="1084512" y="3724937"/>
                </a:cubicBezTo>
                <a:cubicBezTo>
                  <a:pt x="1159503" y="4232937"/>
                  <a:pt x="777293" y="4649013"/>
                  <a:pt x="823255" y="5132822"/>
                </a:cubicBezTo>
                <a:cubicBezTo>
                  <a:pt x="869217" y="5616631"/>
                  <a:pt x="1394150" y="6105280"/>
                  <a:pt x="1360283" y="6627794"/>
                </a:cubicBezTo>
                <a:cubicBezTo>
                  <a:pt x="1326416" y="7150308"/>
                  <a:pt x="736169" y="7958270"/>
                  <a:pt x="620055" y="8267908"/>
                </a:cubicBezTo>
                <a:cubicBezTo>
                  <a:pt x="503941" y="8577546"/>
                  <a:pt x="-741870" y="8451755"/>
                  <a:pt x="663597" y="8485622"/>
                </a:cubicBezTo>
                <a:cubicBezTo>
                  <a:pt x="2069064" y="8519489"/>
                  <a:pt x="7671579" y="9762879"/>
                  <a:pt x="9052855" y="8471108"/>
                </a:cubicBezTo>
                <a:cubicBezTo>
                  <a:pt x="10434131" y="7179337"/>
                  <a:pt x="10334950" y="2019508"/>
                  <a:pt x="8951255" y="734994"/>
                </a:cubicBezTo>
                <a:cubicBezTo>
                  <a:pt x="7567560" y="-549520"/>
                  <a:pt x="4159121" y="107251"/>
                  <a:pt x="750683" y="764022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D64E91C9-BC6B-8993-08B0-8AF1770BE93A}"/>
              </a:ext>
            </a:extLst>
          </p:cNvPr>
          <p:cNvSpPr/>
          <p:nvPr/>
        </p:nvSpPr>
        <p:spPr>
          <a:xfrm rot="224614">
            <a:off x="3110122" y="-981738"/>
            <a:ext cx="10040284" cy="9056701"/>
          </a:xfrm>
          <a:custGeom>
            <a:avLst/>
            <a:gdLst>
              <a:gd name="connsiteX0" fmla="*/ 997426 w 10040284"/>
              <a:gd name="connsiteY0" fmla="*/ 517279 h 9056701"/>
              <a:gd name="connsiteX1" fmla="*/ 373312 w 10040284"/>
              <a:gd name="connsiteY1" fmla="*/ 2084822 h 9056701"/>
              <a:gd name="connsiteX2" fmla="*/ 1084512 w 10040284"/>
              <a:gd name="connsiteY2" fmla="*/ 3724937 h 9056701"/>
              <a:gd name="connsiteX3" fmla="*/ 823255 w 10040284"/>
              <a:gd name="connsiteY3" fmla="*/ 5132822 h 9056701"/>
              <a:gd name="connsiteX4" fmla="*/ 1360283 w 10040284"/>
              <a:gd name="connsiteY4" fmla="*/ 6627794 h 9056701"/>
              <a:gd name="connsiteX5" fmla="*/ 620055 w 10040284"/>
              <a:gd name="connsiteY5" fmla="*/ 8267908 h 9056701"/>
              <a:gd name="connsiteX6" fmla="*/ 663597 w 10040284"/>
              <a:gd name="connsiteY6" fmla="*/ 8485622 h 9056701"/>
              <a:gd name="connsiteX7" fmla="*/ 9052855 w 10040284"/>
              <a:gd name="connsiteY7" fmla="*/ 8471108 h 9056701"/>
              <a:gd name="connsiteX8" fmla="*/ 8951255 w 10040284"/>
              <a:gd name="connsiteY8" fmla="*/ 734994 h 9056701"/>
              <a:gd name="connsiteX9" fmla="*/ 750683 w 10040284"/>
              <a:gd name="connsiteY9" fmla="*/ 764022 h 9056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40284" h="9056701">
                <a:moveTo>
                  <a:pt x="997426" y="517279"/>
                </a:moveTo>
                <a:cubicBezTo>
                  <a:pt x="678112" y="1033745"/>
                  <a:pt x="358798" y="1550212"/>
                  <a:pt x="373312" y="2084822"/>
                </a:cubicBezTo>
                <a:cubicBezTo>
                  <a:pt x="387826" y="2619432"/>
                  <a:pt x="1009522" y="3216937"/>
                  <a:pt x="1084512" y="3724937"/>
                </a:cubicBezTo>
                <a:cubicBezTo>
                  <a:pt x="1159503" y="4232937"/>
                  <a:pt x="777293" y="4649013"/>
                  <a:pt x="823255" y="5132822"/>
                </a:cubicBezTo>
                <a:cubicBezTo>
                  <a:pt x="869217" y="5616631"/>
                  <a:pt x="1394150" y="6105280"/>
                  <a:pt x="1360283" y="6627794"/>
                </a:cubicBezTo>
                <a:cubicBezTo>
                  <a:pt x="1326416" y="7150308"/>
                  <a:pt x="736169" y="7958270"/>
                  <a:pt x="620055" y="8267908"/>
                </a:cubicBezTo>
                <a:cubicBezTo>
                  <a:pt x="503941" y="8577546"/>
                  <a:pt x="-741870" y="8451755"/>
                  <a:pt x="663597" y="8485622"/>
                </a:cubicBezTo>
                <a:cubicBezTo>
                  <a:pt x="2069064" y="8519489"/>
                  <a:pt x="7671579" y="9762879"/>
                  <a:pt x="9052855" y="8471108"/>
                </a:cubicBezTo>
                <a:cubicBezTo>
                  <a:pt x="10434131" y="7179337"/>
                  <a:pt x="10334950" y="2019508"/>
                  <a:pt x="8951255" y="734994"/>
                </a:cubicBezTo>
                <a:cubicBezTo>
                  <a:pt x="7567560" y="-549520"/>
                  <a:pt x="4159121" y="107251"/>
                  <a:pt x="750683" y="764022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6903D-99DC-C2E4-3B74-B709480A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6647" y="116114"/>
            <a:ext cx="7755353" cy="1389569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Covid-19 </a:t>
            </a:r>
            <a:r>
              <a:rPr lang="ru-RU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риск-фактор </a:t>
            </a:r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III </a:t>
            </a:r>
            <a:r>
              <a:rPr lang="ru-RU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хромосомы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24E95E-4A75-61F2-32EB-564766A1F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647" y="1574800"/>
            <a:ext cx="7377982" cy="50582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err="1">
                <a:solidFill>
                  <a:schemeClr val="bg1"/>
                </a:solidFill>
              </a:rPr>
              <a:t>Датасет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COVID Host Genetic Initiative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Сильная положительная корреляция между наличием определенных вариантов на 3 хромосоме и риском госпитализации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Позиция – </a:t>
            </a:r>
            <a:r>
              <a:rPr lang="en-US" dirty="0">
                <a:solidFill>
                  <a:schemeClr val="bg1"/>
                </a:solidFill>
              </a:rPr>
              <a:t>45,859,651–45,909,024 (hg19)</a:t>
            </a: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Варианты объединяются в крупные гаплотипы (размер ~49 </a:t>
            </a:r>
            <a:r>
              <a:rPr lang="en-US" dirty="0">
                <a:solidFill>
                  <a:schemeClr val="bg1"/>
                </a:solidFill>
              </a:rPr>
              <a:t>kb)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D3AC14-D514-D052-213B-648F27A4D4DE}"/>
              </a:ext>
            </a:extLst>
          </p:cNvPr>
          <p:cNvSpPr txBox="1"/>
          <p:nvPr/>
        </p:nvSpPr>
        <p:spPr>
          <a:xfrm>
            <a:off x="0" y="6496905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Zeberg</a:t>
            </a:r>
            <a:r>
              <a:rPr lang="en-US" dirty="0"/>
              <a:t> and </a:t>
            </a:r>
            <a:r>
              <a:rPr lang="en-US" dirty="0" err="1"/>
              <a:t>Pääbo</a:t>
            </a:r>
            <a:r>
              <a:rPr lang="en-US" dirty="0"/>
              <a:t> 2020)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7710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31FA9962-DFDA-7B1A-E1D0-9CF30ACBF8ED}"/>
              </a:ext>
            </a:extLst>
          </p:cNvPr>
          <p:cNvSpPr/>
          <p:nvPr/>
        </p:nvSpPr>
        <p:spPr>
          <a:xfrm>
            <a:off x="-647700" y="-974137"/>
            <a:ext cx="8786410" cy="9255199"/>
          </a:xfrm>
          <a:custGeom>
            <a:avLst/>
            <a:gdLst>
              <a:gd name="connsiteX0" fmla="*/ 9309722 w 9437907"/>
              <a:gd name="connsiteY0" fmla="*/ 926512 h 8762485"/>
              <a:gd name="connsiteX1" fmla="*/ 8652497 w 9437907"/>
              <a:gd name="connsiteY1" fmla="*/ 2383837 h 8762485"/>
              <a:gd name="connsiteX2" fmla="*/ 8957297 w 9437907"/>
              <a:gd name="connsiteY2" fmla="*/ 4974637 h 8762485"/>
              <a:gd name="connsiteX3" fmla="*/ 8585822 w 9437907"/>
              <a:gd name="connsiteY3" fmla="*/ 6527212 h 8762485"/>
              <a:gd name="connsiteX4" fmla="*/ 9433547 w 9437907"/>
              <a:gd name="connsiteY4" fmla="*/ 8279812 h 8762485"/>
              <a:gd name="connsiteX5" fmla="*/ 8938247 w 9437907"/>
              <a:gd name="connsiteY5" fmla="*/ 8155987 h 8762485"/>
              <a:gd name="connsiteX6" fmla="*/ 1127747 w 9437907"/>
              <a:gd name="connsiteY6" fmla="*/ 8232187 h 8762485"/>
              <a:gd name="connsiteX7" fmla="*/ 899147 w 9437907"/>
              <a:gd name="connsiteY7" fmla="*/ 716962 h 8762485"/>
              <a:gd name="connsiteX8" fmla="*/ 9185897 w 9437907"/>
              <a:gd name="connsiteY8" fmla="*/ 736012 h 876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37907" h="8762485">
                <a:moveTo>
                  <a:pt x="9309722" y="926512"/>
                </a:moveTo>
                <a:cubicBezTo>
                  <a:pt x="9010478" y="1317831"/>
                  <a:pt x="8711234" y="1709150"/>
                  <a:pt x="8652497" y="2383837"/>
                </a:cubicBezTo>
                <a:cubicBezTo>
                  <a:pt x="8593760" y="3058524"/>
                  <a:pt x="8968409" y="4284075"/>
                  <a:pt x="8957297" y="4974637"/>
                </a:cubicBezTo>
                <a:cubicBezTo>
                  <a:pt x="8946185" y="5665199"/>
                  <a:pt x="8506447" y="5976350"/>
                  <a:pt x="8585822" y="6527212"/>
                </a:cubicBezTo>
                <a:cubicBezTo>
                  <a:pt x="8665197" y="7078074"/>
                  <a:pt x="9374809" y="8008349"/>
                  <a:pt x="9433547" y="8279812"/>
                </a:cubicBezTo>
                <a:cubicBezTo>
                  <a:pt x="9492285" y="8551275"/>
                  <a:pt x="8938247" y="8155987"/>
                  <a:pt x="8938247" y="8155987"/>
                </a:cubicBezTo>
                <a:cubicBezTo>
                  <a:pt x="7553947" y="8148050"/>
                  <a:pt x="2467597" y="9472024"/>
                  <a:pt x="1127747" y="8232187"/>
                </a:cubicBezTo>
                <a:cubicBezTo>
                  <a:pt x="-212103" y="6992350"/>
                  <a:pt x="-443878" y="1966325"/>
                  <a:pt x="899147" y="716962"/>
                </a:cubicBezTo>
                <a:cubicBezTo>
                  <a:pt x="2242172" y="-532401"/>
                  <a:pt x="5714034" y="101805"/>
                  <a:pt x="9185897" y="736012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EAEABF0-B9C2-ADD2-77FA-0B6330EF0931}"/>
              </a:ext>
            </a:extLst>
          </p:cNvPr>
          <p:cNvSpPr/>
          <p:nvPr/>
        </p:nvSpPr>
        <p:spPr>
          <a:xfrm>
            <a:off x="-1451597" y="-974137"/>
            <a:ext cx="9437907" cy="8762485"/>
          </a:xfrm>
          <a:custGeom>
            <a:avLst/>
            <a:gdLst>
              <a:gd name="connsiteX0" fmla="*/ 9309722 w 9437907"/>
              <a:gd name="connsiteY0" fmla="*/ 926512 h 8762485"/>
              <a:gd name="connsiteX1" fmla="*/ 8652497 w 9437907"/>
              <a:gd name="connsiteY1" fmla="*/ 2383837 h 8762485"/>
              <a:gd name="connsiteX2" fmla="*/ 8957297 w 9437907"/>
              <a:gd name="connsiteY2" fmla="*/ 4974637 h 8762485"/>
              <a:gd name="connsiteX3" fmla="*/ 8585822 w 9437907"/>
              <a:gd name="connsiteY3" fmla="*/ 6527212 h 8762485"/>
              <a:gd name="connsiteX4" fmla="*/ 9433547 w 9437907"/>
              <a:gd name="connsiteY4" fmla="*/ 8279812 h 8762485"/>
              <a:gd name="connsiteX5" fmla="*/ 8938247 w 9437907"/>
              <a:gd name="connsiteY5" fmla="*/ 8155987 h 8762485"/>
              <a:gd name="connsiteX6" fmla="*/ 1127747 w 9437907"/>
              <a:gd name="connsiteY6" fmla="*/ 8232187 h 8762485"/>
              <a:gd name="connsiteX7" fmla="*/ 899147 w 9437907"/>
              <a:gd name="connsiteY7" fmla="*/ 716962 h 8762485"/>
              <a:gd name="connsiteX8" fmla="*/ 9185897 w 9437907"/>
              <a:gd name="connsiteY8" fmla="*/ 736012 h 876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37907" h="8762485">
                <a:moveTo>
                  <a:pt x="9309722" y="926512"/>
                </a:moveTo>
                <a:cubicBezTo>
                  <a:pt x="9010478" y="1317831"/>
                  <a:pt x="8711234" y="1709150"/>
                  <a:pt x="8652497" y="2383837"/>
                </a:cubicBezTo>
                <a:cubicBezTo>
                  <a:pt x="8593760" y="3058524"/>
                  <a:pt x="8968409" y="4284075"/>
                  <a:pt x="8957297" y="4974637"/>
                </a:cubicBezTo>
                <a:cubicBezTo>
                  <a:pt x="8946185" y="5665199"/>
                  <a:pt x="8506447" y="5976350"/>
                  <a:pt x="8585822" y="6527212"/>
                </a:cubicBezTo>
                <a:cubicBezTo>
                  <a:pt x="8665197" y="7078074"/>
                  <a:pt x="9374809" y="8008349"/>
                  <a:pt x="9433547" y="8279812"/>
                </a:cubicBezTo>
                <a:cubicBezTo>
                  <a:pt x="9492285" y="8551275"/>
                  <a:pt x="8938247" y="8155987"/>
                  <a:pt x="8938247" y="8155987"/>
                </a:cubicBezTo>
                <a:cubicBezTo>
                  <a:pt x="7553947" y="8148050"/>
                  <a:pt x="2467597" y="9472024"/>
                  <a:pt x="1127747" y="8232187"/>
                </a:cubicBezTo>
                <a:cubicBezTo>
                  <a:pt x="-212103" y="6992350"/>
                  <a:pt x="-443878" y="1966325"/>
                  <a:pt x="899147" y="716962"/>
                </a:cubicBezTo>
                <a:cubicBezTo>
                  <a:pt x="2242172" y="-532401"/>
                  <a:pt x="5714034" y="101805"/>
                  <a:pt x="9185897" y="736012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BCE12D-8810-F94B-8269-F044209F4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85" y="1690688"/>
            <a:ext cx="6974115" cy="46910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В гаплотипах 13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SNP</a:t>
            </a:r>
          </a:p>
          <a:p>
            <a:r>
              <a:rPr lang="en-US" dirty="0">
                <a:solidFill>
                  <a:schemeClr val="bg1"/>
                </a:solidFill>
              </a:rPr>
              <a:t>11 SNP </a:t>
            </a:r>
            <a:r>
              <a:rPr lang="ru-RU" dirty="0">
                <a:solidFill>
                  <a:schemeClr val="bg1"/>
                </a:solidFill>
              </a:rPr>
              <a:t>в геноме Неандертальца из пещеры Виндия, Хорватия (</a:t>
            </a:r>
            <a:r>
              <a:rPr lang="ru-RU" dirty="0" err="1">
                <a:solidFill>
                  <a:schemeClr val="bg1"/>
                </a:solidFill>
              </a:rPr>
              <a:t>Vindia</a:t>
            </a:r>
            <a:r>
              <a:rPr lang="ru-RU" dirty="0">
                <a:solidFill>
                  <a:schemeClr val="bg1"/>
                </a:solidFill>
              </a:rPr>
              <a:t> 33.19) (~50 </a:t>
            </a:r>
            <a:r>
              <a:rPr lang="ru-RU" dirty="0" err="1">
                <a:solidFill>
                  <a:schemeClr val="bg1"/>
                </a:solidFill>
              </a:rPr>
              <a:t>тыс</a:t>
            </a:r>
            <a:r>
              <a:rPr lang="ru-RU" dirty="0">
                <a:solidFill>
                  <a:schemeClr val="bg1"/>
                </a:solidFill>
              </a:rPr>
              <a:t> лет)</a:t>
            </a:r>
          </a:p>
          <a:p>
            <a:r>
              <a:rPr lang="ru-RU" dirty="0">
                <a:solidFill>
                  <a:schemeClr val="bg1"/>
                </a:solidFill>
              </a:rPr>
              <a:t>3 SNP в геноме 2 различных популяций Неандертальцев из Южной Сибири (120 и 60 </a:t>
            </a:r>
            <a:r>
              <a:rPr lang="ru-RU" dirty="0" err="1">
                <a:solidFill>
                  <a:schemeClr val="bg1"/>
                </a:solidFill>
              </a:rPr>
              <a:t>тыс</a:t>
            </a:r>
            <a:r>
              <a:rPr lang="ru-RU" dirty="0">
                <a:solidFill>
                  <a:schemeClr val="bg1"/>
                </a:solidFill>
              </a:rPr>
              <a:t> лет)</a:t>
            </a:r>
          </a:p>
          <a:p>
            <a:r>
              <a:rPr lang="ru-RU" dirty="0">
                <a:solidFill>
                  <a:schemeClr val="bg1"/>
                </a:solidFill>
              </a:rPr>
              <a:t>Ни одного SNP общего с Денисовским человеком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Неандертальские гаплотипы</a:t>
            </a:r>
          </a:p>
          <a:p>
            <a:r>
              <a:rPr lang="ru-RU" dirty="0">
                <a:solidFill>
                  <a:schemeClr val="bg1"/>
                </a:solidFill>
              </a:rPr>
              <a:t>Эволюционно ближе к неандертальским геномам, чем к геномам современных людей и </a:t>
            </a:r>
            <a:r>
              <a:rPr lang="ru-RU" dirty="0" err="1">
                <a:solidFill>
                  <a:schemeClr val="bg1"/>
                </a:solidFill>
              </a:rPr>
              <a:t>составлют</a:t>
            </a:r>
            <a:r>
              <a:rPr lang="ru-RU" dirty="0">
                <a:solidFill>
                  <a:schemeClr val="bg1"/>
                </a:solidFill>
              </a:rPr>
              <a:t> отдельную кладу с ними- </a:t>
            </a:r>
          </a:p>
          <a:p>
            <a:r>
              <a:rPr lang="ru-RU" dirty="0">
                <a:solidFill>
                  <a:schemeClr val="bg1"/>
                </a:solidFill>
              </a:rPr>
              <a:t>Добавились в генофонд </a:t>
            </a:r>
            <a:r>
              <a:rPr lang="ru-RU" dirty="0" err="1">
                <a:solidFill>
                  <a:schemeClr val="bg1"/>
                </a:solidFill>
              </a:rPr>
              <a:t>с.л</a:t>
            </a:r>
            <a:r>
              <a:rPr lang="ru-RU" dirty="0">
                <a:solidFill>
                  <a:schemeClr val="bg1"/>
                </a:solidFill>
              </a:rPr>
              <a:t>. примерно 40-60 </a:t>
            </a:r>
            <a:r>
              <a:rPr lang="ru-RU" dirty="0" err="1">
                <a:solidFill>
                  <a:schemeClr val="bg1"/>
                </a:solidFill>
              </a:rPr>
              <a:t>тыс</a:t>
            </a:r>
            <a:r>
              <a:rPr lang="ru-RU" dirty="0">
                <a:solidFill>
                  <a:schemeClr val="bg1"/>
                </a:solidFill>
              </a:rPr>
              <a:t> лет назад в результате потока генов Н. → </a:t>
            </a:r>
            <a:r>
              <a:rPr lang="ru-RU" dirty="0" err="1">
                <a:solidFill>
                  <a:schemeClr val="bg1"/>
                </a:solidFill>
              </a:rPr>
              <a:t>С.л</a:t>
            </a:r>
            <a:r>
              <a:rPr lang="ru-RU" dirty="0">
                <a:solidFill>
                  <a:schemeClr val="bg1"/>
                </a:solidFill>
              </a:rPr>
              <a:t>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0053A4-794E-23D1-C8C4-F2981E0067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7149"/>
          <a:stretch/>
        </p:blipFill>
        <p:spPr>
          <a:xfrm>
            <a:off x="7767235" y="267755"/>
            <a:ext cx="4619172" cy="6090786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DDC1B-B024-1057-DC4F-85384E7F5E91}"/>
              </a:ext>
            </a:extLst>
          </p:cNvPr>
          <p:cNvSpPr txBox="1"/>
          <p:nvPr/>
        </p:nvSpPr>
        <p:spPr>
          <a:xfrm>
            <a:off x="0" y="6496905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Zeberg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Pääbo</a:t>
            </a:r>
            <a:r>
              <a:rPr lang="en-US" dirty="0">
                <a:solidFill>
                  <a:schemeClr val="bg1"/>
                </a:solidFill>
              </a:rPr>
              <a:t> 2020)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879DC-7223-5B73-12AE-D88EBCEA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4" y="153192"/>
            <a:ext cx="6273800" cy="1325563"/>
          </a:xfrm>
        </p:spPr>
        <p:txBody>
          <a:bodyPr/>
          <a:lstStyle/>
          <a:p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Происхождение гаплотипов</a:t>
            </a:r>
          </a:p>
        </p:txBody>
      </p:sp>
    </p:spTree>
    <p:extLst>
      <p:ext uri="{BB962C8B-B14F-4D97-AF65-F5344CB8AC3E}">
        <p14:creationId xmlns:p14="http://schemas.microsoft.com/office/powerpoint/2010/main" val="2884607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F3F81B9C-CFCC-B48A-A09F-B235AD0192C6}"/>
              </a:ext>
            </a:extLst>
          </p:cNvPr>
          <p:cNvSpPr/>
          <p:nvPr/>
        </p:nvSpPr>
        <p:spPr>
          <a:xfrm>
            <a:off x="1654629" y="-2336800"/>
            <a:ext cx="4629252" cy="11409716"/>
          </a:xfrm>
          <a:custGeom>
            <a:avLst/>
            <a:gdLst>
              <a:gd name="connsiteX0" fmla="*/ 2997912 w 3942134"/>
              <a:gd name="connsiteY0" fmla="*/ 1510540 h 9981114"/>
              <a:gd name="connsiteX1" fmla="*/ 3622026 w 3942134"/>
              <a:gd name="connsiteY1" fmla="*/ 3208712 h 9981114"/>
              <a:gd name="connsiteX2" fmla="*/ 3230141 w 3942134"/>
              <a:gd name="connsiteY2" fmla="*/ 4297283 h 9981114"/>
              <a:gd name="connsiteX3" fmla="*/ 3738141 w 3942134"/>
              <a:gd name="connsiteY3" fmla="*/ 5255226 h 9981114"/>
              <a:gd name="connsiteX4" fmla="*/ 3302712 w 3942134"/>
              <a:gd name="connsiteY4" fmla="*/ 6474426 h 9981114"/>
              <a:gd name="connsiteX5" fmla="*/ 3796198 w 3942134"/>
              <a:gd name="connsiteY5" fmla="*/ 7345283 h 9981114"/>
              <a:gd name="connsiteX6" fmla="*/ 3404312 w 3942134"/>
              <a:gd name="connsiteY6" fmla="*/ 8303226 h 9981114"/>
              <a:gd name="connsiteX7" fmla="*/ 3941341 w 3942134"/>
              <a:gd name="connsiteY7" fmla="*/ 9217626 h 9981114"/>
              <a:gd name="connsiteX8" fmla="*/ 3259169 w 3942134"/>
              <a:gd name="connsiteY8" fmla="*/ 9217626 h 9981114"/>
              <a:gd name="connsiteX9" fmla="*/ 283741 w 3942134"/>
              <a:gd name="connsiteY9" fmla="*/ 9391797 h 9981114"/>
              <a:gd name="connsiteX10" fmla="*/ 457912 w 3942134"/>
              <a:gd name="connsiteY10" fmla="*/ 770312 h 9981114"/>
              <a:gd name="connsiteX11" fmla="*/ 3259169 w 3942134"/>
              <a:gd name="connsiteY11" fmla="*/ 958997 h 998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2134" h="9981114">
                <a:moveTo>
                  <a:pt x="2997912" y="1510540"/>
                </a:moveTo>
                <a:cubicBezTo>
                  <a:pt x="3290616" y="2127397"/>
                  <a:pt x="3583321" y="2744255"/>
                  <a:pt x="3622026" y="3208712"/>
                </a:cubicBezTo>
                <a:cubicBezTo>
                  <a:pt x="3660731" y="3673169"/>
                  <a:pt x="3210789" y="3956197"/>
                  <a:pt x="3230141" y="4297283"/>
                </a:cubicBezTo>
                <a:cubicBezTo>
                  <a:pt x="3249494" y="4638369"/>
                  <a:pt x="3726046" y="4892369"/>
                  <a:pt x="3738141" y="5255226"/>
                </a:cubicBezTo>
                <a:cubicBezTo>
                  <a:pt x="3750236" y="5618083"/>
                  <a:pt x="3293036" y="6126083"/>
                  <a:pt x="3302712" y="6474426"/>
                </a:cubicBezTo>
                <a:cubicBezTo>
                  <a:pt x="3312388" y="6822769"/>
                  <a:pt x="3779265" y="7040483"/>
                  <a:pt x="3796198" y="7345283"/>
                </a:cubicBezTo>
                <a:cubicBezTo>
                  <a:pt x="3813131" y="7650083"/>
                  <a:pt x="3380121" y="7991169"/>
                  <a:pt x="3404312" y="8303226"/>
                </a:cubicBezTo>
                <a:cubicBezTo>
                  <a:pt x="3428503" y="8615283"/>
                  <a:pt x="3965531" y="9065226"/>
                  <a:pt x="3941341" y="9217626"/>
                </a:cubicBezTo>
                <a:cubicBezTo>
                  <a:pt x="3917151" y="9370026"/>
                  <a:pt x="3868769" y="9188598"/>
                  <a:pt x="3259169" y="9217626"/>
                </a:cubicBezTo>
                <a:cubicBezTo>
                  <a:pt x="2649569" y="9246655"/>
                  <a:pt x="750617" y="10799683"/>
                  <a:pt x="283741" y="9391797"/>
                </a:cubicBezTo>
                <a:cubicBezTo>
                  <a:pt x="-183135" y="7983911"/>
                  <a:pt x="-37993" y="2175779"/>
                  <a:pt x="457912" y="770312"/>
                </a:cubicBezTo>
                <a:cubicBezTo>
                  <a:pt x="953817" y="-635155"/>
                  <a:pt x="2106493" y="161921"/>
                  <a:pt x="3259169" y="958997"/>
                </a:cubicBez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BBCDE8D-E2F2-1318-E518-CB9EC55EB99C}"/>
              </a:ext>
            </a:extLst>
          </p:cNvPr>
          <p:cNvSpPr/>
          <p:nvPr/>
        </p:nvSpPr>
        <p:spPr>
          <a:xfrm>
            <a:off x="0" y="-1"/>
            <a:ext cx="267062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CA76DCA7-6E9E-FC19-8A12-7DF9E4BF4727}"/>
              </a:ext>
            </a:extLst>
          </p:cNvPr>
          <p:cNvSpPr/>
          <p:nvPr/>
        </p:nvSpPr>
        <p:spPr>
          <a:xfrm>
            <a:off x="1965987" y="-1510541"/>
            <a:ext cx="3942134" cy="9981114"/>
          </a:xfrm>
          <a:custGeom>
            <a:avLst/>
            <a:gdLst>
              <a:gd name="connsiteX0" fmla="*/ 2997912 w 3942134"/>
              <a:gd name="connsiteY0" fmla="*/ 1510540 h 9981114"/>
              <a:gd name="connsiteX1" fmla="*/ 3622026 w 3942134"/>
              <a:gd name="connsiteY1" fmla="*/ 3208712 h 9981114"/>
              <a:gd name="connsiteX2" fmla="*/ 3230141 w 3942134"/>
              <a:gd name="connsiteY2" fmla="*/ 4297283 h 9981114"/>
              <a:gd name="connsiteX3" fmla="*/ 3738141 w 3942134"/>
              <a:gd name="connsiteY3" fmla="*/ 5255226 h 9981114"/>
              <a:gd name="connsiteX4" fmla="*/ 3302712 w 3942134"/>
              <a:gd name="connsiteY4" fmla="*/ 6474426 h 9981114"/>
              <a:gd name="connsiteX5" fmla="*/ 3796198 w 3942134"/>
              <a:gd name="connsiteY5" fmla="*/ 7345283 h 9981114"/>
              <a:gd name="connsiteX6" fmla="*/ 3404312 w 3942134"/>
              <a:gd name="connsiteY6" fmla="*/ 8303226 h 9981114"/>
              <a:gd name="connsiteX7" fmla="*/ 3941341 w 3942134"/>
              <a:gd name="connsiteY7" fmla="*/ 9217626 h 9981114"/>
              <a:gd name="connsiteX8" fmla="*/ 3259169 w 3942134"/>
              <a:gd name="connsiteY8" fmla="*/ 9217626 h 9981114"/>
              <a:gd name="connsiteX9" fmla="*/ 283741 w 3942134"/>
              <a:gd name="connsiteY9" fmla="*/ 9391797 h 9981114"/>
              <a:gd name="connsiteX10" fmla="*/ 457912 w 3942134"/>
              <a:gd name="connsiteY10" fmla="*/ 770312 h 9981114"/>
              <a:gd name="connsiteX11" fmla="*/ 3259169 w 3942134"/>
              <a:gd name="connsiteY11" fmla="*/ 958997 h 998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2134" h="9981114">
                <a:moveTo>
                  <a:pt x="2997912" y="1510540"/>
                </a:moveTo>
                <a:cubicBezTo>
                  <a:pt x="3290616" y="2127397"/>
                  <a:pt x="3583321" y="2744255"/>
                  <a:pt x="3622026" y="3208712"/>
                </a:cubicBezTo>
                <a:cubicBezTo>
                  <a:pt x="3660731" y="3673169"/>
                  <a:pt x="3210789" y="3956197"/>
                  <a:pt x="3230141" y="4297283"/>
                </a:cubicBezTo>
                <a:cubicBezTo>
                  <a:pt x="3249494" y="4638369"/>
                  <a:pt x="3726046" y="4892369"/>
                  <a:pt x="3738141" y="5255226"/>
                </a:cubicBezTo>
                <a:cubicBezTo>
                  <a:pt x="3750236" y="5618083"/>
                  <a:pt x="3293036" y="6126083"/>
                  <a:pt x="3302712" y="6474426"/>
                </a:cubicBezTo>
                <a:cubicBezTo>
                  <a:pt x="3312388" y="6822769"/>
                  <a:pt x="3779265" y="7040483"/>
                  <a:pt x="3796198" y="7345283"/>
                </a:cubicBezTo>
                <a:cubicBezTo>
                  <a:pt x="3813131" y="7650083"/>
                  <a:pt x="3380121" y="7991169"/>
                  <a:pt x="3404312" y="8303226"/>
                </a:cubicBezTo>
                <a:cubicBezTo>
                  <a:pt x="3428503" y="8615283"/>
                  <a:pt x="3965531" y="9065226"/>
                  <a:pt x="3941341" y="9217626"/>
                </a:cubicBezTo>
                <a:cubicBezTo>
                  <a:pt x="3917151" y="9370026"/>
                  <a:pt x="3868769" y="9188598"/>
                  <a:pt x="3259169" y="9217626"/>
                </a:cubicBezTo>
                <a:cubicBezTo>
                  <a:pt x="2649569" y="9246655"/>
                  <a:pt x="750617" y="10799683"/>
                  <a:pt x="283741" y="9391797"/>
                </a:cubicBezTo>
                <a:cubicBezTo>
                  <a:pt x="-183135" y="7983911"/>
                  <a:pt x="-37993" y="2175779"/>
                  <a:pt x="457912" y="770312"/>
                </a:cubicBezTo>
                <a:cubicBezTo>
                  <a:pt x="953817" y="-635155"/>
                  <a:pt x="2106493" y="161921"/>
                  <a:pt x="3259169" y="958997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C125D-EFE8-BC19-C01E-8E5E4905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102637"/>
            <a:ext cx="5921829" cy="13255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Ионный канал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Nav1.7</a:t>
            </a:r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E8F1D-11BD-8B17-8149-890D54D9D2DE}"/>
              </a:ext>
            </a:extLst>
          </p:cNvPr>
          <p:cNvSpPr txBox="1"/>
          <p:nvPr/>
        </p:nvSpPr>
        <p:spPr>
          <a:xfrm>
            <a:off x="6019803" y="1244189"/>
            <a:ext cx="617219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ru-RU" sz="2400" b="1" dirty="0" err="1">
                <a:solidFill>
                  <a:schemeClr val="accent3">
                    <a:lumMod val="75000"/>
                  </a:schemeClr>
                </a:solidFill>
              </a:rPr>
              <a:t>кодир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.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SCN3B)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потенциал-зависимый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Na</a:t>
            </a:r>
            <a:r>
              <a:rPr lang="en-US" sz="2400" b="1" baseline="30000" dirty="0">
                <a:solidFill>
                  <a:schemeClr val="accent3">
                    <a:lumMod val="75000"/>
                  </a:schemeClr>
                </a:solidFill>
              </a:rPr>
              <a:t>+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каналы</a:t>
            </a:r>
          </a:p>
          <a:p>
            <a:endParaRPr lang="ru-RU" sz="2400" dirty="0"/>
          </a:p>
          <a:p>
            <a:r>
              <a:rPr lang="ru-RU" sz="2400" dirty="0"/>
              <a:t>Регулируют передачу боли в периферической нервной системе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 err="1"/>
              <a:t>Нендертальская</a:t>
            </a:r>
            <a:r>
              <a:rPr lang="ru-RU" sz="2400" dirty="0"/>
              <a:t> аллель гена </a:t>
            </a:r>
            <a:r>
              <a:rPr lang="en-US" sz="2400" dirty="0"/>
              <a:t>SCN3B</a:t>
            </a:r>
            <a:r>
              <a:rPr lang="ru-RU" sz="2400" dirty="0"/>
              <a:t> приводит к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 Δ последовательности</a:t>
            </a:r>
            <a:r>
              <a:rPr lang="ru-RU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инактивационных врат канала</a:t>
            </a:r>
          </a:p>
          <a:p>
            <a:endParaRPr lang="en-US" sz="2400" dirty="0"/>
          </a:p>
          <a:p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Сдвиг </a:t>
            </a:r>
            <a:r>
              <a:rPr lang="ru-RU" sz="2400" b="1" dirty="0" err="1">
                <a:solidFill>
                  <a:schemeClr val="accent3">
                    <a:lumMod val="75000"/>
                  </a:schemeClr>
                </a:solidFill>
              </a:rPr>
              <a:t>инактивационной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 кривой на 6,1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mV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(в отрицательную сторону)</a:t>
            </a:r>
          </a:p>
          <a:p>
            <a:endParaRPr lang="en-US" sz="2400" dirty="0"/>
          </a:p>
          <a:p>
            <a:r>
              <a:rPr lang="ru-RU" sz="2400" dirty="0"/>
              <a:t>Канал открывается на б</a:t>
            </a:r>
            <a:r>
              <a:rPr lang="en-US" sz="2400" dirty="0"/>
              <a:t>ó</a:t>
            </a:r>
            <a:r>
              <a:rPr lang="ru-RU" sz="2400" dirty="0" err="1"/>
              <a:t>льшее</a:t>
            </a:r>
            <a:r>
              <a:rPr lang="ru-RU" sz="2400" dirty="0"/>
              <a:t> время</a:t>
            </a:r>
          </a:p>
        </p:txBody>
      </p:sp>
      <p:pic>
        <p:nvPicPr>
          <p:cNvPr id="12" name="7W9L_camera-spin-black">
            <a:hlinkClick r:id="" action="ppaction://media"/>
            <a:extLst>
              <a:ext uri="{FF2B5EF4-FFF2-40B4-BE49-F238E27FC236}">
                <a16:creationId xmlns:a16="http://schemas.microsoft.com/office/drawing/2014/main" id="{11988DE4-8DD9-26D4-D725-567C7CB7BAB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1094" t="2409" r="26912" b="-2409"/>
          <a:stretch/>
        </p:blipFill>
        <p:spPr>
          <a:xfrm>
            <a:off x="-447401" y="452214"/>
            <a:ext cx="5596450" cy="6054299"/>
          </a:xfrm>
          <a:prstGeom prst="round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A26E8D6-D7D0-AD80-31E0-9E50FBFEB098}"/>
              </a:ext>
            </a:extLst>
          </p:cNvPr>
          <p:cNvSpPr txBox="1"/>
          <p:nvPr/>
        </p:nvSpPr>
        <p:spPr>
          <a:xfrm>
            <a:off x="0" y="6506513"/>
            <a:ext cx="6422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>
                    <a:lumMod val="95000"/>
                  </a:schemeClr>
                </a:solidFill>
              </a:rPr>
              <a:t>(Protein model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by Huang et al. 2022)</a:t>
            </a:r>
            <a:endParaRPr lang="ru-RU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64EBD-8A23-718C-F1CA-7DCD994B42C3}"/>
              </a:ext>
            </a:extLst>
          </p:cNvPr>
          <p:cNvSpPr txBox="1"/>
          <p:nvPr/>
        </p:nvSpPr>
        <p:spPr>
          <a:xfrm>
            <a:off x="9775371" y="6468223"/>
            <a:ext cx="64225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Zeberg</a:t>
            </a:r>
            <a:r>
              <a:rPr lang="en-US" sz="2000" dirty="0"/>
              <a:t> et al. 2020)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6382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3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CB4C045-8978-0E85-C73D-A748290309AD}"/>
              </a:ext>
            </a:extLst>
          </p:cNvPr>
          <p:cNvGrpSpPr/>
          <p:nvPr/>
        </p:nvGrpSpPr>
        <p:grpSpPr>
          <a:xfrm>
            <a:off x="838200" y="3182916"/>
            <a:ext cx="10172700" cy="3700484"/>
            <a:chOff x="838200" y="3157516"/>
            <a:chExt cx="10172700" cy="3700484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FEB47C1-6A17-C00B-6F3D-ABA9F85A5F24}"/>
                </a:ext>
              </a:extLst>
            </p:cNvPr>
            <p:cNvGrpSpPr/>
            <p:nvPr/>
          </p:nvGrpSpPr>
          <p:grpSpPr>
            <a:xfrm>
              <a:off x="838200" y="3157516"/>
              <a:ext cx="10172700" cy="3700484"/>
              <a:chOff x="838200" y="1482027"/>
              <a:chExt cx="8811855" cy="3075707"/>
            </a:xfrm>
          </p:grpSpPr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3BD98A47-DF6D-2167-44A1-03F13BC96B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61145"/>
              <a:stretch/>
            </p:blipFill>
            <p:spPr>
              <a:xfrm>
                <a:off x="838200" y="1482027"/>
                <a:ext cx="8811855" cy="1946974"/>
              </a:xfrm>
              <a:prstGeom prst="rect">
                <a:avLst/>
              </a:prstGeom>
            </p:spPr>
          </p:pic>
          <p:pic>
            <p:nvPicPr>
              <p:cNvPr id="7" name="Рисунок 6">
                <a:extLst>
                  <a:ext uri="{FF2B5EF4-FFF2-40B4-BE49-F238E27FC236}">
                    <a16:creationId xmlns:a16="http://schemas.microsoft.com/office/drawing/2014/main" id="{B90EA3A2-6DBE-1A91-A1B6-CD10201457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76533"/>
              <a:stretch/>
            </p:blipFill>
            <p:spPr>
              <a:xfrm>
                <a:off x="838200" y="3381831"/>
                <a:ext cx="8811855" cy="1175903"/>
              </a:xfrm>
              <a:prstGeom prst="rect">
                <a:avLst/>
              </a:prstGeom>
            </p:spPr>
          </p:pic>
        </p:grp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1EC870E1-4218-0A6B-AD31-23806167F0E9}"/>
                </a:ext>
              </a:extLst>
            </p:cNvPr>
            <p:cNvSpPr/>
            <p:nvPr/>
          </p:nvSpPr>
          <p:spPr>
            <a:xfrm>
              <a:off x="971550" y="3666961"/>
              <a:ext cx="9906000" cy="447676"/>
            </a:xfrm>
            <a:prstGeom prst="roundRect">
              <a:avLst>
                <a:gd name="adj" fmla="val 39362"/>
              </a:avLst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451AF806-8CFD-76B4-0D8F-9D02F97542DB}"/>
              </a:ext>
            </a:extLst>
          </p:cNvPr>
          <p:cNvSpPr/>
          <p:nvPr/>
        </p:nvSpPr>
        <p:spPr>
          <a:xfrm flipH="1">
            <a:off x="-1662222" y="-1152443"/>
            <a:ext cx="15911622" cy="4819404"/>
          </a:xfrm>
          <a:custGeom>
            <a:avLst/>
            <a:gdLst>
              <a:gd name="connsiteX0" fmla="*/ 1159634 w 14697615"/>
              <a:gd name="connsiteY0" fmla="*/ 4195775 h 4195775"/>
              <a:gd name="connsiteX1" fmla="*/ 2864609 w 14697615"/>
              <a:gd name="connsiteY1" fmla="*/ 3795725 h 4195775"/>
              <a:gd name="connsiteX2" fmla="*/ 5531609 w 14697615"/>
              <a:gd name="connsiteY2" fmla="*/ 3900500 h 4195775"/>
              <a:gd name="connsiteX3" fmla="*/ 11132309 w 14697615"/>
              <a:gd name="connsiteY3" fmla="*/ 3481400 h 4195775"/>
              <a:gd name="connsiteX4" fmla="*/ 13846934 w 14697615"/>
              <a:gd name="connsiteY4" fmla="*/ 3890975 h 4195775"/>
              <a:gd name="connsiteX5" fmla="*/ 13837409 w 14697615"/>
              <a:gd name="connsiteY5" fmla="*/ 3748100 h 4195775"/>
              <a:gd name="connsiteX6" fmla="*/ 13742159 w 14697615"/>
              <a:gd name="connsiteY6" fmla="*/ 414350 h 4195775"/>
              <a:gd name="connsiteX7" fmla="*/ 1226309 w 14697615"/>
              <a:gd name="connsiteY7" fmla="*/ 433400 h 4195775"/>
              <a:gd name="connsiteX8" fmla="*/ 1159634 w 14697615"/>
              <a:gd name="connsiteY8" fmla="*/ 3881450 h 419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7615" h="4195775">
                <a:moveTo>
                  <a:pt x="1159634" y="4195775"/>
                </a:moveTo>
                <a:cubicBezTo>
                  <a:pt x="1647790" y="4020356"/>
                  <a:pt x="2135947" y="3844937"/>
                  <a:pt x="2864609" y="3795725"/>
                </a:cubicBezTo>
                <a:cubicBezTo>
                  <a:pt x="3593271" y="3746513"/>
                  <a:pt x="4153659" y="3952887"/>
                  <a:pt x="5531609" y="3900500"/>
                </a:cubicBezTo>
                <a:cubicBezTo>
                  <a:pt x="6909559" y="3848113"/>
                  <a:pt x="9746422" y="3482987"/>
                  <a:pt x="11132309" y="3481400"/>
                </a:cubicBezTo>
                <a:cubicBezTo>
                  <a:pt x="12518196" y="3479813"/>
                  <a:pt x="13396084" y="3846525"/>
                  <a:pt x="13846934" y="3890975"/>
                </a:cubicBezTo>
                <a:cubicBezTo>
                  <a:pt x="14297784" y="3935425"/>
                  <a:pt x="13854872" y="4327538"/>
                  <a:pt x="13837409" y="3748100"/>
                </a:cubicBezTo>
                <a:cubicBezTo>
                  <a:pt x="13819947" y="3168662"/>
                  <a:pt x="15844009" y="966800"/>
                  <a:pt x="13742159" y="414350"/>
                </a:cubicBezTo>
                <a:cubicBezTo>
                  <a:pt x="11640309" y="-138100"/>
                  <a:pt x="3323396" y="-144450"/>
                  <a:pt x="1226309" y="433400"/>
                </a:cubicBezTo>
                <a:cubicBezTo>
                  <a:pt x="-870778" y="1011250"/>
                  <a:pt x="144428" y="2446350"/>
                  <a:pt x="1159634" y="3881450"/>
                </a:cubicBez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4EBA142A-BD6C-C1C7-373F-D903E7598700}"/>
              </a:ext>
            </a:extLst>
          </p:cNvPr>
          <p:cNvSpPr/>
          <p:nvPr/>
        </p:nvSpPr>
        <p:spPr>
          <a:xfrm flipH="1">
            <a:off x="-1583976" y="-1152443"/>
            <a:ext cx="15017052" cy="4488475"/>
          </a:xfrm>
          <a:custGeom>
            <a:avLst/>
            <a:gdLst>
              <a:gd name="connsiteX0" fmla="*/ 1159634 w 14697615"/>
              <a:gd name="connsiteY0" fmla="*/ 4195775 h 4195775"/>
              <a:gd name="connsiteX1" fmla="*/ 2864609 w 14697615"/>
              <a:gd name="connsiteY1" fmla="*/ 3795725 h 4195775"/>
              <a:gd name="connsiteX2" fmla="*/ 5531609 w 14697615"/>
              <a:gd name="connsiteY2" fmla="*/ 3900500 h 4195775"/>
              <a:gd name="connsiteX3" fmla="*/ 11132309 w 14697615"/>
              <a:gd name="connsiteY3" fmla="*/ 3481400 h 4195775"/>
              <a:gd name="connsiteX4" fmla="*/ 13846934 w 14697615"/>
              <a:gd name="connsiteY4" fmla="*/ 3890975 h 4195775"/>
              <a:gd name="connsiteX5" fmla="*/ 13837409 w 14697615"/>
              <a:gd name="connsiteY5" fmla="*/ 3748100 h 4195775"/>
              <a:gd name="connsiteX6" fmla="*/ 13742159 w 14697615"/>
              <a:gd name="connsiteY6" fmla="*/ 414350 h 4195775"/>
              <a:gd name="connsiteX7" fmla="*/ 1226309 w 14697615"/>
              <a:gd name="connsiteY7" fmla="*/ 433400 h 4195775"/>
              <a:gd name="connsiteX8" fmla="*/ 1159634 w 14697615"/>
              <a:gd name="connsiteY8" fmla="*/ 3881450 h 419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7615" h="4195775">
                <a:moveTo>
                  <a:pt x="1159634" y="4195775"/>
                </a:moveTo>
                <a:cubicBezTo>
                  <a:pt x="1647790" y="4020356"/>
                  <a:pt x="2135947" y="3844937"/>
                  <a:pt x="2864609" y="3795725"/>
                </a:cubicBezTo>
                <a:cubicBezTo>
                  <a:pt x="3593271" y="3746513"/>
                  <a:pt x="4153659" y="3952887"/>
                  <a:pt x="5531609" y="3900500"/>
                </a:cubicBezTo>
                <a:cubicBezTo>
                  <a:pt x="6909559" y="3848113"/>
                  <a:pt x="9746422" y="3482987"/>
                  <a:pt x="11132309" y="3481400"/>
                </a:cubicBezTo>
                <a:cubicBezTo>
                  <a:pt x="12518196" y="3479813"/>
                  <a:pt x="13396084" y="3846525"/>
                  <a:pt x="13846934" y="3890975"/>
                </a:cubicBezTo>
                <a:cubicBezTo>
                  <a:pt x="14297784" y="3935425"/>
                  <a:pt x="13854872" y="4327538"/>
                  <a:pt x="13837409" y="3748100"/>
                </a:cubicBezTo>
                <a:cubicBezTo>
                  <a:pt x="13819947" y="3168662"/>
                  <a:pt x="15844009" y="966800"/>
                  <a:pt x="13742159" y="414350"/>
                </a:cubicBezTo>
                <a:cubicBezTo>
                  <a:pt x="11640309" y="-138100"/>
                  <a:pt x="3323396" y="-144450"/>
                  <a:pt x="1226309" y="433400"/>
                </a:cubicBezTo>
                <a:cubicBezTo>
                  <a:pt x="-870778" y="1011250"/>
                  <a:pt x="144428" y="2446350"/>
                  <a:pt x="1159634" y="388145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1156C-612E-DE98-EE7B-208222C4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0" y="-118426"/>
            <a:ext cx="3124200" cy="1325563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Фенотип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endParaRPr lang="ru-RU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DB900-C049-7F70-E004-BD047EB0ED4F}"/>
              </a:ext>
            </a:extLst>
          </p:cNvPr>
          <p:cNvSpPr txBox="1"/>
          <p:nvPr/>
        </p:nvSpPr>
        <p:spPr>
          <a:xfrm>
            <a:off x="3124200" y="338782"/>
            <a:ext cx="910692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Повышенный риск развития хронических болей</a:t>
            </a:r>
            <a:endParaRPr lang="en-US" sz="25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sz="25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u-RU" sz="2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Наибольшая распространённость: 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</a:rPr>
              <a:t>- Восточная Азия (11%)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</a:rPr>
              <a:t>- Америка (до 50%)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08D84A-1B4F-3F75-8839-981D8D6B040D}"/>
              </a:ext>
            </a:extLst>
          </p:cNvPr>
          <p:cNvSpPr txBox="1"/>
          <p:nvPr/>
        </p:nvSpPr>
        <p:spPr>
          <a:xfrm>
            <a:off x="9771743" y="6455523"/>
            <a:ext cx="64225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Zeberg</a:t>
            </a:r>
            <a:r>
              <a:rPr lang="en-US" sz="2000" dirty="0"/>
              <a:t> et al. 2020)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57628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660772-EADE-4ED5-9997-9A112F1D7CC5}"/>
              </a:ext>
            </a:extLst>
          </p:cNvPr>
          <p:cNvSpPr/>
          <p:nvPr/>
        </p:nvSpPr>
        <p:spPr>
          <a:xfrm>
            <a:off x="0" y="-28573"/>
            <a:ext cx="12192000" cy="11026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2E7B94-1E0F-DA07-EF66-6C2EC141AB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674"/>
          <a:stretch/>
        </p:blipFill>
        <p:spPr>
          <a:xfrm>
            <a:off x="288073" y="1690688"/>
            <a:ext cx="11903928" cy="4802187"/>
          </a:xfrm>
          <a:prstGeom prst="rect">
            <a:avLst/>
          </a:prstGeom>
        </p:spPr>
      </p:pic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89B1BEFF-8B56-7F61-D99F-6A3870877A90}"/>
              </a:ext>
            </a:extLst>
          </p:cNvPr>
          <p:cNvSpPr/>
          <p:nvPr/>
        </p:nvSpPr>
        <p:spPr>
          <a:xfrm rot="5400000">
            <a:off x="6632342" y="-8017785"/>
            <a:ext cx="1301984" cy="18758137"/>
          </a:xfrm>
          <a:custGeom>
            <a:avLst/>
            <a:gdLst>
              <a:gd name="connsiteX0" fmla="*/ 691672 w 1301984"/>
              <a:gd name="connsiteY0" fmla="*/ 1562204 h 9747205"/>
              <a:gd name="connsiteX1" fmla="*/ 1072672 w 1301984"/>
              <a:gd name="connsiteY1" fmla="*/ 2425804 h 9747205"/>
              <a:gd name="connsiteX2" fmla="*/ 856772 w 1301984"/>
              <a:gd name="connsiteY2" fmla="*/ 3797404 h 9747205"/>
              <a:gd name="connsiteX3" fmla="*/ 1021872 w 1301984"/>
              <a:gd name="connsiteY3" fmla="*/ 5321404 h 9747205"/>
              <a:gd name="connsiteX4" fmla="*/ 818672 w 1301984"/>
              <a:gd name="connsiteY4" fmla="*/ 7239104 h 9747205"/>
              <a:gd name="connsiteX5" fmla="*/ 1301272 w 1301984"/>
              <a:gd name="connsiteY5" fmla="*/ 8890104 h 9747205"/>
              <a:gd name="connsiteX6" fmla="*/ 691672 w 1301984"/>
              <a:gd name="connsiteY6" fmla="*/ 9118704 h 9747205"/>
              <a:gd name="connsiteX7" fmla="*/ 526572 w 1301984"/>
              <a:gd name="connsiteY7" fmla="*/ 9118704 h 9747205"/>
              <a:gd name="connsiteX8" fmla="*/ 5872 w 1301984"/>
              <a:gd name="connsiteY8" fmla="*/ 749404 h 9747205"/>
              <a:gd name="connsiteX9" fmla="*/ 907572 w 1301984"/>
              <a:gd name="connsiteY9" fmla="*/ 927204 h 974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1984" h="9747205">
                <a:moveTo>
                  <a:pt x="691672" y="1562204"/>
                </a:moveTo>
                <a:cubicBezTo>
                  <a:pt x="868413" y="1807737"/>
                  <a:pt x="1045155" y="2053271"/>
                  <a:pt x="1072672" y="2425804"/>
                </a:cubicBezTo>
                <a:cubicBezTo>
                  <a:pt x="1100189" y="2798337"/>
                  <a:pt x="865239" y="3314804"/>
                  <a:pt x="856772" y="3797404"/>
                </a:cubicBezTo>
                <a:cubicBezTo>
                  <a:pt x="848305" y="4280004"/>
                  <a:pt x="1028222" y="4747787"/>
                  <a:pt x="1021872" y="5321404"/>
                </a:cubicBezTo>
                <a:cubicBezTo>
                  <a:pt x="1015522" y="5895021"/>
                  <a:pt x="772105" y="6644321"/>
                  <a:pt x="818672" y="7239104"/>
                </a:cubicBezTo>
                <a:cubicBezTo>
                  <a:pt x="865239" y="7833887"/>
                  <a:pt x="1322439" y="8576837"/>
                  <a:pt x="1301272" y="8890104"/>
                </a:cubicBezTo>
                <a:cubicBezTo>
                  <a:pt x="1280105" y="9203371"/>
                  <a:pt x="820789" y="9080604"/>
                  <a:pt x="691672" y="9118704"/>
                </a:cubicBezTo>
                <a:cubicBezTo>
                  <a:pt x="562555" y="9156804"/>
                  <a:pt x="640872" y="10513587"/>
                  <a:pt x="526572" y="9118704"/>
                </a:cubicBezTo>
                <a:cubicBezTo>
                  <a:pt x="412272" y="7723821"/>
                  <a:pt x="-57628" y="2114654"/>
                  <a:pt x="5872" y="749404"/>
                </a:cubicBezTo>
                <a:cubicBezTo>
                  <a:pt x="69372" y="-615846"/>
                  <a:pt x="488472" y="155679"/>
                  <a:pt x="907572" y="927204"/>
                </a:cubicBez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8CBE48A6-98F5-9D57-ABB4-E738F99DD7D3}"/>
              </a:ext>
            </a:extLst>
          </p:cNvPr>
          <p:cNvSpPr/>
          <p:nvPr/>
        </p:nvSpPr>
        <p:spPr>
          <a:xfrm rot="5400000">
            <a:off x="6265064" y="-7304884"/>
            <a:ext cx="1301984" cy="16793031"/>
          </a:xfrm>
          <a:custGeom>
            <a:avLst/>
            <a:gdLst>
              <a:gd name="connsiteX0" fmla="*/ 691672 w 1301984"/>
              <a:gd name="connsiteY0" fmla="*/ 1562204 h 9747205"/>
              <a:gd name="connsiteX1" fmla="*/ 1072672 w 1301984"/>
              <a:gd name="connsiteY1" fmla="*/ 2425804 h 9747205"/>
              <a:gd name="connsiteX2" fmla="*/ 856772 w 1301984"/>
              <a:gd name="connsiteY2" fmla="*/ 3797404 h 9747205"/>
              <a:gd name="connsiteX3" fmla="*/ 1021872 w 1301984"/>
              <a:gd name="connsiteY3" fmla="*/ 5321404 h 9747205"/>
              <a:gd name="connsiteX4" fmla="*/ 818672 w 1301984"/>
              <a:gd name="connsiteY4" fmla="*/ 7239104 h 9747205"/>
              <a:gd name="connsiteX5" fmla="*/ 1301272 w 1301984"/>
              <a:gd name="connsiteY5" fmla="*/ 8890104 h 9747205"/>
              <a:gd name="connsiteX6" fmla="*/ 691672 w 1301984"/>
              <a:gd name="connsiteY6" fmla="*/ 9118704 h 9747205"/>
              <a:gd name="connsiteX7" fmla="*/ 526572 w 1301984"/>
              <a:gd name="connsiteY7" fmla="*/ 9118704 h 9747205"/>
              <a:gd name="connsiteX8" fmla="*/ 5872 w 1301984"/>
              <a:gd name="connsiteY8" fmla="*/ 749404 h 9747205"/>
              <a:gd name="connsiteX9" fmla="*/ 907572 w 1301984"/>
              <a:gd name="connsiteY9" fmla="*/ 927204 h 974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1984" h="9747205">
                <a:moveTo>
                  <a:pt x="691672" y="1562204"/>
                </a:moveTo>
                <a:cubicBezTo>
                  <a:pt x="868413" y="1807737"/>
                  <a:pt x="1045155" y="2053271"/>
                  <a:pt x="1072672" y="2425804"/>
                </a:cubicBezTo>
                <a:cubicBezTo>
                  <a:pt x="1100189" y="2798337"/>
                  <a:pt x="865239" y="3314804"/>
                  <a:pt x="856772" y="3797404"/>
                </a:cubicBezTo>
                <a:cubicBezTo>
                  <a:pt x="848305" y="4280004"/>
                  <a:pt x="1028222" y="4747787"/>
                  <a:pt x="1021872" y="5321404"/>
                </a:cubicBezTo>
                <a:cubicBezTo>
                  <a:pt x="1015522" y="5895021"/>
                  <a:pt x="772105" y="6644321"/>
                  <a:pt x="818672" y="7239104"/>
                </a:cubicBezTo>
                <a:cubicBezTo>
                  <a:pt x="865239" y="7833887"/>
                  <a:pt x="1322439" y="8576837"/>
                  <a:pt x="1301272" y="8890104"/>
                </a:cubicBezTo>
                <a:cubicBezTo>
                  <a:pt x="1280105" y="9203371"/>
                  <a:pt x="820789" y="9080604"/>
                  <a:pt x="691672" y="9118704"/>
                </a:cubicBezTo>
                <a:cubicBezTo>
                  <a:pt x="562555" y="9156804"/>
                  <a:pt x="640872" y="10513587"/>
                  <a:pt x="526572" y="9118704"/>
                </a:cubicBezTo>
                <a:cubicBezTo>
                  <a:pt x="412272" y="7723821"/>
                  <a:pt x="-57628" y="2114654"/>
                  <a:pt x="5872" y="749404"/>
                </a:cubicBezTo>
                <a:cubicBezTo>
                  <a:pt x="69372" y="-615846"/>
                  <a:pt x="488472" y="155679"/>
                  <a:pt x="907572" y="927204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000D5-3434-E443-272A-07425E132F39}"/>
              </a:ext>
            </a:extLst>
          </p:cNvPr>
          <p:cNvSpPr txBox="1"/>
          <p:nvPr/>
        </p:nvSpPr>
        <p:spPr>
          <a:xfrm>
            <a:off x="10442575" y="6488668"/>
            <a:ext cx="6407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(Hameed 2019)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A04B36-0ED9-1E81-55E0-54ED51D683A3}"/>
              </a:ext>
            </a:extLst>
          </p:cNvPr>
          <p:cNvSpPr/>
          <p:nvPr/>
        </p:nvSpPr>
        <p:spPr>
          <a:xfrm>
            <a:off x="6646208" y="6117451"/>
            <a:ext cx="1496043" cy="465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E415251-92B1-4B50-A003-AF44D6C10456}"/>
              </a:ext>
            </a:extLst>
          </p:cNvPr>
          <p:cNvSpPr/>
          <p:nvPr/>
        </p:nvSpPr>
        <p:spPr>
          <a:xfrm>
            <a:off x="778808" y="6213772"/>
            <a:ext cx="1209676" cy="3693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F6EE6-0120-3BDF-A8C7-438B2209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08" y="106805"/>
            <a:ext cx="9258300" cy="1325563"/>
          </a:xfrm>
        </p:spPr>
        <p:txBody>
          <a:bodyPr/>
          <a:lstStyle/>
          <a:p>
            <a:r>
              <a:rPr lang="ru-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Патогенез</a:t>
            </a:r>
          </a:p>
        </p:txBody>
      </p:sp>
    </p:spTree>
    <p:extLst>
      <p:ext uri="{BB962C8B-B14F-4D97-AF65-F5344CB8AC3E}">
        <p14:creationId xmlns:p14="http://schemas.microsoft.com/office/powerpoint/2010/main" val="4264603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BE4B5-EAB1-DC2B-8F46-4E6ECE79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EB2E49-C679-B9DD-13E9-C9BF1E541C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674"/>
          <a:stretch/>
        </p:blipFill>
        <p:spPr>
          <a:xfrm>
            <a:off x="288073" y="1690688"/>
            <a:ext cx="11903928" cy="4802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2FA909-E320-1617-EC9B-E0C774B0B2E3}"/>
              </a:ext>
            </a:extLst>
          </p:cNvPr>
          <p:cNvSpPr txBox="1"/>
          <p:nvPr/>
        </p:nvSpPr>
        <p:spPr>
          <a:xfrm>
            <a:off x="10442575" y="6488668"/>
            <a:ext cx="6407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(Hameed 2019)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C19F004-5643-8FA5-B910-3BE1AA453130}"/>
              </a:ext>
            </a:extLst>
          </p:cNvPr>
          <p:cNvSpPr/>
          <p:nvPr/>
        </p:nvSpPr>
        <p:spPr>
          <a:xfrm>
            <a:off x="6646208" y="6117451"/>
            <a:ext cx="1496043" cy="465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7FABCC-48F8-C673-6C5E-785A18CE40D4}"/>
              </a:ext>
            </a:extLst>
          </p:cNvPr>
          <p:cNvSpPr/>
          <p:nvPr/>
        </p:nvSpPr>
        <p:spPr>
          <a:xfrm>
            <a:off x="778808" y="6213772"/>
            <a:ext cx="1209676" cy="3693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id="{889BD499-8D3C-4F95-D521-F12642865C97}"/>
              </a:ext>
            </a:extLst>
          </p:cNvPr>
          <p:cNvSpPr/>
          <p:nvPr/>
        </p:nvSpPr>
        <p:spPr>
          <a:xfrm>
            <a:off x="1671894" y="3653629"/>
            <a:ext cx="1842176" cy="1897361"/>
          </a:xfrm>
          <a:prstGeom prst="mathMultiply">
            <a:avLst>
              <a:gd name="adj1" fmla="val 128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ru-RU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ED63257-4396-6D7B-2F8E-FA289C893E7B}"/>
              </a:ext>
            </a:extLst>
          </p:cNvPr>
          <p:cNvSpPr/>
          <p:nvPr/>
        </p:nvSpPr>
        <p:spPr>
          <a:xfrm>
            <a:off x="4345884" y="5591175"/>
            <a:ext cx="2931216" cy="759103"/>
          </a:xfrm>
          <a:prstGeom prst="roundRect">
            <a:avLst/>
          </a:prstGeom>
          <a:noFill/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C95E8-9F67-7A0A-FBF9-2F82E2FB5C8D}"/>
              </a:ext>
            </a:extLst>
          </p:cNvPr>
          <p:cNvSpPr txBox="1"/>
          <p:nvPr/>
        </p:nvSpPr>
        <p:spPr>
          <a:xfrm>
            <a:off x="4861439" y="6352272"/>
            <a:ext cx="262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3">
                    <a:lumMod val="75000"/>
                  </a:schemeClr>
                </a:solidFill>
              </a:rPr>
              <a:t>Спонтанно!</a:t>
            </a:r>
          </a:p>
        </p:txBody>
      </p:sp>
      <p:sp>
        <p:nvSpPr>
          <p:cNvPr id="21" name="Заголовок 20">
            <a:extLst>
              <a:ext uri="{FF2B5EF4-FFF2-40B4-BE49-F238E27FC236}">
                <a16:creationId xmlns:a16="http://schemas.microsoft.com/office/drawing/2014/main" id="{82AA61D5-A969-0F5E-67E0-A0871596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ACF6E5E-3A55-068B-F753-C616BB2F7A28}"/>
              </a:ext>
            </a:extLst>
          </p:cNvPr>
          <p:cNvSpPr/>
          <p:nvPr/>
        </p:nvSpPr>
        <p:spPr>
          <a:xfrm>
            <a:off x="0" y="-28573"/>
            <a:ext cx="12192000" cy="11026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84ED2E09-2DBD-CFC9-6376-3CC2D1BD440F}"/>
              </a:ext>
            </a:extLst>
          </p:cNvPr>
          <p:cNvSpPr/>
          <p:nvPr/>
        </p:nvSpPr>
        <p:spPr>
          <a:xfrm rot="5400000">
            <a:off x="6632342" y="-8017785"/>
            <a:ext cx="1301984" cy="18758137"/>
          </a:xfrm>
          <a:custGeom>
            <a:avLst/>
            <a:gdLst>
              <a:gd name="connsiteX0" fmla="*/ 691672 w 1301984"/>
              <a:gd name="connsiteY0" fmla="*/ 1562204 h 9747205"/>
              <a:gd name="connsiteX1" fmla="*/ 1072672 w 1301984"/>
              <a:gd name="connsiteY1" fmla="*/ 2425804 h 9747205"/>
              <a:gd name="connsiteX2" fmla="*/ 856772 w 1301984"/>
              <a:gd name="connsiteY2" fmla="*/ 3797404 h 9747205"/>
              <a:gd name="connsiteX3" fmla="*/ 1021872 w 1301984"/>
              <a:gd name="connsiteY3" fmla="*/ 5321404 h 9747205"/>
              <a:gd name="connsiteX4" fmla="*/ 818672 w 1301984"/>
              <a:gd name="connsiteY4" fmla="*/ 7239104 h 9747205"/>
              <a:gd name="connsiteX5" fmla="*/ 1301272 w 1301984"/>
              <a:gd name="connsiteY5" fmla="*/ 8890104 h 9747205"/>
              <a:gd name="connsiteX6" fmla="*/ 691672 w 1301984"/>
              <a:gd name="connsiteY6" fmla="*/ 9118704 h 9747205"/>
              <a:gd name="connsiteX7" fmla="*/ 526572 w 1301984"/>
              <a:gd name="connsiteY7" fmla="*/ 9118704 h 9747205"/>
              <a:gd name="connsiteX8" fmla="*/ 5872 w 1301984"/>
              <a:gd name="connsiteY8" fmla="*/ 749404 h 9747205"/>
              <a:gd name="connsiteX9" fmla="*/ 907572 w 1301984"/>
              <a:gd name="connsiteY9" fmla="*/ 927204 h 974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1984" h="9747205">
                <a:moveTo>
                  <a:pt x="691672" y="1562204"/>
                </a:moveTo>
                <a:cubicBezTo>
                  <a:pt x="868413" y="1807737"/>
                  <a:pt x="1045155" y="2053271"/>
                  <a:pt x="1072672" y="2425804"/>
                </a:cubicBezTo>
                <a:cubicBezTo>
                  <a:pt x="1100189" y="2798337"/>
                  <a:pt x="865239" y="3314804"/>
                  <a:pt x="856772" y="3797404"/>
                </a:cubicBezTo>
                <a:cubicBezTo>
                  <a:pt x="848305" y="4280004"/>
                  <a:pt x="1028222" y="4747787"/>
                  <a:pt x="1021872" y="5321404"/>
                </a:cubicBezTo>
                <a:cubicBezTo>
                  <a:pt x="1015522" y="5895021"/>
                  <a:pt x="772105" y="6644321"/>
                  <a:pt x="818672" y="7239104"/>
                </a:cubicBezTo>
                <a:cubicBezTo>
                  <a:pt x="865239" y="7833887"/>
                  <a:pt x="1322439" y="8576837"/>
                  <a:pt x="1301272" y="8890104"/>
                </a:cubicBezTo>
                <a:cubicBezTo>
                  <a:pt x="1280105" y="9203371"/>
                  <a:pt x="820789" y="9080604"/>
                  <a:pt x="691672" y="9118704"/>
                </a:cubicBezTo>
                <a:cubicBezTo>
                  <a:pt x="562555" y="9156804"/>
                  <a:pt x="640872" y="10513587"/>
                  <a:pt x="526572" y="9118704"/>
                </a:cubicBezTo>
                <a:cubicBezTo>
                  <a:pt x="412272" y="7723821"/>
                  <a:pt x="-57628" y="2114654"/>
                  <a:pt x="5872" y="749404"/>
                </a:cubicBezTo>
                <a:cubicBezTo>
                  <a:pt x="69372" y="-615846"/>
                  <a:pt x="488472" y="155679"/>
                  <a:pt x="907572" y="927204"/>
                </a:cubicBez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57D45D58-18BA-48B3-5957-BB168D72C46A}"/>
              </a:ext>
            </a:extLst>
          </p:cNvPr>
          <p:cNvSpPr/>
          <p:nvPr/>
        </p:nvSpPr>
        <p:spPr>
          <a:xfrm rot="5400000">
            <a:off x="6265064" y="-7304884"/>
            <a:ext cx="1301984" cy="16793031"/>
          </a:xfrm>
          <a:custGeom>
            <a:avLst/>
            <a:gdLst>
              <a:gd name="connsiteX0" fmla="*/ 691672 w 1301984"/>
              <a:gd name="connsiteY0" fmla="*/ 1562204 h 9747205"/>
              <a:gd name="connsiteX1" fmla="*/ 1072672 w 1301984"/>
              <a:gd name="connsiteY1" fmla="*/ 2425804 h 9747205"/>
              <a:gd name="connsiteX2" fmla="*/ 856772 w 1301984"/>
              <a:gd name="connsiteY2" fmla="*/ 3797404 h 9747205"/>
              <a:gd name="connsiteX3" fmla="*/ 1021872 w 1301984"/>
              <a:gd name="connsiteY3" fmla="*/ 5321404 h 9747205"/>
              <a:gd name="connsiteX4" fmla="*/ 818672 w 1301984"/>
              <a:gd name="connsiteY4" fmla="*/ 7239104 h 9747205"/>
              <a:gd name="connsiteX5" fmla="*/ 1301272 w 1301984"/>
              <a:gd name="connsiteY5" fmla="*/ 8890104 h 9747205"/>
              <a:gd name="connsiteX6" fmla="*/ 691672 w 1301984"/>
              <a:gd name="connsiteY6" fmla="*/ 9118704 h 9747205"/>
              <a:gd name="connsiteX7" fmla="*/ 526572 w 1301984"/>
              <a:gd name="connsiteY7" fmla="*/ 9118704 h 9747205"/>
              <a:gd name="connsiteX8" fmla="*/ 5872 w 1301984"/>
              <a:gd name="connsiteY8" fmla="*/ 749404 h 9747205"/>
              <a:gd name="connsiteX9" fmla="*/ 907572 w 1301984"/>
              <a:gd name="connsiteY9" fmla="*/ 927204 h 974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1984" h="9747205">
                <a:moveTo>
                  <a:pt x="691672" y="1562204"/>
                </a:moveTo>
                <a:cubicBezTo>
                  <a:pt x="868413" y="1807737"/>
                  <a:pt x="1045155" y="2053271"/>
                  <a:pt x="1072672" y="2425804"/>
                </a:cubicBezTo>
                <a:cubicBezTo>
                  <a:pt x="1100189" y="2798337"/>
                  <a:pt x="865239" y="3314804"/>
                  <a:pt x="856772" y="3797404"/>
                </a:cubicBezTo>
                <a:cubicBezTo>
                  <a:pt x="848305" y="4280004"/>
                  <a:pt x="1028222" y="4747787"/>
                  <a:pt x="1021872" y="5321404"/>
                </a:cubicBezTo>
                <a:cubicBezTo>
                  <a:pt x="1015522" y="5895021"/>
                  <a:pt x="772105" y="6644321"/>
                  <a:pt x="818672" y="7239104"/>
                </a:cubicBezTo>
                <a:cubicBezTo>
                  <a:pt x="865239" y="7833887"/>
                  <a:pt x="1322439" y="8576837"/>
                  <a:pt x="1301272" y="8890104"/>
                </a:cubicBezTo>
                <a:cubicBezTo>
                  <a:pt x="1280105" y="9203371"/>
                  <a:pt x="820789" y="9080604"/>
                  <a:pt x="691672" y="9118704"/>
                </a:cubicBezTo>
                <a:cubicBezTo>
                  <a:pt x="562555" y="9156804"/>
                  <a:pt x="640872" y="10513587"/>
                  <a:pt x="526572" y="9118704"/>
                </a:cubicBezTo>
                <a:cubicBezTo>
                  <a:pt x="412272" y="7723821"/>
                  <a:pt x="-57628" y="2114654"/>
                  <a:pt x="5872" y="749404"/>
                </a:cubicBezTo>
                <a:cubicBezTo>
                  <a:pt x="69372" y="-615846"/>
                  <a:pt x="488472" y="155679"/>
                  <a:pt x="907572" y="927204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5D274951-89AC-6285-EC1D-9460139CD825}"/>
              </a:ext>
            </a:extLst>
          </p:cNvPr>
          <p:cNvSpPr txBox="1">
            <a:spLocks/>
          </p:cNvSpPr>
          <p:nvPr/>
        </p:nvSpPr>
        <p:spPr>
          <a:xfrm>
            <a:off x="778808" y="106805"/>
            <a:ext cx="925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chemeClr val="accent3">
                    <a:lumMod val="60000"/>
                    <a:lumOff val="40000"/>
                  </a:schemeClr>
                </a:solidFill>
              </a:rPr>
              <a:t>Патогенез</a:t>
            </a:r>
            <a:endParaRPr lang="ru-RU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77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BC8B130E-4D03-08FD-66AF-0042CE0C9533}"/>
              </a:ext>
            </a:extLst>
          </p:cNvPr>
          <p:cNvSpPr/>
          <p:nvPr/>
        </p:nvSpPr>
        <p:spPr>
          <a:xfrm>
            <a:off x="-838200" y="-2286000"/>
            <a:ext cx="8505096" cy="10375766"/>
          </a:xfrm>
          <a:custGeom>
            <a:avLst/>
            <a:gdLst>
              <a:gd name="connsiteX0" fmla="*/ 7600591 w 9107987"/>
              <a:gd name="connsiteY0" fmla="*/ 1530385 h 10083532"/>
              <a:gd name="connsiteX1" fmla="*/ 8451491 w 9107987"/>
              <a:gd name="connsiteY1" fmla="*/ 2736885 h 10083532"/>
              <a:gd name="connsiteX2" fmla="*/ 7676791 w 9107987"/>
              <a:gd name="connsiteY2" fmla="*/ 4032285 h 10083532"/>
              <a:gd name="connsiteX3" fmla="*/ 8387991 w 9107987"/>
              <a:gd name="connsiteY3" fmla="*/ 5924585 h 10083532"/>
              <a:gd name="connsiteX4" fmla="*/ 7524391 w 9107987"/>
              <a:gd name="connsiteY4" fmla="*/ 7702585 h 10083532"/>
              <a:gd name="connsiteX5" fmla="*/ 8857891 w 9107987"/>
              <a:gd name="connsiteY5" fmla="*/ 9582185 h 10083532"/>
              <a:gd name="connsiteX6" fmla="*/ 8286391 w 9107987"/>
              <a:gd name="connsiteY6" fmla="*/ 9785385 h 10083532"/>
              <a:gd name="connsiteX7" fmla="*/ 1047391 w 9107987"/>
              <a:gd name="connsiteY7" fmla="*/ 9251985 h 10083532"/>
              <a:gd name="connsiteX8" fmla="*/ 793391 w 9107987"/>
              <a:gd name="connsiteY8" fmla="*/ 654085 h 10083532"/>
              <a:gd name="connsiteX9" fmla="*/ 8159391 w 9107987"/>
              <a:gd name="connsiteY9" fmla="*/ 603285 h 10083532"/>
              <a:gd name="connsiteX10" fmla="*/ 8172091 w 9107987"/>
              <a:gd name="connsiteY10" fmla="*/ 603285 h 1008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07987" h="10083532">
                <a:moveTo>
                  <a:pt x="7600591" y="1530385"/>
                </a:moveTo>
                <a:cubicBezTo>
                  <a:pt x="8019691" y="1925143"/>
                  <a:pt x="8438791" y="2319902"/>
                  <a:pt x="8451491" y="2736885"/>
                </a:cubicBezTo>
                <a:cubicBezTo>
                  <a:pt x="8464191" y="3153868"/>
                  <a:pt x="7687374" y="3501002"/>
                  <a:pt x="7676791" y="4032285"/>
                </a:cubicBezTo>
                <a:cubicBezTo>
                  <a:pt x="7666208" y="4563568"/>
                  <a:pt x="8413391" y="5312868"/>
                  <a:pt x="8387991" y="5924585"/>
                </a:cubicBezTo>
                <a:cubicBezTo>
                  <a:pt x="8362591" y="6536302"/>
                  <a:pt x="7446074" y="7092985"/>
                  <a:pt x="7524391" y="7702585"/>
                </a:cubicBezTo>
                <a:cubicBezTo>
                  <a:pt x="7602708" y="8312185"/>
                  <a:pt x="8730891" y="9235052"/>
                  <a:pt x="8857891" y="9582185"/>
                </a:cubicBezTo>
                <a:cubicBezTo>
                  <a:pt x="8984891" y="9929318"/>
                  <a:pt x="9588141" y="9840418"/>
                  <a:pt x="8286391" y="9785385"/>
                </a:cubicBezTo>
                <a:cubicBezTo>
                  <a:pt x="6984641" y="9730352"/>
                  <a:pt x="2296224" y="10773868"/>
                  <a:pt x="1047391" y="9251985"/>
                </a:cubicBezTo>
                <a:cubicBezTo>
                  <a:pt x="-201442" y="7730102"/>
                  <a:pt x="-391942" y="2095535"/>
                  <a:pt x="793391" y="654085"/>
                </a:cubicBezTo>
                <a:cubicBezTo>
                  <a:pt x="1978724" y="-787365"/>
                  <a:pt x="8159391" y="603285"/>
                  <a:pt x="8159391" y="603285"/>
                </a:cubicBezTo>
                <a:lnTo>
                  <a:pt x="8172091" y="603285"/>
                </a:lnTo>
              </a:path>
            </a:pathLst>
          </a:custGeom>
          <a:gradFill flip="none" rotWithShape="1">
            <a:gsLst>
              <a:gs pos="21000">
                <a:schemeClr val="accent1">
                  <a:lumMod val="60000"/>
                  <a:lumOff val="40000"/>
                </a:schemeClr>
              </a:gs>
              <a:gs pos="42000">
                <a:schemeClr val="accent2">
                  <a:lumMod val="60000"/>
                  <a:lumOff val="40000"/>
                </a:schemeClr>
              </a:gs>
              <a:gs pos="61000">
                <a:schemeClr val="accent4">
                  <a:lumMod val="60000"/>
                  <a:lumOff val="40000"/>
                </a:schemeClr>
              </a:gs>
              <a:gs pos="85000">
                <a:schemeClr val="accent5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92BDBD89-C604-979B-6325-A9F6CDACC78C}"/>
              </a:ext>
            </a:extLst>
          </p:cNvPr>
          <p:cNvSpPr/>
          <p:nvPr/>
        </p:nvSpPr>
        <p:spPr>
          <a:xfrm>
            <a:off x="-1631591" y="-1612766"/>
            <a:ext cx="8756291" cy="10083532"/>
          </a:xfrm>
          <a:custGeom>
            <a:avLst/>
            <a:gdLst>
              <a:gd name="connsiteX0" fmla="*/ 7600591 w 9107987"/>
              <a:gd name="connsiteY0" fmla="*/ 1530385 h 10083532"/>
              <a:gd name="connsiteX1" fmla="*/ 8451491 w 9107987"/>
              <a:gd name="connsiteY1" fmla="*/ 2736885 h 10083532"/>
              <a:gd name="connsiteX2" fmla="*/ 7676791 w 9107987"/>
              <a:gd name="connsiteY2" fmla="*/ 4032285 h 10083532"/>
              <a:gd name="connsiteX3" fmla="*/ 8387991 w 9107987"/>
              <a:gd name="connsiteY3" fmla="*/ 5924585 h 10083532"/>
              <a:gd name="connsiteX4" fmla="*/ 7524391 w 9107987"/>
              <a:gd name="connsiteY4" fmla="*/ 7702585 h 10083532"/>
              <a:gd name="connsiteX5" fmla="*/ 8857891 w 9107987"/>
              <a:gd name="connsiteY5" fmla="*/ 9582185 h 10083532"/>
              <a:gd name="connsiteX6" fmla="*/ 8286391 w 9107987"/>
              <a:gd name="connsiteY6" fmla="*/ 9785385 h 10083532"/>
              <a:gd name="connsiteX7" fmla="*/ 1047391 w 9107987"/>
              <a:gd name="connsiteY7" fmla="*/ 9251985 h 10083532"/>
              <a:gd name="connsiteX8" fmla="*/ 793391 w 9107987"/>
              <a:gd name="connsiteY8" fmla="*/ 654085 h 10083532"/>
              <a:gd name="connsiteX9" fmla="*/ 8159391 w 9107987"/>
              <a:gd name="connsiteY9" fmla="*/ 603285 h 10083532"/>
              <a:gd name="connsiteX10" fmla="*/ 8172091 w 9107987"/>
              <a:gd name="connsiteY10" fmla="*/ 603285 h 1008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07987" h="10083532">
                <a:moveTo>
                  <a:pt x="7600591" y="1530385"/>
                </a:moveTo>
                <a:cubicBezTo>
                  <a:pt x="8019691" y="1925143"/>
                  <a:pt x="8438791" y="2319902"/>
                  <a:pt x="8451491" y="2736885"/>
                </a:cubicBezTo>
                <a:cubicBezTo>
                  <a:pt x="8464191" y="3153868"/>
                  <a:pt x="7687374" y="3501002"/>
                  <a:pt x="7676791" y="4032285"/>
                </a:cubicBezTo>
                <a:cubicBezTo>
                  <a:pt x="7666208" y="4563568"/>
                  <a:pt x="8413391" y="5312868"/>
                  <a:pt x="8387991" y="5924585"/>
                </a:cubicBezTo>
                <a:cubicBezTo>
                  <a:pt x="8362591" y="6536302"/>
                  <a:pt x="7446074" y="7092985"/>
                  <a:pt x="7524391" y="7702585"/>
                </a:cubicBezTo>
                <a:cubicBezTo>
                  <a:pt x="7602708" y="8312185"/>
                  <a:pt x="8730891" y="9235052"/>
                  <a:pt x="8857891" y="9582185"/>
                </a:cubicBezTo>
                <a:cubicBezTo>
                  <a:pt x="8984891" y="9929318"/>
                  <a:pt x="9588141" y="9840418"/>
                  <a:pt x="8286391" y="9785385"/>
                </a:cubicBezTo>
                <a:cubicBezTo>
                  <a:pt x="6984641" y="9730352"/>
                  <a:pt x="2296224" y="10773868"/>
                  <a:pt x="1047391" y="9251985"/>
                </a:cubicBezTo>
                <a:cubicBezTo>
                  <a:pt x="-201442" y="7730102"/>
                  <a:pt x="-391942" y="2095535"/>
                  <a:pt x="793391" y="654085"/>
                </a:cubicBezTo>
                <a:cubicBezTo>
                  <a:pt x="1978724" y="-787365"/>
                  <a:pt x="8159391" y="603285"/>
                  <a:pt x="8159391" y="603285"/>
                </a:cubicBezTo>
                <a:lnTo>
                  <a:pt x="8172091" y="603285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D213C-1D91-875C-0D64-952E0955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14128"/>
            <a:ext cx="6096000" cy="3172619"/>
          </a:xfrm>
        </p:spPr>
        <p:txBody>
          <a:bodyPr>
            <a:normAutofit/>
          </a:bodyPr>
          <a:lstStyle/>
          <a:p>
            <a:pPr algn="ctr"/>
            <a:r>
              <a:rPr lang="ru-RU" sz="6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654689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Неон">
      <a:dk1>
        <a:srgbClr val="000000"/>
      </a:dk1>
      <a:lt1>
        <a:srgbClr val="FFFFFF"/>
      </a:lt1>
      <a:dk2>
        <a:srgbClr val="373530"/>
      </a:dk2>
      <a:lt2>
        <a:srgbClr val="FFFFFF"/>
      </a:lt2>
      <a:accent1>
        <a:srgbClr val="1BAD1B"/>
      </a:accent1>
      <a:accent2>
        <a:srgbClr val="0F9DDD"/>
      </a:accent2>
      <a:accent3>
        <a:srgbClr val="906FDB"/>
      </a:accent3>
      <a:accent4>
        <a:srgbClr val="EA2D28"/>
      </a:accent4>
      <a:accent5>
        <a:srgbClr val="E59217"/>
      </a:accent5>
      <a:accent6>
        <a:srgbClr val="CFD333"/>
      </a:accent6>
      <a:hlink>
        <a:srgbClr val="DC2C8C"/>
      </a:hlink>
      <a:folHlink>
        <a:srgbClr val="954F72"/>
      </a:folHlink>
    </a:clrScheme>
    <a:fontScheme name="Другая 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902</Words>
  <Application>Microsoft Office PowerPoint</Application>
  <PresentationFormat>Широкоэкранный</PresentationFormat>
  <Paragraphs>195</Paragraphs>
  <Slides>23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Algerian</vt:lpstr>
      <vt:lpstr>Arial</vt:lpstr>
      <vt:lpstr>Arial Black</vt:lpstr>
      <vt:lpstr>Тема Office</vt:lpstr>
      <vt:lpstr>Нобелевская премия по физиологии и медицине 2022 года</vt:lpstr>
      <vt:lpstr>«Отец палеогеномики»</vt:lpstr>
      <vt:lpstr>Палеогеномика</vt:lpstr>
      <vt:lpstr>Молекулярное расстояние</vt:lpstr>
      <vt:lpstr>Деградация ДНК</vt:lpstr>
      <vt:lpstr>Паттерны деградации</vt:lpstr>
      <vt:lpstr>Расшифровка геномов древних гоминид</vt:lpstr>
      <vt:lpstr>Ядерный геном Неандертальца</vt:lpstr>
      <vt:lpstr>мтДНК Денисовца</vt:lpstr>
      <vt:lpstr>Ядерный геном Денисовца</vt:lpstr>
      <vt:lpstr>Высококачественные геномы архаичных людей</vt:lpstr>
      <vt:lpstr>Поток генов между группами людей</vt:lpstr>
      <vt:lpstr>Неандертальцы – Современные люди</vt:lpstr>
      <vt:lpstr>Денисовцы – Современные люди</vt:lpstr>
      <vt:lpstr>Между архаичными гоминидами</vt:lpstr>
      <vt:lpstr>Наше генетическое наследие</vt:lpstr>
      <vt:lpstr>Covid-19 риск-фактор III хромосомы</vt:lpstr>
      <vt:lpstr>Происхождение гаплотипов</vt:lpstr>
      <vt:lpstr>Ионный канал Nav1.7</vt:lpstr>
      <vt:lpstr>Фенотип:</vt:lpstr>
      <vt:lpstr>Патогенез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Кулиш</dc:creator>
  <cp:lastModifiedBy>Александр Кулиш</cp:lastModifiedBy>
  <cp:revision>12</cp:revision>
  <dcterms:created xsi:type="dcterms:W3CDTF">2024-02-02T07:31:06Z</dcterms:created>
  <dcterms:modified xsi:type="dcterms:W3CDTF">2024-02-06T07:45:23Z</dcterms:modified>
</cp:coreProperties>
</file>