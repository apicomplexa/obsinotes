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29"/>
    <p:sldId id="285" r:id="rId30"/>
    <p:sldId id="286" r:id="rId31"/>
    <p:sldId id="287" r:id="rId32"/>
    <p:sldId id="288" r:id="rId33"/>
    <p:sldId id="289" r:id="rId34"/>
    <p:sldId id="292" r:id="rId35"/>
    <p:sldId id="290" r:id="rId36"/>
    <p:sldId id="291" r:id="rId3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0F1C5F-ACD9-6B99-CC8B-65F8791584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FD271EB-12C0-BFF0-5B5F-45A8D9A33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3CCCF4-BA52-6823-8954-8AD174484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9D39-D616-4555-8DE4-CFD11D0749B9}" type="datetimeFigureOut">
              <a:rPr lang="ru-RU" smtClean="0"/>
              <a:t>04.04.2025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3B23D6-3641-7FD2-D155-8864DB78E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389507-42D2-38B3-9A10-54D384A22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CB5FA-F1B8-4604-9EEB-81045C6515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04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B01DE6-DE55-06CC-9DB7-8BBF056E3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0A378D-DAF9-7040-DDF6-3CBD52A84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89023A-B348-F5B7-DEB5-01923E6F5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9D39-D616-4555-8DE4-CFD11D0749B9}" type="datetimeFigureOut">
              <a:rPr lang="ru-RU" smtClean="0"/>
              <a:t>04.04.2025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3B5D0D-C2D7-F9C8-CCA1-D7A502123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448736-2FE9-2091-77DA-18AB8DE9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CB5FA-F1B8-4604-9EEB-81045C6515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7232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6F7A02-D0D5-1734-FD0C-28951A303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23A958-6458-B6B9-9019-6BA627AD4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052B76-C854-14F4-3BE5-D4A57D78B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9D39-D616-4555-8DE4-CFD11D0749B9}" type="datetimeFigureOut">
              <a:rPr lang="ru-RU" smtClean="0"/>
              <a:t>04.04.2025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7D82C2-5865-1BE6-1BD9-90EDE28A8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40B20C-FEDB-EAD6-75A7-6405CC59A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CB5FA-F1B8-4604-9EEB-81045C6515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1306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7A6CBC-6574-3B4D-0B81-EBC1FA313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6A3E17-092F-F5B9-1E84-4BD4D23127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B828C7A-73AA-ABA5-34D6-A09B31284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BB39159-0EB0-647E-3F24-17955C4DF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9D39-D616-4555-8DE4-CFD11D0749B9}" type="datetimeFigureOut">
              <a:rPr lang="ru-RU" smtClean="0"/>
              <a:t>04.04.2025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D28415-BED4-D379-1D61-E0C4E9C49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136713-C411-925A-EA08-88EA6A721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CB5FA-F1B8-4604-9EEB-81045C6515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0185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9FAAE5-E5A6-1185-93E5-197BA98A0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F4180B-9F02-4D23-B489-B7D47979F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692E71C-F8C4-ED6F-A952-A527204EF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73440B3-5718-25D7-592B-4E606E1F5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BD38B13-D115-FA9F-89AA-056B47C7DF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828024F-3BEA-CFE6-B769-9307980F3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9D39-D616-4555-8DE4-CFD11D0749B9}" type="datetimeFigureOut">
              <a:rPr lang="ru-RU" smtClean="0"/>
              <a:t>04.04.2025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32541E4-81CF-BAA2-72FD-B5A23E80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505CACA-89F4-110F-9121-6FFEF0274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CB5FA-F1B8-4604-9EEB-81045C6515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4445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893198-C34A-69E5-11E9-EEC2B6638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A78E114-0A4E-59DD-6E2D-E5DC63E48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9D39-D616-4555-8DE4-CFD11D0749B9}" type="datetimeFigureOut">
              <a:rPr lang="ru-RU" smtClean="0"/>
              <a:t>04.04.2025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242DE0B-13B7-76F8-BC3C-945E584A0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1DBD170-0765-FF6C-050C-4F5D1AC7F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CB5FA-F1B8-4604-9EEB-81045C6515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4789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A95DC90-E05C-CEA3-A03B-80019701E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9D39-D616-4555-8DE4-CFD11D0749B9}" type="datetimeFigureOut">
              <a:rPr lang="ru-RU" smtClean="0"/>
              <a:t>04.04.2025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9CF3BEB-2243-57AA-5A5E-C5DB1F657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9704090-C73B-44EE-3148-7D1D05D39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CB5FA-F1B8-4604-9EEB-81045C6515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8475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FE0F0A-EA82-465F-5BBC-633566485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9A6CFE-BA54-279B-CDA4-6A530773C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B35B965-1DE9-23C5-0661-79D6F72F5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7DB95EE-E94C-6386-B53A-6016251C7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9D39-D616-4555-8DE4-CFD11D0749B9}" type="datetimeFigureOut">
              <a:rPr lang="ru-RU" smtClean="0"/>
              <a:t>04.04.2025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00C13F-ED2A-D349-BDF9-3EA3A04FF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63AA00-69C8-2C08-E567-1C008A9B5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CB5FA-F1B8-4604-9EEB-81045C6515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93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BBDFF7-A197-9E51-D265-E9926046C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BB670E4-B952-F032-1820-98FD06ED47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A3C0E5-AFF2-1BC7-5D60-44F076595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E29F1D4-DCA8-EB6A-33CA-B69BEAFC7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9D39-D616-4555-8DE4-CFD11D0749B9}" type="datetimeFigureOut">
              <a:rPr lang="ru-RU" smtClean="0"/>
              <a:t>04.04.2025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003025-A9B4-AF53-0A62-430FED7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155B83F-7725-C595-9C69-B66497CE5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CB5FA-F1B8-4604-9EEB-81045C6515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8179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911427-9A75-FA97-6937-FA3AA4279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72CE51-F7DC-DD3A-D698-C335489F2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7710B0-D477-0A9E-D325-7D23F1288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9D39-D616-4555-8DE4-CFD11D0749B9}" type="datetimeFigureOut">
              <a:rPr lang="ru-RU" smtClean="0"/>
              <a:t>04.04.2025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5E2A68-4DC8-3495-B3A2-43E3CDAFF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64154F-67DE-8FCF-47C4-3A2D1460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CB5FA-F1B8-4604-9EEB-81045C6515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1758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F6FE0BC-12A7-B63E-F425-D5CFB264EB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6E5C6BA-CA74-CF54-320F-63C0845F25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2A1A2C-3492-D9C9-B06E-2947AA3A0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69D39-D616-4555-8DE4-CFD11D0749B9}" type="datetimeFigureOut">
              <a:rPr lang="ru-RU" smtClean="0"/>
              <a:t>04.04.2025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B67C77-0447-5057-73EE-A211ABB29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1DB8AD-3004-CB0B-7960-6B9B5BC07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CB5FA-F1B8-4604-9EEB-81045C6515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3250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C617B9-78B3-E3F2-AED1-721F7FB0D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71C4B0-6A39-A967-AB0B-C8BE5F302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B963DF-F94B-F853-0C98-7DC1FBCAC7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69D39-D616-4555-8DE4-CFD11D0749B9}" type="datetimeFigureOut">
              <a:rPr lang="ru-RU" smtClean="0"/>
              <a:t>04.04.2025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3C428F-C1EF-5DFA-CCE7-AF915D9C8A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77436E-D1B1-6C84-3DA4-4E488B7AE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CB5FA-F1B8-4604-9EEB-81045C6515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7311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2196/17234" TargetMode="External"/><Relationship Id="rId13" Type="http://schemas.openxmlformats.org/officeDocument/2006/relationships/hyperlink" Target="https://doi.org/10.1002/9781119181200.ch3" TargetMode="External"/><Relationship Id="rId3" Type="http://schemas.openxmlformats.org/officeDocument/2006/relationships/hyperlink" Target="https://med.roche.ru/oncology/diseases/Lung-cancer/klassifikaciya-tnm.html" TargetMode="External"/><Relationship Id="rId7" Type="http://schemas.openxmlformats.org/officeDocument/2006/relationships/hyperlink" Target="https://doi.org/10.1200/CCI.20.00108" TargetMode="External"/><Relationship Id="rId12" Type="http://schemas.openxmlformats.org/officeDocument/2006/relationships/hyperlink" Target="https://doi.org/10.7759/cureus.10866" TargetMode="External"/><Relationship Id="rId2" Type="http://schemas.openxmlformats.org/officeDocument/2006/relationships/hyperlink" Target="https://pomc.ru/diagnostics/gistomorfologicheskie-issledovaniya" TargetMode="External"/><Relationship Id="rId16" Type="http://schemas.openxmlformats.org/officeDocument/2006/relationships/hyperlink" Target="https://doi.org/10.5114/pdia.2012.3046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111/odi.13305" TargetMode="External"/><Relationship Id="rId11" Type="http://schemas.openxmlformats.org/officeDocument/2006/relationships/hyperlink" Target="https://doi.org/10.1001/jamadermatol.2023.6417" TargetMode="External"/><Relationship Id="rId5" Type="http://schemas.openxmlformats.org/officeDocument/2006/relationships/hyperlink" Target="https://doi.org/10.1016/j.csbj.2021.07.014" TargetMode="External"/><Relationship Id="rId15" Type="http://schemas.openxmlformats.org/officeDocument/2006/relationships/hyperlink" Target="https://doi.org/10.1126/science.280.5369.1540" TargetMode="External"/><Relationship Id="rId10" Type="http://schemas.openxmlformats.org/officeDocument/2006/relationships/hyperlink" Target="https://doi.org/10.1016/j.oraloncology.2018.05.007" TargetMode="External"/><Relationship Id="rId4" Type="http://schemas.openxmlformats.org/officeDocument/2006/relationships/hyperlink" Target="https://doi.org/10.1016/j.sempedsurg.2019.150864" TargetMode="External"/><Relationship Id="rId9" Type="http://schemas.openxmlformats.org/officeDocument/2006/relationships/hyperlink" Target="https://doi.org/10.1016/j.bjps.2020.05.015" TargetMode="External"/><Relationship Id="rId14" Type="http://schemas.openxmlformats.org/officeDocument/2006/relationships/hyperlink" Target="https://doi.org/10.1155/2011/380371" TargetMode="Externa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BC1CB7-8B29-D93C-4EB0-F14259D408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Опухоли челюстно-лицевой области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28CB6F2-FA18-1B19-A678-86F001F3DC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8951" y="5047531"/>
            <a:ext cx="9144000" cy="1655762"/>
          </a:xfrm>
        </p:spPr>
        <p:txBody>
          <a:bodyPr>
            <a:normAutofit lnSpcReduction="10000"/>
          </a:bodyPr>
          <a:lstStyle/>
          <a:p>
            <a:pPr algn="r"/>
            <a:r>
              <a:rPr lang="ru-RU" dirty="0"/>
              <a:t>Выполнил:</a:t>
            </a:r>
          </a:p>
          <a:p>
            <a:pPr algn="r"/>
            <a:r>
              <a:rPr lang="ru-RU" dirty="0"/>
              <a:t>Студент лечебного факультета</a:t>
            </a:r>
          </a:p>
          <a:p>
            <a:pPr algn="r"/>
            <a:r>
              <a:rPr lang="ru-RU" dirty="0"/>
              <a:t>3 курса, 3 группы</a:t>
            </a:r>
          </a:p>
          <a:p>
            <a:pPr algn="r"/>
            <a:r>
              <a:rPr lang="ru-RU" dirty="0" err="1"/>
              <a:t>Зоболев</a:t>
            </a:r>
            <a:r>
              <a:rPr lang="ru-RU" dirty="0"/>
              <a:t> А.В.</a:t>
            </a:r>
          </a:p>
          <a:p>
            <a:pPr algn="r"/>
            <a:endParaRPr lang="ru-RU" dirty="0"/>
          </a:p>
        </p:txBody>
      </p:sp>
      <p:pic>
        <p:nvPicPr>
          <p:cNvPr id="1026" name="Picture 2" descr="Северный Государственный Медицинский Университет">
            <a:extLst>
              <a:ext uri="{FF2B5EF4-FFF2-40B4-BE49-F238E27FC236}">
                <a16:creationId xmlns:a16="http://schemas.microsoft.com/office/drawing/2014/main" id="{30C2930C-56BA-4232-43CF-DD9831771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33" y="5047531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1007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E557D-312D-0520-39A0-251544F29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проблемы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3B9275-A952-84F0-CB28-9B968ACBC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Опухоли челюстно-лицевой области (ЧЛО) представляют собой гетерогенную группу новообразований, характеризующихся высоким биологическим разнообразием и сложными патогенетическими механизмами. Клиническая значимость обусловлена функциональной и эстетической важностью челюстно-лицевых структур, что требует своевременной диагностики и корректного тактического подхода в лечении. Ранняя идентификация и дифференциальная диагностика данных опухолей способствуют снижению </a:t>
            </a:r>
            <a:r>
              <a:rPr lang="ru-RU" dirty="0" err="1"/>
              <a:t>морбидности</a:t>
            </a:r>
            <a:r>
              <a:rPr lang="ru-RU" dirty="0"/>
              <a:t> и улучшению прогноза.</a:t>
            </a:r>
          </a:p>
        </p:txBody>
      </p:sp>
    </p:spTree>
    <p:extLst>
      <p:ext uri="{BB962C8B-B14F-4D97-AF65-F5344CB8AC3E}">
        <p14:creationId xmlns:p14="http://schemas.microsoft.com/office/powerpoint/2010/main" val="3613269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5944AF-655A-4084-EC96-5722F7215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Эпидемиологическая характеристика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A14A72-4147-FDE5-C115-9E3EABE1C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Эпидемиологические данные свидетельствуют о сравнительно низкой заболеваемости опухолями ЧЛО по сравнению с опухолями других анатомических областей, однако наблюдается значительная региональная изменчивость их встречаемости. Доминирующей является доброкачественная патология, при этом злокачественные образования чаще диагностируются у пациентов старшей возрастной группы с определёнными предрасполагающими факторами (хроническое воспаление, генетическая предрасположенность).</a:t>
            </a:r>
          </a:p>
        </p:txBody>
      </p:sp>
    </p:spTree>
    <p:extLst>
      <p:ext uri="{BB962C8B-B14F-4D97-AF65-F5344CB8AC3E}">
        <p14:creationId xmlns:p14="http://schemas.microsoft.com/office/powerpoint/2010/main" val="1182662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49196E-FA41-5CE8-D757-71DD50077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Этиопатогенез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D54551-04B7-98AD-6C1A-03517A410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626" y="1860130"/>
            <a:ext cx="5640238" cy="4351338"/>
          </a:xfrm>
        </p:spPr>
        <p:txBody>
          <a:bodyPr/>
          <a:lstStyle/>
          <a:p>
            <a:r>
              <a:rPr lang="ru-RU" dirty="0"/>
              <a:t>Генетические факторы. Мутации в генах, регулирующих клеточный цикл (например, p53, </a:t>
            </a:r>
            <a:r>
              <a:rPr lang="ru-RU" dirty="0" err="1"/>
              <a:t>Rb</a:t>
            </a:r>
            <a:r>
              <a:rPr lang="ru-RU" dirty="0"/>
              <a:t>), способствуют нарушению клеточной пролиферации и апоптоза.</a:t>
            </a:r>
          </a:p>
        </p:txBody>
      </p:sp>
      <p:pic>
        <p:nvPicPr>
          <p:cNvPr id="2050" name="Picture 2" descr="Unravelling the genetic cause of cancer">
            <a:extLst>
              <a:ext uri="{FF2B5EF4-FFF2-40B4-BE49-F238E27FC236}">
                <a16:creationId xmlns:a16="http://schemas.microsoft.com/office/drawing/2014/main" id="{1CD8936B-32E4-5014-0634-26F7E67CF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027906"/>
            <a:ext cx="5970378" cy="4474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2631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AA27FB4-8F26-DEFA-A959-37BB770C6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91664" cy="4351338"/>
          </a:xfrm>
        </p:spPr>
        <p:txBody>
          <a:bodyPr/>
          <a:lstStyle/>
          <a:p>
            <a:r>
              <a:rPr lang="ru-RU" dirty="0"/>
              <a:t>Экологические факторы. Хронические раздражители, курение, воздействие канцерогенов и радиации являются ключевыми </a:t>
            </a:r>
            <a:r>
              <a:rPr lang="ru-RU" dirty="0" err="1"/>
              <a:t>экогенными</a:t>
            </a:r>
            <a:r>
              <a:rPr lang="ru-RU" dirty="0"/>
              <a:t> инициаторами опухолевых процессов.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12A58E0-98A3-67FA-FD50-AC4E06C16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 err="1"/>
              <a:t>Этиопатогенез</a:t>
            </a:r>
            <a:endParaRPr lang="ru-RU" dirty="0"/>
          </a:p>
        </p:txBody>
      </p:sp>
      <p:pic>
        <p:nvPicPr>
          <p:cNvPr id="3074" name="Picture 2" descr="Frontiers | The Hallmarks of Cancer as Ecologically Driven Phenotypes">
            <a:extLst>
              <a:ext uri="{FF2B5EF4-FFF2-40B4-BE49-F238E27FC236}">
                <a16:creationId xmlns:a16="http://schemas.microsoft.com/office/drawing/2014/main" id="{50002239-F762-9FAC-0CCF-F431C8EBE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487" y="1306902"/>
            <a:ext cx="5491911" cy="4244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2860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BCA375-FEE9-1DC1-D145-772BB17A3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Этиопатогенез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583E6B-F7FF-0F37-59FD-8C8D1C5B4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ru-RU" dirty="0"/>
              <a:t>Вирусные факторы. Вирусы (например, HPV, EBV) интегрируются в геном клеток-мишеней, что приводит к нарушению нормальной регуляции генетической экспрессии и способствует канцерогенезу</a:t>
            </a:r>
          </a:p>
        </p:txBody>
      </p:sp>
      <p:pic>
        <p:nvPicPr>
          <p:cNvPr id="4098" name="Picture 2" descr="The Silent Threat of Cancer-Causing Viruses | Meridian Bioscience">
            <a:extLst>
              <a:ext uri="{FF2B5EF4-FFF2-40B4-BE49-F238E27FC236}">
                <a16:creationId xmlns:a16="http://schemas.microsoft.com/office/drawing/2014/main" id="{9C1D3777-4CF0-F63D-477B-509206295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886" y="862642"/>
            <a:ext cx="5486191" cy="4767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8562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60C164-5E97-D15C-7443-6F80FA6F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опухолей</a:t>
            </a:r>
            <a:r>
              <a:rPr lang="en-US" dirty="0"/>
              <a:t>. </a:t>
            </a:r>
            <a:r>
              <a:rPr lang="ru-RU" dirty="0"/>
              <a:t>Доброкачественные опухоли - Остеома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09A90A-7666-4462-AE86-7357B5783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834" y="1946395"/>
            <a:ext cx="3587151" cy="4351338"/>
          </a:xfrm>
        </p:spPr>
        <p:txBody>
          <a:bodyPr/>
          <a:lstStyle/>
          <a:p>
            <a:r>
              <a:rPr lang="ru-RU" dirty="0"/>
              <a:t>Остеома – характеризуется медленным ростом, представлен компактной или губчатой костью.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4A2717-31A9-C2B0-13CB-7BF332F22A16}"/>
              </a:ext>
            </a:extLst>
          </p:cNvPr>
          <p:cNvSpPr txBox="1"/>
          <p:nvPr/>
        </p:nvSpPr>
        <p:spPr>
          <a:xfrm>
            <a:off x="3716101" y="5495829"/>
            <a:ext cx="93507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Остеома </a:t>
            </a:r>
            <a:r>
              <a:rPr lang="ru-RU" dirty="0" err="1"/>
              <a:t>мыщелкового</a:t>
            </a:r>
            <a:r>
              <a:rPr lang="ru-RU" dirty="0"/>
              <a:t> отростка. Конусно лучевая компьютерная томография и 3D визуализация нижней челюсти с остеомой </a:t>
            </a:r>
            <a:r>
              <a:rPr lang="ru-RU" dirty="0" err="1"/>
              <a:t>мыщелкового</a:t>
            </a:r>
            <a:r>
              <a:rPr lang="ru-RU" dirty="0"/>
              <a:t> отростка справа.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48DC48E-E8C0-C08A-8595-3AFA4068D4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101" y="1561455"/>
            <a:ext cx="8345065" cy="39343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1430267-76FE-8FF8-17D4-D178C2E4EB9C}"/>
              </a:ext>
            </a:extLst>
          </p:cNvPr>
          <p:cNvSpPr txBox="1"/>
          <p:nvPr/>
        </p:nvSpPr>
        <p:spPr>
          <a:xfrm>
            <a:off x="3716101" y="6123543"/>
            <a:ext cx="653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(‘Остеома </a:t>
            </a:r>
            <a:r>
              <a:rPr lang="ru-RU" dirty="0" err="1"/>
              <a:t>мыщелкового</a:t>
            </a:r>
            <a:r>
              <a:rPr lang="ru-RU" dirty="0"/>
              <a:t> отростка. Клинический случай.’ 2017)</a:t>
            </a:r>
          </a:p>
        </p:txBody>
      </p:sp>
    </p:spTree>
    <p:extLst>
      <p:ext uri="{BB962C8B-B14F-4D97-AF65-F5344CB8AC3E}">
        <p14:creationId xmlns:p14="http://schemas.microsoft.com/office/powerpoint/2010/main" val="1309933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48C7D-E32C-6089-9AA6-BEDDF44F3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Фиброма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DAD071-80D7-FF8A-86FA-AE3BCF871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10619"/>
            <a:ext cx="10515600" cy="3166344"/>
          </a:xfrm>
        </p:spPr>
        <p:txBody>
          <a:bodyPr/>
          <a:lstStyle/>
          <a:p>
            <a:r>
              <a:rPr lang="ru-RU" dirty="0"/>
              <a:t>Фиброма – доброкачественная опухоль соединительной ткани с выраженным коллагеновым компонентом.</a:t>
            </a:r>
          </a:p>
        </p:txBody>
      </p:sp>
    </p:spTree>
    <p:extLst>
      <p:ext uri="{BB962C8B-B14F-4D97-AF65-F5344CB8AC3E}">
        <p14:creationId xmlns:p14="http://schemas.microsoft.com/office/powerpoint/2010/main" val="574240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CCEA31-B6D0-BA7B-6752-178B564C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Аденомы слюнных желез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DD4268-2EA6-0DED-496E-BDBA59D0B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65681" y="1825625"/>
            <a:ext cx="4303143" cy="4351338"/>
          </a:xfrm>
        </p:spPr>
        <p:txBody>
          <a:bodyPr/>
          <a:lstStyle/>
          <a:p>
            <a:r>
              <a:rPr lang="ru-RU" dirty="0"/>
              <a:t>Доброкачественные аденомы, преимущественно возникшие в тканях малых слюнных желез, характеризуются выраженной клеточной дифференцировкой и отсутствием инвазивного роста.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194822-FC54-7928-1AF6-4AF9B512A6CF}"/>
              </a:ext>
            </a:extLst>
          </p:cNvPr>
          <p:cNvSpPr txBox="1"/>
          <p:nvPr/>
        </p:nvSpPr>
        <p:spPr>
          <a:xfrm>
            <a:off x="681487" y="6488668"/>
            <a:ext cx="1135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(Karthik Hemavathy et al. 2022)</a:t>
            </a:r>
            <a:r>
              <a:rPr lang="ru-RU" dirty="0"/>
              <a:t> </a:t>
            </a:r>
            <a:r>
              <a:rPr lang="en-US" dirty="0"/>
              <a:t>Recurrent Palatal Pleomorphic Adenoma: A Case Report With a Long-Term Follow-Up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A69AA2E-45E5-8B7F-A644-331F08A89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462" y="1575746"/>
            <a:ext cx="8154538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598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C49D79-DADB-8E00-8CF7-94BF861A1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Злокачественные опухоли. Плоскоклеточный рак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E17D5A-CFD9-CF29-F3F5-0F5EE6209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966" y="1946395"/>
            <a:ext cx="4467045" cy="4351338"/>
          </a:xfrm>
        </p:spPr>
        <p:txBody>
          <a:bodyPr/>
          <a:lstStyle/>
          <a:p>
            <a:r>
              <a:rPr lang="ru-RU" dirty="0"/>
              <a:t>Атипичное новообразование, характеризующееся нарушением клеточной архитектуры, инвазивным ростом и склонностью к локальным рецидивам. Генетические мутации в сигнальных путях (EGFR, p16) играют важную роль в патогенезе.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E5C387-F8A3-3032-4539-75A9BA8F9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713" y="1666629"/>
            <a:ext cx="3448531" cy="230537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98A2870-0CDA-03F4-52C0-16EB8DF58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4947" y="1666629"/>
            <a:ext cx="3391373" cy="35247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E2389F-643F-2420-DED4-845FFEFFFC6B}"/>
              </a:ext>
            </a:extLst>
          </p:cNvPr>
          <p:cNvSpPr txBox="1"/>
          <p:nvPr/>
        </p:nvSpPr>
        <p:spPr>
          <a:xfrm>
            <a:off x="7386368" y="5745995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(Suga et al. 2021)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0104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9A88A2-2D78-3426-E99C-1AA0A4249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Ацинозноклеточная</a:t>
            </a:r>
            <a:r>
              <a:rPr lang="ru-RU" dirty="0"/>
              <a:t> карцинома слюнных желез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1F3D26-C3AC-6B8B-157B-2F9113905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ru-RU" dirty="0"/>
              <a:t> это редкая злокачественная опухоль, развивающаяся из эпителия протоков слюнных желез. Она составляет от 5% до 11% всех злокачественных новообразований слюнных желез и чаще всего поражает околоушные железы (более чем в 85% случаев). 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9A48D6F-BF5A-8764-38B3-66B3F1DBA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966" y="920194"/>
            <a:ext cx="4163690" cy="288488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EB975DC-964E-308C-F492-4165365FA3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467" y="3727073"/>
            <a:ext cx="5954225" cy="25848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3BCD90-5764-C0D6-B12B-1D3B35874DDE}"/>
              </a:ext>
            </a:extLst>
          </p:cNvPr>
          <p:cNvSpPr txBox="1"/>
          <p:nvPr/>
        </p:nvSpPr>
        <p:spPr>
          <a:xfrm>
            <a:off x="7662413" y="6315988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(Miyazaki et al. 2017)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204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A7D0D7-924B-CB20-EBDA-8F6EDC997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Остеосаркома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77D826-DF65-77EC-1A58-143950A2C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902" y="1834251"/>
            <a:ext cx="5010509" cy="4351338"/>
          </a:xfrm>
        </p:spPr>
        <p:txBody>
          <a:bodyPr/>
          <a:lstStyle/>
          <a:p>
            <a:r>
              <a:rPr lang="ru-RU" dirty="0"/>
              <a:t>злокачественное образование костной ткани, характеризующееся высоким потенциалом метастазирования.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FBA9E31-CB1D-7588-25D0-5F311E6D4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332" y="1690688"/>
            <a:ext cx="6282766" cy="25427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B0A8F0-1DE3-BB20-55A9-C0D5AC1786E0}"/>
              </a:ext>
            </a:extLst>
          </p:cNvPr>
          <p:cNvSpPr txBox="1"/>
          <p:nvPr/>
        </p:nvSpPr>
        <p:spPr>
          <a:xfrm>
            <a:off x="6583395" y="4590055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(Rodriguez-Molinero et al. 2024)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6397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3296B6-D3C5-5ECD-5A3C-147505478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Хондросаркома 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1415D5D-FC89-641B-CA9A-8411695A36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070" y="1618591"/>
            <a:ext cx="4631408" cy="4351338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211241-2D68-D0C6-B355-06B79F58A121}"/>
              </a:ext>
            </a:extLst>
          </p:cNvPr>
          <p:cNvSpPr txBox="1"/>
          <p:nvPr/>
        </p:nvSpPr>
        <p:spPr>
          <a:xfrm>
            <a:off x="838200" y="2239988"/>
            <a:ext cx="392478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опухоль, происходящая из хрящевой ткани, отличается инвазивным ростом и резистентностью к традиционной химиотерапии.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39678D-14F6-6E17-6FC0-FE18101F75F0}"/>
              </a:ext>
            </a:extLst>
          </p:cNvPr>
          <p:cNvSpPr txBox="1"/>
          <p:nvPr/>
        </p:nvSpPr>
        <p:spPr>
          <a:xfrm>
            <a:off x="7696919" y="630820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(Cuevas-González et al. 2020)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9054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6A3C8C-06D3-F8D5-CE87-E0E33EA17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Лимфомы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FEC10E-8532-0F2A-330D-871D7A9B9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929" y="1792170"/>
            <a:ext cx="4825753" cy="4351338"/>
          </a:xfrm>
        </p:spPr>
        <p:txBody>
          <a:bodyPr/>
          <a:lstStyle/>
          <a:p>
            <a:r>
              <a:rPr lang="ru-RU" dirty="0"/>
              <a:t>опухоли лимфоидной ткани, встречающиеся в челюстно-лицевой области, требуют </a:t>
            </a:r>
            <a:r>
              <a:rPr lang="ru-RU" dirty="0" err="1"/>
              <a:t>иммуногистохимического</a:t>
            </a:r>
            <a:r>
              <a:rPr lang="ru-RU" dirty="0"/>
              <a:t> исследования для точной диагностики.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6D99716-41B8-874B-AD93-2B634143E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682" y="1792170"/>
            <a:ext cx="6563641" cy="38581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600440-515C-91C6-85CC-462E4FBC49BC}"/>
              </a:ext>
            </a:extLst>
          </p:cNvPr>
          <p:cNvSpPr txBox="1"/>
          <p:nvPr/>
        </p:nvSpPr>
        <p:spPr>
          <a:xfrm>
            <a:off x="7157621" y="571225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(Michi et al. 2022)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819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58C1F5-9B71-532E-2674-E505E807F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Меланома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829C91-EBFE-23D8-2ED2-81307AD18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48" y="1601339"/>
            <a:ext cx="4129148" cy="4351338"/>
          </a:xfrm>
        </p:spPr>
        <p:txBody>
          <a:bodyPr/>
          <a:lstStyle/>
          <a:p>
            <a:r>
              <a:rPr lang="ru-RU" dirty="0"/>
              <a:t>злокачественные образования, связанные с пигментными клетками, характеризуются высокой степенью агрессивности и склонностью к раннему метастазированию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6EA197-FF60-3830-0A5B-5CBD37A61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729" y="1145907"/>
            <a:ext cx="4129147" cy="360724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5E4632E-302C-521F-B593-1FD5087926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2896" y="1145907"/>
            <a:ext cx="3951842" cy="36072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9B6F63-CA5D-1CBC-4773-81FD6A5ACCE7}"/>
              </a:ext>
            </a:extLst>
          </p:cNvPr>
          <p:cNvSpPr txBox="1"/>
          <p:nvPr/>
        </p:nvSpPr>
        <p:spPr>
          <a:xfrm>
            <a:off x="7515764" y="498358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(Rani et al. 2014)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8621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0F0DC6-5293-DE9C-99C8-020B8F85C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Клиническая картина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D3B8C-0970-CE08-6B04-C14006AD0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Боль. На ранних стадиях опухоли ЧЛО могут протекать бессимптомно. По мере прогрессирования возможно появление болевого синдрома, интенсивность которого зависит от характера и локализации новообразования. Боль может </a:t>
            </a:r>
            <a:r>
              <a:rPr lang="ru-RU" dirty="0" err="1"/>
              <a:t>иррадиировать</a:t>
            </a:r>
            <a:r>
              <a:rPr lang="ru-RU" dirty="0"/>
              <a:t> в соседние области, такие как ухо или висок. ​</a:t>
            </a:r>
          </a:p>
          <a:p>
            <a:r>
              <a:rPr lang="ru-RU" dirty="0"/>
              <a:t>Отёк. Наличие опухоли часто сопровождается отёчностью мягких тканей, что приводит к асимметрии лица. Отёк может быть результатом как самого новообразования, так и реактивного воспаления окружающих тканей.</a:t>
            </a:r>
          </a:p>
          <a:p>
            <a:r>
              <a:rPr lang="ru-RU" dirty="0"/>
              <a:t>Инвазия соседних структур. Злокачественные опухоли склонны к инфильтративному росту, что может приводить к разрушению костных структур, подвижности зубов и изъязвлению слизистой оболочки.</a:t>
            </a:r>
          </a:p>
        </p:txBody>
      </p:sp>
    </p:spTree>
    <p:extLst>
      <p:ext uri="{BB962C8B-B14F-4D97-AF65-F5344CB8AC3E}">
        <p14:creationId xmlns:p14="http://schemas.microsoft.com/office/powerpoint/2010/main" val="979206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3B87C-649D-3A2D-9696-A76F2AC73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Неврологические нарушения (парез лицевого нерва)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CBC965-47E6-FF25-743C-021864A24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Инвазия опухоли в области прохождения лицевого нерва может вызывать его компрессию, что проявляется парезом или параличом мимических мышц на соответствующей стороне лица. Пациенты могут отмечать асимметрию лица и затруднения при выражении эмоций.</a:t>
            </a:r>
          </a:p>
        </p:txBody>
      </p:sp>
    </p:spTree>
    <p:extLst>
      <p:ext uri="{BB962C8B-B14F-4D97-AF65-F5344CB8AC3E}">
        <p14:creationId xmlns:p14="http://schemas.microsoft.com/office/powerpoint/2010/main" val="739614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73FBD1-AD98-3B25-3EB1-840209FD0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Клиническая картина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6EE4BF-F4D4-4D1D-B11B-F6253A4B2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случаях злокачественных опухолей ЧЛО возможно развитие общих симптомов интоксикации, включая:​</a:t>
            </a:r>
          </a:p>
          <a:p>
            <a:endParaRPr lang="ru-RU" dirty="0"/>
          </a:p>
          <a:p>
            <a:r>
              <a:rPr lang="ru-RU" dirty="0"/>
              <a:t>Лихорадку. Повышение температуры тела, связанное с воспалительной реакцией организма на опухолевый процесс. ​</a:t>
            </a:r>
          </a:p>
          <a:p>
            <a:r>
              <a:rPr lang="ru-RU" dirty="0"/>
              <a:t>Потерю массы тела. Снижение аппетита и метаболические нарушения могут приводить к значительной потере веса. </a:t>
            </a:r>
          </a:p>
        </p:txBody>
      </p:sp>
    </p:spTree>
    <p:extLst>
      <p:ext uri="{BB962C8B-B14F-4D97-AF65-F5344CB8AC3E}">
        <p14:creationId xmlns:p14="http://schemas.microsoft.com/office/powerpoint/2010/main" val="1883716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DC4B4A-F556-3F90-8884-7D02B3662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Функциональные нарушения органов жевания, глотания, дыхания</a:t>
            </a:r>
            <a:br>
              <a:rPr lang="ru-RU" dirty="0"/>
            </a:br>
            <a:r>
              <a:rPr lang="ru-RU" dirty="0"/>
              <a:t>Опухоли ЧЛО могут вызывать следующие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12B51C-FFA9-DC2F-B956-32D87F1BB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Опухоли ЧЛО могут вызывать следующие функциональные нарушения:​</a:t>
            </a:r>
          </a:p>
          <a:p>
            <a:endParaRPr lang="ru-RU" dirty="0"/>
          </a:p>
          <a:p>
            <a:r>
              <a:rPr lang="ru-RU" dirty="0"/>
              <a:t>Жевание. Боль и отёк в области жевательных мышц или височно-нижнечелюстного сустава могут затруднять процесс пережёвывания пищи.</a:t>
            </a:r>
          </a:p>
          <a:p>
            <a:r>
              <a:rPr lang="ru-RU" dirty="0"/>
              <a:t>Глотание. Опухоли, локализованные в области ротоглотки или дна полости рта, могут препятствовать нормальному акту глотания, вызывая дисфагию.</a:t>
            </a:r>
          </a:p>
          <a:p>
            <a:r>
              <a:rPr lang="ru-RU" dirty="0"/>
              <a:t>В случаях значительной обструкции верхних дыхательных путей опухолевыми массами возможно развитие стридора или одышки.</a:t>
            </a:r>
          </a:p>
        </p:txBody>
      </p:sp>
    </p:spTree>
    <p:extLst>
      <p:ext uri="{BB962C8B-B14F-4D97-AF65-F5344CB8AC3E}">
        <p14:creationId xmlns:p14="http://schemas.microsoft.com/office/powerpoint/2010/main" val="15260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A2D3A4-40E1-B670-775B-C690F94AA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Диагностические методы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143727-F751-B501-2DB1-643CAB8EE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34464" cy="4351338"/>
          </a:xfrm>
        </p:spPr>
        <p:txBody>
          <a:bodyPr/>
          <a:lstStyle/>
          <a:p>
            <a:r>
              <a:rPr lang="ru-RU" dirty="0"/>
              <a:t>Рентгенография (</a:t>
            </a:r>
            <a:r>
              <a:rPr lang="ru-RU" dirty="0" err="1"/>
              <a:t>ортопантомография</a:t>
            </a:r>
            <a:r>
              <a:rPr lang="ru-RU" dirty="0"/>
              <a:t>). Позволяет оценить костные структуры, выявить локальные деформации, костные изменения и признаки инфильтрации.</a:t>
            </a:r>
          </a:p>
        </p:txBody>
      </p:sp>
      <p:pic>
        <p:nvPicPr>
          <p:cNvPr id="6146" name="Picture 2" descr="Osteosarcoma of Mandible — A Case Report | Indian Journal of Surgical  Oncology">
            <a:extLst>
              <a:ext uri="{FF2B5EF4-FFF2-40B4-BE49-F238E27FC236}">
                <a16:creationId xmlns:a16="http://schemas.microsoft.com/office/drawing/2014/main" id="{ABF5EA66-5F81-E1FB-FE67-257060A4E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3280" y="2380890"/>
            <a:ext cx="5568808" cy="174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E2FE07-15FD-6F4B-D97F-1814B4A2B219}"/>
              </a:ext>
            </a:extLst>
          </p:cNvPr>
          <p:cNvSpPr txBox="1"/>
          <p:nvPr/>
        </p:nvSpPr>
        <p:spPr>
          <a:xfrm>
            <a:off x="5963280" y="4218047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Остеосаркома нижней челюсти </a:t>
            </a:r>
            <a:r>
              <a:rPr lang="en-US" dirty="0"/>
              <a:t>(Kaimal and Pai 2024)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30201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4288B3-9800-E71B-C522-662FFDC31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Компьютерная томография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7FC2B5-8A37-F811-AEB9-A826EF7A3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52977" cy="4351338"/>
          </a:xfrm>
        </p:spPr>
        <p:txBody>
          <a:bodyPr/>
          <a:lstStyle/>
          <a:p>
            <a:r>
              <a:rPr lang="ru-RU" dirty="0"/>
              <a:t>Обеспечивает высокоточное изображение, позволяющее определить объём опухолевого процесса, его границы, степень инвазии и выявить </a:t>
            </a:r>
            <a:r>
              <a:rPr lang="ru-RU" dirty="0" err="1"/>
              <a:t>микроизменения</a:t>
            </a:r>
            <a:r>
              <a:rPr lang="ru-RU" dirty="0"/>
              <a:t> костной и мягкотканной структур.</a:t>
            </a:r>
          </a:p>
        </p:txBody>
      </p:sp>
      <p:pic>
        <p:nvPicPr>
          <p:cNvPr id="7172" name="Picture 4" descr="CT of Osteosarcoma of the right maxilla for 46 years old male with no periosteal reaction.">
            <a:extLst>
              <a:ext uri="{FF2B5EF4-FFF2-40B4-BE49-F238E27FC236}">
                <a16:creationId xmlns:a16="http://schemas.microsoft.com/office/drawing/2014/main" id="{F492B502-1617-CADD-490E-3C4FE2F7E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075" y="1554447"/>
            <a:ext cx="8096250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DD44F2-EF84-88C4-E1B6-D2FACDCFB0A3}"/>
              </a:ext>
            </a:extLst>
          </p:cNvPr>
          <p:cNvSpPr txBox="1"/>
          <p:nvPr/>
        </p:nvSpPr>
        <p:spPr>
          <a:xfrm>
            <a:off x="6097438" y="4631022"/>
            <a:ext cx="60945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КТ остеосаркомы правой верхней челюсти у мужчины 46 лет без </a:t>
            </a:r>
            <a:r>
              <a:rPr lang="ru-RU" dirty="0" err="1"/>
              <a:t>периостальной</a:t>
            </a:r>
            <a:r>
              <a:rPr lang="ru-RU" dirty="0"/>
              <a:t> реакции.</a:t>
            </a:r>
            <a:r>
              <a:rPr lang="en-US" dirty="0"/>
              <a:t> (‘(PDF) Osteosarcoma of the Jaw: Challenges in the Diagnosis and Treatment’ 2024)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3799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22AC07-3719-E19A-ADDD-C333AA7BE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236125" cy="1325563"/>
          </a:xfrm>
        </p:spPr>
        <p:txBody>
          <a:bodyPr/>
          <a:lstStyle/>
          <a:p>
            <a:r>
              <a:rPr lang="ru-RU" dirty="0"/>
              <a:t>Магнитно-резонансная томография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734317-1224-286C-2784-1C59E4500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963" y="1790114"/>
            <a:ext cx="4648200" cy="4351338"/>
          </a:xfrm>
        </p:spPr>
        <p:txBody>
          <a:bodyPr/>
          <a:lstStyle/>
          <a:p>
            <a:r>
              <a:rPr lang="ru-RU" dirty="0"/>
              <a:t>Применяется для детальной оценки мягких тканей, выявления инвазии, различения гранулярных и </a:t>
            </a:r>
            <a:r>
              <a:rPr lang="ru-RU" dirty="0" err="1"/>
              <a:t>некрозных</a:t>
            </a:r>
            <a:r>
              <a:rPr lang="ru-RU" dirty="0"/>
              <a:t> участков опухоли.</a:t>
            </a: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5A7CAC41-E245-5C77-51BF-F7E26AB98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3163" y="1069119"/>
            <a:ext cx="7236125" cy="4146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5F720D-5390-8649-50F7-B21A3DDB5FD6}"/>
              </a:ext>
            </a:extLst>
          </p:cNvPr>
          <p:cNvSpPr txBox="1"/>
          <p:nvPr/>
        </p:nvSpPr>
        <p:spPr>
          <a:xfrm>
            <a:off x="3757474" y="577775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(Aung et al. 2024)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AE55D5-B7C7-8D72-A0AA-E7BC143613B0}"/>
              </a:ext>
            </a:extLst>
          </p:cNvPr>
          <p:cNvSpPr txBox="1"/>
          <p:nvPr/>
        </p:nvSpPr>
        <p:spPr>
          <a:xfrm>
            <a:off x="736848" y="5223046"/>
            <a:ext cx="119315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Меланома. Изображения первичных </a:t>
            </a:r>
            <a:r>
              <a:rPr lang="ru-RU" dirty="0" err="1"/>
              <a:t>визуализационных</a:t>
            </a:r>
            <a:r>
              <a:rPr lang="ru-RU" dirty="0"/>
              <a:t> исследований. Аксиальная МРТ с Т2-взвешенным изображением с </a:t>
            </a:r>
            <a:r>
              <a:rPr lang="ru-RU" dirty="0" err="1"/>
              <a:t>жироподавлением</a:t>
            </a:r>
            <a:r>
              <a:rPr lang="ru-RU" dirty="0"/>
              <a:t> (A, E), Т1-взвешенным изображением (B, F), Т1-взвешенным изображением с контрастным усилением (C, G)</a:t>
            </a:r>
          </a:p>
        </p:txBody>
      </p:sp>
    </p:spTree>
    <p:extLst>
      <p:ext uri="{BB962C8B-B14F-4D97-AF65-F5344CB8AC3E}">
        <p14:creationId xmlns:p14="http://schemas.microsoft.com/office/powerpoint/2010/main" val="821045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EAD28F-63BC-4F59-F61F-8218DE63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944340" cy="1325563"/>
          </a:xfrm>
        </p:spPr>
        <p:txBody>
          <a:bodyPr/>
          <a:lstStyle/>
          <a:p>
            <a:r>
              <a:rPr lang="ru-RU" dirty="0"/>
              <a:t>Ультразвуковое исследование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A55B40-7EF0-20A2-3920-7501CD220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63610" cy="4351338"/>
          </a:xfrm>
        </p:spPr>
        <p:txBody>
          <a:bodyPr/>
          <a:lstStyle/>
          <a:p>
            <a:r>
              <a:rPr lang="ru-RU" dirty="0"/>
              <a:t>Используется для первичной оценки локализации опухоли, исследования её сосудистого русла, определения характера контуров образования.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3668B15-D068-2A79-5A06-946A20A3E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2540" y="443883"/>
            <a:ext cx="4322715" cy="46605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1C06CD-B7F8-E120-5902-963F5B6D1D8E}"/>
              </a:ext>
            </a:extLst>
          </p:cNvPr>
          <p:cNvSpPr txBox="1"/>
          <p:nvPr/>
        </p:nvSpPr>
        <p:spPr>
          <a:xfrm>
            <a:off x="6909046" y="5183165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(Drage, Qureshi, and Lingam 2018)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7362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626E6C-B1BB-9419-F726-5D168A2E7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Лабораторная диагностика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034EFE-02A9-2F69-38C1-79E629F3D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Общий анализ крови, биохимия. Позволяет выявить системные воспалительные изменения, оценить метаболический статус пациента, определить возможные </a:t>
            </a:r>
            <a:r>
              <a:rPr lang="ru-RU" dirty="0" err="1"/>
              <a:t>паранеопластические</a:t>
            </a:r>
            <a:r>
              <a:rPr lang="ru-RU" dirty="0"/>
              <a:t> эффекты.</a:t>
            </a:r>
          </a:p>
          <a:p>
            <a:endParaRPr lang="ru-RU" dirty="0"/>
          </a:p>
          <a:p>
            <a:r>
              <a:rPr lang="ru-RU" dirty="0"/>
              <a:t>Маркеры опухолевой активности. Определение специфических белковых, генетических или метаболических маркеров, характерных для отдельных типов опухолей, что помогает в предоперационном диагнозе и мониторинге терапии. </a:t>
            </a:r>
          </a:p>
        </p:txBody>
      </p:sp>
    </p:spTree>
    <p:extLst>
      <p:ext uri="{BB962C8B-B14F-4D97-AF65-F5344CB8AC3E}">
        <p14:creationId xmlns:p14="http://schemas.microsoft.com/office/powerpoint/2010/main" val="936722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B2A130-98BE-472B-EE3D-BA5BFC9FC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Инвазивные методы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681BC2-9506-F95E-1154-DE0327EAC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Биопсия (тонкоигольная, </a:t>
            </a:r>
            <a:r>
              <a:rPr lang="ru-RU" dirty="0" err="1"/>
              <a:t>эксцизионная</a:t>
            </a:r>
            <a:r>
              <a:rPr lang="ru-RU" dirty="0"/>
              <a:t>). Получение образцов ткани для гистологического исследования является «золотым стандартом» в подтверждении диагноза и оценке характера опухолевого процесса. </a:t>
            </a:r>
          </a:p>
          <a:p>
            <a:endParaRPr lang="ru-RU" dirty="0"/>
          </a:p>
          <a:p>
            <a:r>
              <a:rPr lang="ru-RU" dirty="0"/>
              <a:t>Цитологическое исследование. Проводится при наличии малых образований или в предварительной оценке с целью быстрой диагностики посредством анализа клеточного состава, что позволяет проводить дальнейшую тактическую коррекцию лечения.</a:t>
            </a:r>
          </a:p>
        </p:txBody>
      </p:sp>
    </p:spTree>
    <p:extLst>
      <p:ext uri="{BB962C8B-B14F-4D97-AF65-F5344CB8AC3E}">
        <p14:creationId xmlns:p14="http://schemas.microsoft.com/office/powerpoint/2010/main" val="1649320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0D8AA5-56B4-D603-A4C6-90CC64E87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dirty="0"/>
            </a:br>
            <a:r>
              <a:rPr lang="ru-RU" dirty="0"/>
              <a:t>Гистоморфологическая оценка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D6E45F-5E03-9729-8AED-E1B56C99F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Цель: Определение гистологического типа опухоли, её клеточного состава и степени дифференцировки.</a:t>
            </a:r>
          </a:p>
          <a:p>
            <a:r>
              <a:rPr lang="ru-RU" dirty="0"/>
              <a:t>Тип клеток: Эпителиальные, мезенхимальные, лимфоидные и др. Степень дифференцировки: Высокодифференцированные (с более сохранённой клеточной архитектурой) – обычно менее агрессивные, низкодифференцированные – характеризуются высокой клеточной </a:t>
            </a:r>
            <a:r>
              <a:rPr lang="ru-RU" dirty="0" err="1"/>
              <a:t>атипией</a:t>
            </a:r>
            <a:r>
              <a:rPr lang="ru-RU" dirty="0"/>
              <a:t> и агрессивностью.</a:t>
            </a:r>
          </a:p>
          <a:p>
            <a:r>
              <a:rPr lang="ru-RU" dirty="0"/>
              <a:t>Методика: Стандартное гистологическое исследование с использованием гематоксилин-</a:t>
            </a:r>
            <a:r>
              <a:rPr lang="ru-RU" dirty="0" err="1"/>
              <a:t>эозинового</a:t>
            </a:r>
            <a:r>
              <a:rPr lang="ru-RU" dirty="0"/>
              <a:t> окрашивания и, при необходимости, дополнительных гистохимических методик для уточнения морфологических особенностей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42427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FCF9AE-0409-D46E-4CE0-EB6B06707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Иммуногистохимия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04966A-1D66-57F0-D270-69DE765BC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Цель: Определение экспрессии специфических клеточных белков для подтверждения гистогенеза опухоли и уточнения её биологического профиля</a:t>
            </a:r>
          </a:p>
          <a:p>
            <a:r>
              <a:rPr lang="ru-RU" dirty="0"/>
              <a:t>Маркеры:</a:t>
            </a:r>
          </a:p>
          <a:p>
            <a:pPr lvl="1"/>
            <a:r>
              <a:rPr lang="ru-RU" dirty="0"/>
              <a:t>CK (</a:t>
            </a:r>
            <a:r>
              <a:rPr lang="ru-RU" dirty="0" err="1"/>
              <a:t>цитокератины</a:t>
            </a:r>
            <a:r>
              <a:rPr lang="ru-RU" dirty="0"/>
              <a:t>): Указывают на эпителиальную природу.</a:t>
            </a:r>
          </a:p>
          <a:p>
            <a:pPr lvl="1"/>
            <a:r>
              <a:rPr lang="ru-RU" dirty="0"/>
              <a:t>EMA (эпителиальный мембранный антиген): Дополнительный маркер эпителиальных клеток.</a:t>
            </a:r>
          </a:p>
          <a:p>
            <a:pPr lvl="1"/>
            <a:r>
              <a:rPr lang="ru-RU" dirty="0"/>
              <a:t>S-100: Применяется для выявления опухолей нервной или мезенхимальной природы, а также меланом.</a:t>
            </a:r>
          </a:p>
          <a:p>
            <a:pPr lvl="1"/>
            <a:r>
              <a:rPr lang="ru-RU" dirty="0"/>
              <a:t>При необходимости могут использоваться и другие маркеры (например, </a:t>
            </a:r>
            <a:r>
              <a:rPr lang="ru-RU" dirty="0" err="1"/>
              <a:t>Vimentin</a:t>
            </a:r>
            <a:r>
              <a:rPr lang="ru-RU" dirty="0"/>
              <a:t>, </a:t>
            </a:r>
            <a:r>
              <a:rPr lang="ru-RU" dirty="0" err="1"/>
              <a:t>Desmin</a:t>
            </a:r>
            <a:r>
              <a:rPr lang="ru-RU" dirty="0"/>
              <a:t>) для детального уточнения клеточного состава. [10]</a:t>
            </a:r>
          </a:p>
          <a:p>
            <a:r>
              <a:rPr lang="ru-RU" dirty="0"/>
              <a:t>Методика: Проведение окрашивания парафиновых срезов с использованием моноклональных антител и системы обнаружения </a:t>
            </a:r>
            <a:r>
              <a:rPr lang="ru-RU" dirty="0" err="1"/>
              <a:t>иммуноцитохимической</a:t>
            </a:r>
            <a:r>
              <a:rPr lang="ru-RU" dirty="0"/>
              <a:t> реакции.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14012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D2FF2B-26E1-1501-CA0D-E3A6849E4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Молекулярно-генетические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21FC8C-15F3-76DC-EF62-C6D3A4B9E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Цель: Анализ генетических аномалий, выявление драйверных мутаций и структурных перестроек для определения молекулярного профиля опухоли.</a:t>
            </a:r>
          </a:p>
          <a:p>
            <a:endParaRPr lang="ru-RU" dirty="0"/>
          </a:p>
          <a:p>
            <a:pPr lvl="1"/>
            <a:r>
              <a:rPr lang="ru-RU" dirty="0"/>
              <a:t>Мутационный анализ: Использование ПЦР и методов секвенирования (</a:t>
            </a:r>
            <a:r>
              <a:rPr lang="ru-RU" dirty="0" err="1"/>
              <a:t>Sanger</a:t>
            </a:r>
            <a:r>
              <a:rPr lang="ru-RU" dirty="0"/>
              <a:t> или NGS) для выявления точечных мутаций, </a:t>
            </a:r>
            <a:r>
              <a:rPr lang="ru-RU" dirty="0" err="1"/>
              <a:t>микроделеции</a:t>
            </a:r>
            <a:r>
              <a:rPr lang="ru-RU" dirty="0"/>
              <a:t>/</a:t>
            </a:r>
            <a:r>
              <a:rPr lang="ru-RU" dirty="0" err="1"/>
              <a:t>инсерций</a:t>
            </a:r>
            <a:r>
              <a:rPr lang="ru-RU" dirty="0"/>
              <a:t> в ключевых онкогенах и генах-супрессорах. </a:t>
            </a:r>
          </a:p>
          <a:p>
            <a:pPr lvl="1"/>
            <a:r>
              <a:rPr lang="ru-RU" dirty="0"/>
              <a:t>Флуоресцентная гибридизация </a:t>
            </a:r>
            <a:r>
              <a:rPr lang="ru-RU" dirty="0" err="1"/>
              <a:t>in</a:t>
            </a:r>
            <a:r>
              <a:rPr lang="ru-RU" dirty="0"/>
              <a:t> </a:t>
            </a:r>
            <a:r>
              <a:rPr lang="ru-RU" dirty="0" err="1"/>
              <a:t>situ</a:t>
            </a:r>
            <a:r>
              <a:rPr lang="ru-RU" dirty="0"/>
              <a:t> (FISH): Для обнаружения хромосомных транслокаций и других структурных изменений.</a:t>
            </a:r>
          </a:p>
          <a:p>
            <a:pPr lvl="1"/>
            <a:r>
              <a:rPr lang="ru-RU" dirty="0"/>
              <a:t>Анализ экспрессии генов: Сравнение уровней экспрессии 5′ и 3′ фрагментов генов для выявления несбалансированной экспрессии, что может указывать на химерные гены или аномалии </a:t>
            </a:r>
            <a:r>
              <a:rPr lang="ru-RU" dirty="0" err="1"/>
              <a:t>копийности</a:t>
            </a:r>
            <a:r>
              <a:rPr lang="ru-RU" dirty="0"/>
              <a:t>.</a:t>
            </a:r>
          </a:p>
          <a:p>
            <a:r>
              <a:rPr lang="ru-RU" dirty="0"/>
              <a:t>Клиническое значение: Результаты исследования позволяют индивидуализировать терапевтическую стратегию посредством подбора таргетных агентов, направленных на конкретные молекулярные мишени опухолевых клеток.</a:t>
            </a:r>
          </a:p>
        </p:txBody>
      </p:sp>
    </p:spTree>
    <p:extLst>
      <p:ext uri="{BB962C8B-B14F-4D97-AF65-F5344CB8AC3E}">
        <p14:creationId xmlns:p14="http://schemas.microsoft.com/office/powerpoint/2010/main" val="3787785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4E8BE8-07A8-0272-394E-E84579996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Лечение. Хирургическое вмешательство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42194C-5D0B-E922-BAD4-E09BEF8EE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604" y="1791120"/>
            <a:ext cx="6157823" cy="4351338"/>
          </a:xfrm>
        </p:spPr>
        <p:txBody>
          <a:bodyPr/>
          <a:lstStyle/>
          <a:p>
            <a:r>
              <a:rPr lang="ru-RU" dirty="0"/>
              <a:t>Радикальная резекция опухоли. Применяется полное удаление опухолевой массы с соблюдением онкологических безопасных краёв. В случаях, когда опухоль затрагивает костные структуры, выполняется резекция с учетом предоперационных планов, подтвержденных инструментальной диагностикой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A60355F-3C31-F907-F27B-C088D2A396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395" y="1881393"/>
            <a:ext cx="5152706" cy="20853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67A0D5-C129-D0AC-4219-500E219F2CCD}"/>
              </a:ext>
            </a:extLst>
          </p:cNvPr>
          <p:cNvSpPr txBox="1"/>
          <p:nvPr/>
        </p:nvSpPr>
        <p:spPr>
          <a:xfrm>
            <a:off x="7756588" y="4374394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(Rodriguez-Molinero et al. 2024)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76835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59F96D-AC5B-3352-BF1C-767B008FC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Лечение. Хирургическое вмешательство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14682D-1259-C54A-5E55-580EB4FF6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Реконструктивные методы. Используются методы микроваскулярного анастомоза и трансплантации костных сегментов для восстановления анатомической целостности и функциональных возможностей ЧЛО после радикальной резекции. Техника включает применение свободных трансплантатов с последующим микроскопическим выполнением сосудистых анастомозов.</a:t>
            </a:r>
          </a:p>
        </p:txBody>
      </p:sp>
    </p:spTree>
    <p:extLst>
      <p:ext uri="{BB962C8B-B14F-4D97-AF65-F5344CB8AC3E}">
        <p14:creationId xmlns:p14="http://schemas.microsoft.com/office/powerpoint/2010/main" val="36510527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E4D918-4C99-E9D6-A384-711C26563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Лучевая терапия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F98A2E-C948-B188-EFB7-A10E7AAFB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err="1"/>
              <a:t>Адъювантная</a:t>
            </a:r>
            <a:r>
              <a:rPr lang="ru-RU" dirty="0"/>
              <a:t> терапия после хирургического вмешательства. Проводится для уничтожения </a:t>
            </a:r>
            <a:r>
              <a:rPr lang="ru-RU" dirty="0" err="1"/>
              <a:t>микрометастатических</a:t>
            </a:r>
            <a:r>
              <a:rPr lang="ru-RU" dirty="0"/>
              <a:t> очагов и повышения локального контроля заболевания. Применяются современные технологии (IMRT, VMAT) для точного облучения с минимизацией повреждения здоровых тканей.</a:t>
            </a:r>
          </a:p>
          <a:p>
            <a:endParaRPr lang="ru-RU" dirty="0"/>
          </a:p>
          <a:p>
            <a:r>
              <a:rPr lang="ru-RU" dirty="0"/>
              <a:t>Паллиативное лечение при неоперабельных формах. Использование лучевой терапии в целях симптоматического контроля (снижение болевого синдрома, уменьшение опухолевой массы) у пациентов, не подлежащих хирургическому лечению.</a:t>
            </a:r>
          </a:p>
        </p:txBody>
      </p:sp>
    </p:spTree>
    <p:extLst>
      <p:ext uri="{BB962C8B-B14F-4D97-AF65-F5344CB8AC3E}">
        <p14:creationId xmlns:p14="http://schemas.microsoft.com/office/powerpoint/2010/main" val="17928859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A196DD-63F4-9B52-B1A0-0C71046C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Химиотерапия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5D0226-D2A0-66CC-AA74-4DDCE3558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err="1"/>
              <a:t>Неоадъювантные</a:t>
            </a:r>
            <a:r>
              <a:rPr lang="ru-RU" dirty="0"/>
              <a:t> и </a:t>
            </a:r>
            <a:r>
              <a:rPr lang="ru-RU" dirty="0" err="1"/>
              <a:t>адъювантные</a:t>
            </a:r>
            <a:r>
              <a:rPr lang="ru-RU" dirty="0"/>
              <a:t> схемы. Применяются для уменьшения объема опухоли до операции (</a:t>
            </a:r>
            <a:r>
              <a:rPr lang="ru-RU" dirty="0" err="1"/>
              <a:t>неоадъювантная</a:t>
            </a:r>
            <a:r>
              <a:rPr lang="ru-RU" dirty="0"/>
              <a:t> терапия) или для снижения риска рецидива после резекции (</a:t>
            </a:r>
            <a:r>
              <a:rPr lang="ru-RU" dirty="0" err="1"/>
              <a:t>адъювантная</a:t>
            </a:r>
            <a:r>
              <a:rPr lang="ru-RU" dirty="0"/>
              <a:t> терапия). Схемы подбираются с учетом клинических и морфологических характеристик опухоли.</a:t>
            </a:r>
          </a:p>
          <a:p>
            <a:endParaRPr lang="ru-RU" dirty="0"/>
          </a:p>
          <a:p>
            <a:r>
              <a:rPr lang="ru-RU" dirty="0"/>
              <a:t>Использование стандартных и таргетных агентов. В стандартные схемы включаются цитотоксические препараты, а при выявлении специфических молекулярных мишеней (например, мутации EGFR, ALK, RET) назначаются таргетные агенты, обеспечивающие персонализированный подход к терапии. </a:t>
            </a:r>
          </a:p>
        </p:txBody>
      </p:sp>
    </p:spTree>
    <p:extLst>
      <p:ext uri="{BB962C8B-B14F-4D97-AF65-F5344CB8AC3E}">
        <p14:creationId xmlns:p14="http://schemas.microsoft.com/office/powerpoint/2010/main" val="32385971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06FA74-6590-57CB-B7BC-FBEA0046C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Прогноз и мониторинг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49F83F-A9F4-3FEB-E905-ED1566F53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Факторы, влияющие на прогноз</a:t>
            </a:r>
          </a:p>
          <a:p>
            <a:r>
              <a:rPr lang="ru-RU" dirty="0"/>
              <a:t>Стадия заболевания (TNM): Чем выше стадия опухоли, тем менее благоприятен прогноз. При III–IV стадиях риск рецидива и метастазирования существенно возрастает.</a:t>
            </a:r>
          </a:p>
          <a:p>
            <a:r>
              <a:rPr lang="ru-RU" dirty="0"/>
              <a:t>Гистологическая степень дифференцировки: Опухоли с низкой дифференцировкой характеризуются высокой клеточной </a:t>
            </a:r>
            <a:r>
              <a:rPr lang="ru-RU" dirty="0" err="1"/>
              <a:t>атипией</a:t>
            </a:r>
            <a:r>
              <a:rPr lang="ru-RU" dirty="0"/>
              <a:t> и агрессивным биологическим поведением, что ухудшает прогноз.</a:t>
            </a:r>
          </a:p>
          <a:p>
            <a:r>
              <a:rPr lang="ru-RU" dirty="0"/>
              <a:t>Наличие метастазов: Выявление локальных, </a:t>
            </a:r>
            <a:r>
              <a:rPr lang="ru-RU" dirty="0" err="1"/>
              <a:t>лимфоузловых</a:t>
            </a:r>
            <a:r>
              <a:rPr lang="ru-RU" dirty="0"/>
              <a:t> и отдалённых метастаз является негативным прогностическим фактором, влияющим на выживаемость.</a:t>
            </a:r>
          </a:p>
          <a:p>
            <a:r>
              <a:rPr lang="ru-RU" dirty="0"/>
              <a:t>Дополнительные факторы: </a:t>
            </a:r>
            <a:r>
              <a:rPr lang="ru-RU" dirty="0" err="1"/>
              <a:t>Перинеуральная</a:t>
            </a:r>
            <a:r>
              <a:rPr lang="ru-RU" dirty="0"/>
              <a:t> и сосудистая инвазия, а также молекулярно-генетический профиль (наличие драйверных мутаций) также существенно влияют на прогноз и выбор тактики лечения.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89803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CCDC84-9351-3F3A-3591-9FE4E8D4A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Регулярное наблюдение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3A666D-61D5-B296-C6F1-12AED75A0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Периодическая визуализация: Рекомендуется проводить контрольные инструментальные исследования (КТ, МРТ, УЗИ, рентгенография) для оценки динамики опухолевого процесса и раннего выявления рецидивов.</a:t>
            </a:r>
          </a:p>
          <a:p>
            <a:r>
              <a:rPr lang="ru-RU" dirty="0"/>
              <a:t>Биохимический и клинический мониторинг: Регулярное проведение лабораторных анализов (общий анализ крови, биохимия, онкомаркеры) и клиническая оценка состояния пациента позволяют оперативно выявлять изменения в метаболизме и функциональные нарушения, сигнализирующие о возможном рецидиве или </a:t>
            </a:r>
            <a:r>
              <a:rPr lang="ru-RU" dirty="0" err="1"/>
              <a:t>осложнениях.Реабилитация</a:t>
            </a:r>
            <a:r>
              <a:rPr lang="ru-RU" dirty="0"/>
              <a:t> и коррекция функциональных нарушений</a:t>
            </a:r>
          </a:p>
          <a:p>
            <a:r>
              <a:rPr lang="ru-RU" dirty="0"/>
              <a:t>Функциональная реабилитация: После лечения проводится восстановление функций жевания, глотания, мимики и дыхания. Используются методы физиотерапии, логопедии, а также специализированные реабилитационные программы.</a:t>
            </a:r>
          </a:p>
          <a:p>
            <a:r>
              <a:rPr lang="ru-RU" dirty="0"/>
              <a:t>Коррекция эстетических дефектов: При необходимости выполняется реконструктивная хирургия, протезирование и использование микрохирургических методов для восстановления эстетики и функциональности лица после резекции опухоли.</a:t>
            </a:r>
          </a:p>
          <a:p>
            <a:r>
              <a:rPr lang="ru-RU" dirty="0"/>
              <a:t>Мультидисциплинарный подход: Эффективная реабилитация требует комплексного взаимодействия онколога, хирурга, физиотерапевта, логопеда и реабилитолога для коррекции всех выявленных нарушений и повышения качества жизни пациента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30389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BB5D8E-A47B-F57B-5C3B-A07D5D41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334"/>
            <a:ext cx="10515600" cy="773562"/>
          </a:xfrm>
        </p:spPr>
        <p:txBody>
          <a:bodyPr/>
          <a:lstStyle/>
          <a:p>
            <a:r>
              <a:rPr lang="ru-RU" dirty="0"/>
              <a:t>Библиография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ACFBEB-ABC4-807B-EBC4-B32E8A920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79896"/>
            <a:ext cx="12192000" cy="5871770"/>
          </a:xfrm>
        </p:spPr>
        <p:txBody>
          <a:bodyPr>
            <a:normAutofit fontScale="62500" lnSpcReduction="20000"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1. Гистоморфологические Исследования | ПОМЦ [Электронный ресурс]. </a:t>
            </a:r>
            <a:r>
              <a:rPr lang="en-US" sz="18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URL</a:t>
            </a:r>
            <a:r>
              <a:rPr lang="ru-RU" sz="18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</a:t>
            </a:r>
            <a:r>
              <a:rPr lang="en-US" sz="1800" i="1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ru-RU" sz="1800" i="1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</a:t>
            </a:r>
            <a:r>
              <a:rPr lang="en-US" sz="1800" i="1" dirty="0" err="1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pomc</a:t>
            </a:r>
            <a:r>
              <a:rPr lang="ru-RU" sz="1800" i="1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en-US" sz="1800" i="1" dirty="0" err="1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</a:t>
            </a:r>
            <a:r>
              <a:rPr lang="ru-RU" sz="1800" i="1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sz="1800" i="1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diagnostics</a:t>
            </a:r>
            <a:r>
              <a:rPr lang="ru-RU" sz="1800" i="1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sz="1800" i="1" dirty="0" err="1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gistomorfologicheskie</a:t>
            </a:r>
            <a:r>
              <a:rPr lang="ru-RU" sz="1800" i="1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issledovaniya</a:t>
            </a:r>
            <a:r>
              <a:rPr lang="ru-RU" sz="18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(дата обращения: 04.04.2025).</a:t>
            </a:r>
          </a:p>
          <a:p>
            <a:pPr indent="0" algn="just">
              <a:lnSpc>
                <a:spcPct val="150000"/>
              </a:lnSpc>
              <a:buNone/>
            </a:pPr>
            <a:r>
              <a:rPr lang="ru-RU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2. Классификация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TNM</a:t>
            </a:r>
            <a:r>
              <a:rPr lang="ru-RU" sz="18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[Электронный ресурс]. </a:t>
            </a:r>
            <a:r>
              <a:rPr lang="en-US" sz="18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URL</a:t>
            </a:r>
            <a:r>
              <a:rPr lang="ru-RU" sz="18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</a:t>
            </a:r>
            <a:r>
              <a:rPr lang="en-US" sz="1800" i="1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ru-RU" sz="1800" i="1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</a:t>
            </a:r>
            <a:r>
              <a:rPr lang="en-US" sz="1800" i="1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</a:t>
            </a:r>
            <a:r>
              <a:rPr lang="ru-RU" sz="1800" i="1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en-US" sz="1800" i="1" dirty="0" err="1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roche</a:t>
            </a:r>
            <a:r>
              <a:rPr lang="ru-RU" sz="1800" i="1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en-US" sz="1800" i="1" dirty="0" err="1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</a:t>
            </a:r>
            <a:r>
              <a:rPr lang="ru-RU" sz="1800" i="1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sz="1800" i="1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oncology</a:t>
            </a:r>
            <a:r>
              <a:rPr lang="ru-RU" sz="1800" i="1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sz="1800" i="1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diseases</a:t>
            </a:r>
            <a:r>
              <a:rPr lang="ru-RU" sz="1800" i="1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sz="1800" i="1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Lung</a:t>
            </a:r>
            <a:r>
              <a:rPr lang="ru-RU" sz="1800" i="1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</a:t>
            </a:r>
            <a:r>
              <a:rPr lang="en-US" sz="1800" i="1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cancer</a:t>
            </a:r>
            <a:r>
              <a:rPr lang="ru-RU" sz="1800" i="1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sz="1800" i="1" dirty="0" err="1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klassifikaciya</a:t>
            </a:r>
            <a:r>
              <a:rPr lang="ru-RU" sz="1800" i="1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</a:t>
            </a:r>
            <a:r>
              <a:rPr lang="en-US" sz="1800" i="1" dirty="0" err="1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tnm</a:t>
            </a:r>
            <a:r>
              <a:rPr lang="ru-RU" sz="1800" i="1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html</a:t>
            </a:r>
            <a:r>
              <a:rPr lang="ru-RU" sz="18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(дата обращения: 04.04.2025).</a:t>
            </a:r>
          </a:p>
          <a:p>
            <a:pPr indent="0" algn="just">
              <a:lnSpc>
                <a:spcPct val="150000"/>
              </a:lnSpc>
              <a:buNone/>
            </a:pP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3. Allmen D. von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Pediatric Surgical Oncology: A Brief Overview of Where We Have Been and the Challenges We Face</a:t>
            </a:r>
            <a:r>
              <a:rPr lang="en-US" sz="18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// Seminars in Pediatric Surgery. 2019. № 6 (28). C. 150864.</a:t>
            </a:r>
            <a:endParaRPr lang="ru-RU" sz="18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4. Győrffy B.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Survival Analysis across the Entire Transcriptome Identifies Biomarkers with the Highest Prognostic Power in Breast Cancer</a:t>
            </a:r>
            <a:r>
              <a:rPr lang="en-US" sz="18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// Computational and Structural Biotechnology Journal. 2021. (19). C. 4101–4109.</a:t>
            </a:r>
            <a:endParaRPr lang="ru-RU" sz="18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5. Hackett S., El-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Wazani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B., Butterworth C.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Zygomatic Implant-Based Rehabilitation for Patients with Maxillary and Mid-Facial Oncology Defects: A Review</a:t>
            </a:r>
            <a:r>
              <a:rPr lang="en-US" sz="18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// Oral Diseases. 2021. № 1 (27). C. 27–41.</a:t>
            </a:r>
            <a:endParaRPr lang="ru-RU" sz="18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6. Kundra R. [и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др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.]. </a:t>
            </a:r>
            <a:r>
              <a:rPr lang="en-US" sz="1800" i="1" dirty="0" err="1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OncoTree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A Cancer Classification System for Precision Oncology</a:t>
            </a:r>
            <a:r>
              <a:rPr lang="en-US" sz="18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// JCO Clinical Cancer Informatics. 2021. № 5. C. 221–230.</a:t>
            </a:r>
            <a:endParaRPr lang="ru-RU" sz="18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7. Liang B. [и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др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.].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Identification of the Facial Features of Patients With Cancer: A Deep Learning–Based Pilot Study</a:t>
            </a:r>
            <a:r>
              <a:rPr lang="en-US" sz="18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// Journal of Medical Internet Research. 2020. № 4 (22). C. e17234.</a:t>
            </a:r>
            <a:endParaRPr lang="ru-RU" sz="18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8. Lo S., Chapman P. </a:t>
            </a:r>
            <a:r>
              <a:rPr lang="en-US" sz="1800" i="1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Future Directions in Digital Anatomical Simulation and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Visualisation</a:t>
            </a:r>
            <a:r>
              <a:rPr lang="en-US" sz="18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// Journal of Plastic, Reconstructive &amp; Aesthetic Surgery. 2020. № 8 (73). C. 1575–1592.</a:t>
            </a:r>
            <a:endParaRPr lang="ru-RU" sz="18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9. Mirghani H. [и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др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.].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Smoking Impact on HPV Driven Head and Neck Cancer’s Oncological Outcomes?</a:t>
            </a:r>
            <a:r>
              <a:rPr lang="en-US" sz="18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// Oral Oncology. 2018. (82). C. 131–137.</a:t>
            </a:r>
            <a:endParaRPr lang="ru-RU" sz="18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10. Ojukwu K. [и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др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.].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Immunohistochemistry for Diagnosing Melanoma in Older Adults</a:t>
            </a:r>
            <a:r>
              <a:rPr lang="en-US" sz="18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// JAMA Dermatology. 2024. № 4 (160). C. 434–440.</a:t>
            </a:r>
            <a:endParaRPr lang="ru-RU" sz="18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11. Patel R. C. [и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др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.].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Melatonin-Associated Facial Swelling in an Oncology Patient: Case Report and Review of Swelling of the Face in Individuals With Head and Neck Cancer</a:t>
            </a:r>
            <a:r>
              <a:rPr lang="en-US" sz="18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//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Cureus</a:t>
            </a:r>
            <a:r>
              <a:rPr lang="en-US" sz="18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 2020.</a:t>
            </a:r>
            <a:endParaRPr lang="ru-RU" sz="18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12. Ramos-Vara J. A., Borst L. B.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Immunohistochemistry</a:t>
            </a:r>
            <a:r>
              <a:rPr lang="en-US" sz="18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John Wiley &amp; Sons, Ltd, 2016.C. 44–87.</a:t>
            </a:r>
            <a:endParaRPr lang="ru-RU" sz="18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13. Smith V., Walton S.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Treatment of Facial Basal Cell Carcinoma: A Review</a:t>
            </a:r>
            <a:r>
              <a:rPr lang="en-US" sz="18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// Journal of Skin Cancer. 2011. № 1 (2011). C. 380371.</a:t>
            </a:r>
            <a:endParaRPr lang="ru-RU" sz="18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14. Venter J. C. [и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др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.].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Shotgun Sequencing of the Human Genome</a:t>
            </a:r>
            <a:r>
              <a:rPr lang="en-US" sz="18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// Science. 1998. № 5369 (280). C. 1540–1542.</a:t>
            </a:r>
            <a:endParaRPr lang="ru-RU" sz="18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15.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Witmanowski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H. [и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др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.].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Original papers</a:t>
            </a:r>
            <a:endParaRPr lang="ru-RU" sz="18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31181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3AAE7C-FF3C-3A6B-E5B4-9D35B32F0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7223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37577E-4787-21E8-F68C-2C8AC6F66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46298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2320</Words>
  <Application>Microsoft Office PowerPoint</Application>
  <PresentationFormat>Широкоэкранный</PresentationFormat>
  <Paragraphs>141</Paragraphs>
  <Slides>36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Times New Roman</vt:lpstr>
      <vt:lpstr>Тема Office</vt:lpstr>
      <vt:lpstr>Опухоли челюстно-лицевой области </vt:lpstr>
      <vt:lpstr>Актуальность проблемы</vt:lpstr>
      <vt:lpstr>Эпидемиологическая характеристика</vt:lpstr>
      <vt:lpstr>Этиопатогенез</vt:lpstr>
      <vt:lpstr>Этиопатогенез</vt:lpstr>
      <vt:lpstr>Этиопатогенез</vt:lpstr>
      <vt:lpstr>Классификация опухолей. Доброкачественные опухоли - Остеома</vt:lpstr>
      <vt:lpstr>Фиброма</vt:lpstr>
      <vt:lpstr>Аденомы слюнных желез</vt:lpstr>
      <vt:lpstr>Злокачественные опухоли. Плоскоклеточный рак</vt:lpstr>
      <vt:lpstr>Ацинозноклеточная карцинома слюнных желез</vt:lpstr>
      <vt:lpstr>Остеосаркома </vt:lpstr>
      <vt:lpstr>Хондросаркома </vt:lpstr>
      <vt:lpstr>Лимфомы</vt:lpstr>
      <vt:lpstr>Меланома</vt:lpstr>
      <vt:lpstr>Клиническая картина</vt:lpstr>
      <vt:lpstr>Неврологические нарушения (парез лицевого нерва) </vt:lpstr>
      <vt:lpstr>Клиническая картина</vt:lpstr>
      <vt:lpstr>Функциональные нарушения органов жевания, глотания, дыхания Опухоли ЧЛО могут вызывать следующие </vt:lpstr>
      <vt:lpstr>Диагностические методы</vt:lpstr>
      <vt:lpstr>Компьютерная томография</vt:lpstr>
      <vt:lpstr>Магнитно-резонансная томография</vt:lpstr>
      <vt:lpstr>Ультразвуковое исследование</vt:lpstr>
      <vt:lpstr>Лабораторная диагностика</vt:lpstr>
      <vt:lpstr>Инвазивные методы</vt:lpstr>
      <vt:lpstr> Гистоморфологическая оценка </vt:lpstr>
      <vt:lpstr>Иммуногистохимия</vt:lpstr>
      <vt:lpstr>Молекулярно-генетические исследования</vt:lpstr>
      <vt:lpstr>Лечение. Хирургическое вмешательство</vt:lpstr>
      <vt:lpstr>Лечение. Хирургическое вмешательство</vt:lpstr>
      <vt:lpstr>Лучевая терапия</vt:lpstr>
      <vt:lpstr>Химиотерапия</vt:lpstr>
      <vt:lpstr>Прогноз и мониторинг</vt:lpstr>
      <vt:lpstr>Регулярное наблюдение</vt:lpstr>
      <vt:lpstr>Библиография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Кулиш</dc:creator>
  <cp:lastModifiedBy>Александр Кулиш</cp:lastModifiedBy>
  <cp:revision>1</cp:revision>
  <dcterms:created xsi:type="dcterms:W3CDTF">2025-04-04T19:22:19Z</dcterms:created>
  <dcterms:modified xsi:type="dcterms:W3CDTF">2025-04-04T20:15:36Z</dcterms:modified>
</cp:coreProperties>
</file>