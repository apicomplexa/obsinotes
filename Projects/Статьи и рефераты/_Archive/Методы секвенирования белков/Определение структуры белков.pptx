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73" r:id="rId8"/>
    <p:sldId id="261" r:id="rId9"/>
    <p:sldId id="262" r:id="rId10"/>
    <p:sldId id="263" r:id="rId11"/>
    <p:sldId id="274" r:id="rId12"/>
    <p:sldId id="264" r:id="rId13"/>
    <p:sldId id="265" r:id="rId14"/>
    <p:sldId id="275" r:id="rId15"/>
    <p:sldId id="266" r:id="rId16"/>
    <p:sldId id="267" r:id="rId17"/>
    <p:sldId id="268" r:id="rId18"/>
    <p:sldId id="269" r:id="rId19"/>
    <p:sldId id="270" r:id="rId20"/>
    <p:sldId id="276" r:id="rId21"/>
    <p:sldId id="277" r:id="rId22"/>
    <p:sldId id="278" r:id="rId23"/>
    <p:sldId id="271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64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7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96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55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7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78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42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71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14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05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8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CFA16-1280-40E0-B089-BEEC5E86BE93}" type="datetimeFigureOut">
              <a:rPr lang="ru-RU" smtClean="0"/>
              <a:t>16.01.2023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6C3B7-1883-4B2D-BF8D-F450D67C0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9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DB-101: Goodsell Gallery: Myelin">
            <a:extLst>
              <a:ext uri="{FF2B5EF4-FFF2-40B4-BE49-F238E27FC236}">
                <a16:creationId xmlns:a16="http://schemas.microsoft.com/office/drawing/2014/main" id="{5E204D06-D649-58C6-D139-43B37075F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91"/>
          <a:stretch/>
        </p:blipFill>
        <p:spPr bwMode="auto">
          <a:xfrm rot="5400000">
            <a:off x="2667001" y="-2667000"/>
            <a:ext cx="6857999" cy="1219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0DB142-A439-CF5D-D5B5-F98C0929A153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553C4-D151-B6F0-5015-D34B6BA4A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5050" y="1041398"/>
            <a:ext cx="10121900" cy="2387600"/>
          </a:xfrm>
        </p:spPr>
        <p:txBody>
          <a:bodyPr>
            <a:normAutofit fontScale="90000"/>
          </a:bodyPr>
          <a:lstStyle/>
          <a:p>
            <a:r>
              <a:rPr lang="ru-RU" sz="8800" dirty="0">
                <a:solidFill>
                  <a:schemeClr val="bg1"/>
                </a:solidFill>
              </a:rPr>
              <a:t>Определение структуры белков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B9621-D191-6B08-BA81-7C6A1B08B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9574"/>
            <a:ext cx="9144000" cy="103822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Кулиш Александр Валерьевич</a:t>
            </a:r>
          </a:p>
          <a:p>
            <a:r>
              <a:rPr lang="ru-RU" dirty="0">
                <a:solidFill>
                  <a:schemeClr val="bg1"/>
                </a:solidFill>
              </a:rPr>
              <a:t>1 курс </a:t>
            </a:r>
            <a:r>
              <a:rPr lang="en-US" dirty="0">
                <a:solidFill>
                  <a:schemeClr val="bg1"/>
                </a:solidFill>
              </a:rPr>
              <a:t>| </a:t>
            </a:r>
            <a:r>
              <a:rPr lang="ru-RU" dirty="0">
                <a:solidFill>
                  <a:schemeClr val="bg1"/>
                </a:solidFill>
              </a:rPr>
              <a:t>Лечебное дело </a:t>
            </a:r>
            <a:r>
              <a:rPr lang="en-US" dirty="0">
                <a:solidFill>
                  <a:schemeClr val="bg1"/>
                </a:solidFill>
              </a:rPr>
              <a:t>| 3 </a:t>
            </a:r>
            <a:r>
              <a:rPr lang="ru-RU" dirty="0">
                <a:solidFill>
                  <a:schemeClr val="bg1"/>
                </a:solidFill>
              </a:rPr>
              <a:t>группа</a:t>
            </a:r>
          </a:p>
        </p:txBody>
      </p:sp>
    </p:spTree>
    <p:extLst>
      <p:ext uri="{BB962C8B-B14F-4D97-AF65-F5344CB8AC3E}">
        <p14:creationId xmlns:p14="http://schemas.microsoft.com/office/powerpoint/2010/main" val="3970096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BAF25-D5CE-4627-250D-B7B7B668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773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Зачем изучать белки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9FC41-95C1-FDD2-CCA9-EE5A3C3B7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72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EA72F-4DFD-83BD-8124-922F082B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9825" y="815974"/>
            <a:ext cx="5629275" cy="522605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Определение аминокислотной последовательности с опорой на геном и транскриптом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0E66C8-44F1-0405-319B-397D68BF9D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6" t="5566" r="23470" b="6824"/>
          <a:stretch/>
        </p:blipFill>
        <p:spPr>
          <a:xfrm>
            <a:off x="2844" y="578927"/>
            <a:ext cx="6753556" cy="570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5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38495-0FB9-6349-78CA-D4F9D03A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075" y="131215"/>
            <a:ext cx="6899849" cy="779253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Секвенирование по </a:t>
            </a:r>
            <a:r>
              <a:rPr lang="ru-RU" sz="3600" dirty="0" err="1"/>
              <a:t>Сенгеру</a:t>
            </a:r>
            <a:r>
              <a:rPr lang="ru-RU" sz="3600" dirty="0"/>
              <a:t> </a:t>
            </a:r>
            <a:br>
              <a:rPr lang="ru-RU" sz="3600" dirty="0"/>
            </a:br>
            <a:r>
              <a:rPr lang="ru-RU" sz="3600" dirty="0"/>
              <a:t>(метод обрыва цепи)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804AFDD-206F-0023-2592-D3B8E105E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" t="50000" r="68976" b="3704"/>
          <a:stretch/>
        </p:blipFill>
        <p:spPr bwMode="auto">
          <a:xfrm>
            <a:off x="3638145" y="1464658"/>
            <a:ext cx="4085617" cy="414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1BF28B3-0016-329F-42B7-A907FEBE9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62" t="36075" r="26931" b="44630"/>
          <a:stretch/>
        </p:blipFill>
        <p:spPr bwMode="auto">
          <a:xfrm>
            <a:off x="6944027" y="1934602"/>
            <a:ext cx="5048625" cy="2768600"/>
          </a:xfrm>
          <a:prstGeom prst="corner">
            <a:avLst>
              <a:gd name="adj1" fmla="val 50000"/>
              <a:gd name="adj2" fmla="val 10133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Репликация ДНК | Молекулярная биология">
            <a:extLst>
              <a:ext uri="{FF2B5EF4-FFF2-40B4-BE49-F238E27FC236}">
                <a16:creationId xmlns:a16="http://schemas.microsoft.com/office/drawing/2014/main" id="{8737F634-84A6-72F6-B41A-3A2B545827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5" b="60333"/>
          <a:stretch/>
        </p:blipFill>
        <p:spPr bwMode="auto">
          <a:xfrm rot="5400000">
            <a:off x="-965371" y="2708515"/>
            <a:ext cx="5197073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400A32-B523-DCFB-AB21-E3FFDCD35E1A}"/>
              </a:ext>
            </a:extLst>
          </p:cNvPr>
          <p:cNvSpPr txBox="1"/>
          <p:nvPr/>
        </p:nvSpPr>
        <p:spPr>
          <a:xfrm>
            <a:off x="2395132" y="970275"/>
            <a:ext cx="2619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Матричная цепь</a:t>
            </a: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44CD0843-191E-9369-1E09-8CBF16FDC09F}"/>
              </a:ext>
            </a:extLst>
          </p:cNvPr>
          <p:cNvSpPr/>
          <p:nvPr/>
        </p:nvSpPr>
        <p:spPr>
          <a:xfrm rot="6228584">
            <a:off x="1732936" y="649150"/>
            <a:ext cx="1671614" cy="1368730"/>
          </a:xfrm>
          <a:prstGeom prst="arc">
            <a:avLst>
              <a:gd name="adj1" fmla="val 16200000"/>
              <a:gd name="adj2" fmla="val 21035566"/>
            </a:avLst>
          </a:prstGeom>
          <a:ln w="3175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Взрыв: 8 точек 12">
            <a:extLst>
              <a:ext uri="{FF2B5EF4-FFF2-40B4-BE49-F238E27FC236}">
                <a16:creationId xmlns:a16="http://schemas.microsoft.com/office/drawing/2014/main" id="{DEC603D6-2466-9CDC-DC07-399B8B9B8AEC}"/>
              </a:ext>
            </a:extLst>
          </p:cNvPr>
          <p:cNvSpPr/>
          <p:nvPr/>
        </p:nvSpPr>
        <p:spPr>
          <a:xfrm>
            <a:off x="956993" y="1426822"/>
            <a:ext cx="1519643" cy="656480"/>
          </a:xfrm>
          <a:prstGeom prst="irregularSeal1">
            <a:avLst/>
          </a:prstGeom>
          <a:solidFill>
            <a:srgbClr val="FF00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ddNTP</a:t>
            </a:r>
            <a:endParaRPr lang="ru-RU" dirty="0"/>
          </a:p>
        </p:txBody>
      </p:sp>
      <p:sp>
        <p:nvSpPr>
          <p:cNvPr id="14" name="Дуга 13">
            <a:extLst>
              <a:ext uri="{FF2B5EF4-FFF2-40B4-BE49-F238E27FC236}">
                <a16:creationId xmlns:a16="http://schemas.microsoft.com/office/drawing/2014/main" id="{F9F43F11-C6DA-A219-2B0A-427862C6F8ED}"/>
              </a:ext>
            </a:extLst>
          </p:cNvPr>
          <p:cNvSpPr/>
          <p:nvPr/>
        </p:nvSpPr>
        <p:spPr>
          <a:xfrm rot="20445161">
            <a:off x="1827562" y="2923671"/>
            <a:ext cx="4017193" cy="2478341"/>
          </a:xfrm>
          <a:prstGeom prst="arc">
            <a:avLst>
              <a:gd name="adj1" fmla="val 13014952"/>
              <a:gd name="adj2" fmla="val 17678518"/>
            </a:avLst>
          </a:prstGeom>
          <a:ln w="47625">
            <a:solidFill>
              <a:srgbClr val="92D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6C435-F6EF-2036-E2F3-258ED495F612}"/>
              </a:ext>
            </a:extLst>
          </p:cNvPr>
          <p:cNvSpPr txBox="1"/>
          <p:nvPr/>
        </p:nvSpPr>
        <p:spPr>
          <a:xfrm>
            <a:off x="82768" y="6357832"/>
            <a:ext cx="3100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92D050"/>
                </a:solidFill>
              </a:rPr>
              <a:t>Синтезируемая цепь</a:t>
            </a:r>
          </a:p>
        </p:txBody>
      </p:sp>
      <p:sp>
        <p:nvSpPr>
          <p:cNvPr id="16" name="Дуга 15">
            <a:extLst>
              <a:ext uri="{FF2B5EF4-FFF2-40B4-BE49-F238E27FC236}">
                <a16:creationId xmlns:a16="http://schemas.microsoft.com/office/drawing/2014/main" id="{B14B4E4C-98EF-F09E-8FA7-947705C24C3E}"/>
              </a:ext>
            </a:extLst>
          </p:cNvPr>
          <p:cNvSpPr/>
          <p:nvPr/>
        </p:nvSpPr>
        <p:spPr>
          <a:xfrm rot="16886858">
            <a:off x="-14750" y="5379828"/>
            <a:ext cx="2100213" cy="1196001"/>
          </a:xfrm>
          <a:prstGeom prst="arc">
            <a:avLst>
              <a:gd name="adj1" fmla="val 13305373"/>
              <a:gd name="adj2" fmla="val 688824"/>
            </a:avLst>
          </a:prstGeom>
          <a:ln w="38100">
            <a:solidFill>
              <a:srgbClr val="92D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763088-D4F2-07E7-4923-614ED101B83E}"/>
              </a:ext>
            </a:extLst>
          </p:cNvPr>
          <p:cNvSpPr txBox="1"/>
          <p:nvPr/>
        </p:nvSpPr>
        <p:spPr>
          <a:xfrm>
            <a:off x="3961488" y="5734069"/>
            <a:ext cx="34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Результирующие фрагменты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99E46-1DE6-BC48-4E9E-D5B80A8D1FF1}"/>
              </a:ext>
            </a:extLst>
          </p:cNvPr>
          <p:cNvSpPr txBox="1"/>
          <p:nvPr/>
        </p:nvSpPr>
        <p:spPr>
          <a:xfrm>
            <a:off x="8147760" y="4829925"/>
            <a:ext cx="34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Капиллярный электрофорез</a:t>
            </a:r>
          </a:p>
        </p:txBody>
      </p:sp>
    </p:spTree>
    <p:extLst>
      <p:ext uri="{BB962C8B-B14F-4D97-AF65-F5344CB8AC3E}">
        <p14:creationId xmlns:p14="http://schemas.microsoft.com/office/powerpoint/2010/main" val="151071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A16A6-45D7-26FF-0D8A-117B0331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13"/>
            <a:ext cx="10515600" cy="746499"/>
          </a:xfrm>
        </p:spPr>
        <p:txBody>
          <a:bodyPr>
            <a:normAutofit/>
          </a:bodyPr>
          <a:lstStyle/>
          <a:p>
            <a:pPr algn="ctr"/>
            <a:r>
              <a:rPr lang="ru-RU" dirty="0" err="1"/>
              <a:t>Секвенограммы</a:t>
            </a:r>
            <a:r>
              <a:rPr lang="ru-RU" dirty="0"/>
              <a:t> (м. </a:t>
            </a:r>
            <a:r>
              <a:rPr lang="ru-RU" dirty="0" err="1"/>
              <a:t>Сенгера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1CDEA-5B34-726D-3C5D-3F3C6E9C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771252"/>
            <a:ext cx="12160250" cy="23577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7DCD2D-EE43-0285-503C-2DCE09245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3639672"/>
            <a:ext cx="6148420" cy="25577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577F9B-0613-5A2B-4D41-5E16FC32F90A}"/>
              </a:ext>
            </a:extLst>
          </p:cNvPr>
          <p:cNvSpPr/>
          <p:nvPr/>
        </p:nvSpPr>
        <p:spPr>
          <a:xfrm>
            <a:off x="2372618" y="1174948"/>
            <a:ext cx="227707" cy="1443318"/>
          </a:xfrm>
          <a:prstGeom prst="rect">
            <a:avLst/>
          </a:prstGeom>
          <a:noFill/>
          <a:ln w="5715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EADD97B-766C-084D-C701-C264A9C890EC}"/>
              </a:ext>
            </a:extLst>
          </p:cNvPr>
          <p:cNvSpPr/>
          <p:nvPr/>
        </p:nvSpPr>
        <p:spPr>
          <a:xfrm>
            <a:off x="10677524" y="1174948"/>
            <a:ext cx="361951" cy="1443318"/>
          </a:xfrm>
          <a:prstGeom prst="rect">
            <a:avLst/>
          </a:prstGeom>
          <a:noFill/>
          <a:ln w="5715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72F586C-5C5F-473C-B674-D893F96E46C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486472" y="2618266"/>
            <a:ext cx="1" cy="10214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BCB7E571-6AA0-7660-E8D1-21BDE1FC3CDB}"/>
              </a:ext>
            </a:extLst>
          </p:cNvPr>
          <p:cNvCxnSpPr>
            <a:cxnSpLocks/>
          </p:cNvCxnSpPr>
          <p:nvPr/>
        </p:nvCxnSpPr>
        <p:spPr>
          <a:xfrm>
            <a:off x="10877549" y="2618266"/>
            <a:ext cx="0" cy="10214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907A4DE-0C42-7978-0A7A-F1FEAAE13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95" y="3639672"/>
            <a:ext cx="6027705" cy="255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47B05-FD2E-A194-613D-2D865076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Секвенаторы</a:t>
            </a:r>
            <a:r>
              <a:rPr lang="ru-RU" dirty="0"/>
              <a:t> по </a:t>
            </a:r>
            <a:r>
              <a:rPr lang="ru-RU" dirty="0" err="1"/>
              <a:t>Сенгеру</a:t>
            </a:r>
            <a:endParaRPr lang="ru-RU" dirty="0"/>
          </a:p>
        </p:txBody>
      </p:sp>
      <p:pic>
        <p:nvPicPr>
          <p:cNvPr id="2050" name="Picture 2" descr="Генетический анализатор SeqStudio, 4 капилляра, ноутбук, два года гарантии, 1 день тренинга, Thermo FS">
            <a:extLst>
              <a:ext uri="{FF2B5EF4-FFF2-40B4-BE49-F238E27FC236}">
                <a16:creationId xmlns:a16="http://schemas.microsoft.com/office/drawing/2014/main" id="{C5C8B3AE-3ADE-EF5A-E8FE-82EC816842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524000"/>
            <a:ext cx="46101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EAB4F-251C-3885-5E08-635DFD9DE6CE}"/>
              </a:ext>
            </a:extLst>
          </p:cNvPr>
          <p:cNvSpPr txBox="1"/>
          <p:nvPr/>
        </p:nvSpPr>
        <p:spPr>
          <a:xfrm>
            <a:off x="1809749" y="5543551"/>
            <a:ext cx="199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SeqStudio</a:t>
            </a:r>
            <a:endParaRPr lang="ru-RU" sz="2400" dirty="0"/>
          </a:p>
        </p:txBody>
      </p:sp>
      <p:pic>
        <p:nvPicPr>
          <p:cNvPr id="2052" name="Picture 4" descr="Генетический анализатор 3500, 8 капилляров, компьютер, два года гарантии, 1 день тренинга, Thermo FS Фото 1">
            <a:extLst>
              <a:ext uri="{FF2B5EF4-FFF2-40B4-BE49-F238E27FC236}">
                <a16:creationId xmlns:a16="http://schemas.microsoft.com/office/drawing/2014/main" id="{F31B4C41-8AE5-08A2-ABA9-621EF7FDC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1662272"/>
            <a:ext cx="5805487" cy="367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51C938-511E-4B75-FE3C-DDB6BD3BB40C}"/>
              </a:ext>
            </a:extLst>
          </p:cNvPr>
          <p:cNvSpPr txBox="1"/>
          <p:nvPr/>
        </p:nvSpPr>
        <p:spPr>
          <a:xfrm>
            <a:off x="8010525" y="5574328"/>
            <a:ext cx="2181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3500 </a:t>
            </a:r>
            <a:r>
              <a:rPr lang="en-US" sz="2000" dirty="0" err="1"/>
              <a:t>Thermo</a:t>
            </a:r>
            <a:r>
              <a:rPr lang="en-US" sz="2000" dirty="0"/>
              <a:t> FS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2463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35BDCEA-AA8D-4102-50F4-855AA47E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47688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Плюсы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A85AE-75B0-2857-9C00-D01643DBC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819275"/>
            <a:ext cx="5157787" cy="36845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Относительно низкая стоимость прибора</a:t>
            </a:r>
          </a:p>
          <a:p>
            <a:r>
              <a:rPr lang="ru-RU" dirty="0"/>
              <a:t>Низкая стоимость работы прибора в пересчете на нуклеотид</a:t>
            </a:r>
          </a:p>
          <a:p>
            <a:r>
              <a:rPr lang="ru-RU" dirty="0"/>
              <a:t>Относительно высокая точность </a:t>
            </a:r>
          </a:p>
          <a:p>
            <a:r>
              <a:rPr lang="ru-RU" dirty="0"/>
              <a:t>Хорошая точность подряд идущих нуклеотидов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6F714C-3125-82E7-95CF-17AB12D9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547688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Минусы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8E624A-9D27-F15C-3D5F-AC2E55CEC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819275"/>
            <a:ext cx="5183188" cy="36845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Низкая длина прочтений (не более нескольких сотен)</a:t>
            </a:r>
          </a:p>
          <a:p>
            <a:r>
              <a:rPr lang="ru-RU" dirty="0"/>
              <a:t>Низкая точность в начале и конце прочтения (необходимо обрабатывать вручную)</a:t>
            </a:r>
          </a:p>
          <a:p>
            <a:r>
              <a:rPr lang="ru-RU" dirty="0"/>
              <a:t>Низкая 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14412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54EC2-AD1B-5C1B-4CD0-EB9DF00D0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712" y="88901"/>
            <a:ext cx="7888288" cy="768350"/>
          </a:xfrm>
        </p:spPr>
        <p:txBody>
          <a:bodyPr/>
          <a:lstStyle/>
          <a:p>
            <a:pPr algn="ctr"/>
            <a:r>
              <a:rPr lang="en-US" dirty="0"/>
              <a:t>Illumina</a:t>
            </a:r>
            <a:endParaRPr lang="ru-RU" dirty="0"/>
          </a:p>
        </p:txBody>
      </p:sp>
      <p:pic>
        <p:nvPicPr>
          <p:cNvPr id="6" name="Illumina reaction">
            <a:hlinkClick r:id="" action="ppaction://media"/>
            <a:extLst>
              <a:ext uri="{FF2B5EF4-FFF2-40B4-BE49-F238E27FC236}">
                <a16:creationId xmlns:a16="http://schemas.microsoft.com/office/drawing/2014/main" id="{129F927E-0E7A-FE32-E0C8-70869B3140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303713" cy="6858000"/>
          </a:xfrm>
          <a:prstGeom prst="rect">
            <a:avLst/>
          </a:prstGeom>
        </p:spPr>
      </p:pic>
      <p:pic>
        <p:nvPicPr>
          <p:cNvPr id="3074" name="Picture 2" descr="TUFTS - TUCF Genomics">
            <a:extLst>
              <a:ext uri="{FF2B5EF4-FFF2-40B4-BE49-F238E27FC236}">
                <a16:creationId xmlns:a16="http://schemas.microsoft.com/office/drawing/2014/main" id="{BE258F94-F467-7FA8-B644-979660481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319" y="3514725"/>
            <a:ext cx="3281362" cy="274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7B9146-73F9-EECF-1667-DF3CC588373F}"/>
              </a:ext>
            </a:extLst>
          </p:cNvPr>
          <p:cNvSpPr txBox="1"/>
          <p:nvPr/>
        </p:nvSpPr>
        <p:spPr>
          <a:xfrm>
            <a:off x="6247607" y="2728771"/>
            <a:ext cx="328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Принцип работы </a:t>
            </a:r>
            <a:r>
              <a:rPr lang="en-US" dirty="0"/>
              <a:t>Illumina</a:t>
            </a:r>
            <a:endParaRPr lang="ru-RU" dirty="0"/>
          </a:p>
        </p:txBody>
      </p:sp>
      <p:pic>
        <p:nvPicPr>
          <p:cNvPr id="3076" name="Picture 4" descr="Introduction to Illumina Sequencing – NCGAS">
            <a:extLst>
              <a:ext uri="{FF2B5EF4-FFF2-40B4-BE49-F238E27FC236}">
                <a16:creationId xmlns:a16="http://schemas.microsoft.com/office/drawing/2014/main" id="{0CDDE664-FDB9-E7C2-1242-D7048C0AAF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88"/>
          <a:stretch/>
        </p:blipFill>
        <p:spPr bwMode="auto">
          <a:xfrm>
            <a:off x="4387969" y="776161"/>
            <a:ext cx="7000637" cy="195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3973B7-50EA-FE2F-CBC9-C0C27A02DCE6}"/>
              </a:ext>
            </a:extLst>
          </p:cNvPr>
          <p:cNvSpPr txBox="1"/>
          <p:nvPr/>
        </p:nvSpPr>
        <p:spPr>
          <a:xfrm>
            <a:off x="7888288" y="4425874"/>
            <a:ext cx="3281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Фото поверхности проточной ячейки во время секвенирования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412039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0EC79-EFD3-E1DE-0A41-AC8E9C0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pPr algn="ctr"/>
            <a:r>
              <a:rPr lang="ru-RU" dirty="0"/>
              <a:t>Выходные данные 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FFF0771-FC12-8D4B-0DC3-F230E403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102989-9189-B8ED-C451-FE1E29B3D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1276003"/>
            <a:ext cx="11879333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5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ovaSeq X System with doors open">
            <a:extLst>
              <a:ext uri="{FF2B5EF4-FFF2-40B4-BE49-F238E27FC236}">
                <a16:creationId xmlns:a16="http://schemas.microsoft.com/office/drawing/2014/main" id="{ABDE9C0A-D303-BFA9-CA69-8290F7891C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06" y="440859"/>
            <a:ext cx="4288430" cy="565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09B600-A595-A20A-0A30-1F3CE8312B9B}"/>
              </a:ext>
            </a:extLst>
          </p:cNvPr>
          <p:cNvSpPr txBox="1"/>
          <p:nvPr/>
        </p:nvSpPr>
        <p:spPr>
          <a:xfrm>
            <a:off x="1084758" y="5170954"/>
            <a:ext cx="267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NovaSeq</a:t>
            </a:r>
            <a:r>
              <a:rPr lang="en-US" sz="2800" dirty="0"/>
              <a:t> X</a:t>
            </a:r>
            <a:endParaRPr lang="ru-RU" sz="2800" dirty="0"/>
          </a:p>
        </p:txBody>
      </p:sp>
      <p:pic>
        <p:nvPicPr>
          <p:cNvPr id="4100" name="Picture 4" descr="MiSeq System">
            <a:extLst>
              <a:ext uri="{FF2B5EF4-FFF2-40B4-BE49-F238E27FC236}">
                <a16:creationId xmlns:a16="http://schemas.microsoft.com/office/drawing/2014/main" id="{55A3CCB9-299F-7430-4D3C-2F16CE6DD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074" y="2476500"/>
            <a:ext cx="2715912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67BACC-99F1-377D-C66B-FE8B5A83AEFB}"/>
              </a:ext>
            </a:extLst>
          </p:cNvPr>
          <p:cNvSpPr txBox="1"/>
          <p:nvPr/>
        </p:nvSpPr>
        <p:spPr>
          <a:xfrm>
            <a:off x="4988074" y="4381500"/>
            <a:ext cx="267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MiSeq</a:t>
            </a:r>
            <a:endParaRPr lang="ru-RU" sz="2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ACE2C-79C0-3AA1-5EA0-7665947B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err="1"/>
              <a:t>Секвенаторы</a:t>
            </a:r>
            <a:r>
              <a:rPr lang="ru-RU" dirty="0"/>
              <a:t> </a:t>
            </a:r>
            <a:r>
              <a:rPr lang="en-US" dirty="0"/>
              <a:t>Illumina</a:t>
            </a:r>
            <a:endParaRPr lang="ru-RU" dirty="0"/>
          </a:p>
        </p:txBody>
      </p:sp>
      <p:pic>
        <p:nvPicPr>
          <p:cNvPr id="4102" name="Picture 6" descr="Patterned Flow Cell Technology | Illumina Video - YouTube">
            <a:extLst>
              <a:ext uri="{FF2B5EF4-FFF2-40B4-BE49-F238E27FC236}">
                <a16:creationId xmlns:a16="http://schemas.microsoft.com/office/drawing/2014/main" id="{5B3768CB-E358-E139-0D86-C171A3ACD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2228850"/>
            <a:ext cx="4000500" cy="225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F44786-933A-C1EF-D533-0C83D12FEE05}"/>
              </a:ext>
            </a:extLst>
          </p:cNvPr>
          <p:cNvSpPr txBox="1"/>
          <p:nvPr/>
        </p:nvSpPr>
        <p:spPr>
          <a:xfrm>
            <a:off x="8494787" y="4479131"/>
            <a:ext cx="326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Illumina flow cell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5211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35BDCEA-AA8D-4102-50F4-855AA47E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47688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Плюсы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A85AE-75B0-2857-9C00-D01643DBC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819275"/>
            <a:ext cx="5157787" cy="466725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Самый производительный вариант</a:t>
            </a:r>
          </a:p>
          <a:p>
            <a:r>
              <a:rPr lang="ru-RU" dirty="0"/>
              <a:t>Наименьшая стоимость секвенирования (в пересчете на 1Gb выходных данных и на 1 пару оснований образцов)</a:t>
            </a:r>
          </a:p>
          <a:p>
            <a:r>
              <a:rPr lang="ru-RU" dirty="0"/>
              <a:t>Из-за терминатора гарантируется пауза между присоединениями </a:t>
            </a:r>
            <a:r>
              <a:rPr lang="ru-RU" dirty="0" err="1"/>
              <a:t>нк</a:t>
            </a:r>
            <a:r>
              <a:rPr lang="ru-RU" dirty="0"/>
              <a:t> ⇒ разделение присоединений одинаковых </a:t>
            </a:r>
            <a:r>
              <a:rPr lang="ru-RU" dirty="0" err="1"/>
              <a:t>нк</a:t>
            </a:r>
            <a:r>
              <a:rPr lang="ru-RU" dirty="0"/>
              <a:t> по времени ⇒ хорошая точность чтения повторов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6F714C-3125-82E7-95CF-17AB12D9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547688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Минусы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8E624A-9D27-F15C-3D5F-AC2E55CEC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819275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Относительно низкая точность образцов (примерно 1 неверный нуклеотид на 200-500 правильных)</a:t>
            </a:r>
          </a:p>
          <a:p>
            <a:r>
              <a:rPr lang="ru-RU" dirty="0"/>
              <a:t>Необходимость сборки образцов из коротких последовательностей</a:t>
            </a:r>
          </a:p>
          <a:p>
            <a:r>
              <a:rPr lang="ru-RU" dirty="0"/>
              <a:t>Высокая стоимость приборов</a:t>
            </a:r>
          </a:p>
        </p:txBody>
      </p:sp>
    </p:spTree>
    <p:extLst>
      <p:ext uri="{BB962C8B-B14F-4D97-AF65-F5344CB8AC3E}">
        <p14:creationId xmlns:p14="http://schemas.microsoft.com/office/powerpoint/2010/main" val="1706377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4136F-A990-305D-DABF-DB29E395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/>
          <a:lstStyle/>
          <a:p>
            <a:pPr algn="ctr"/>
            <a:r>
              <a:rPr lang="en-US" dirty="0"/>
              <a:t>Oxford nanopore</a:t>
            </a:r>
            <a:endParaRPr lang="ru-RU" dirty="0"/>
          </a:p>
        </p:txBody>
      </p:sp>
      <p:pic>
        <p:nvPicPr>
          <p:cNvPr id="5122" name="Picture 2" descr="Принцип нанопорового секвенирования">
            <a:extLst>
              <a:ext uri="{FF2B5EF4-FFF2-40B4-BE49-F238E27FC236}">
                <a16:creationId xmlns:a16="http://schemas.microsoft.com/office/drawing/2014/main" id="{349EEB65-F7C4-0CD4-3B68-2DD59530F4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t="5111" r="7676" b="10752"/>
          <a:stretch/>
        </p:blipFill>
        <p:spPr bwMode="auto">
          <a:xfrm>
            <a:off x="2426820" y="1095376"/>
            <a:ext cx="7338360" cy="502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52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FA1E5-1C5A-965D-C107-49D86F97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006"/>
            <a:ext cx="10515600" cy="711200"/>
          </a:xfrm>
        </p:spPr>
        <p:txBody>
          <a:bodyPr/>
          <a:lstStyle/>
          <a:p>
            <a:pPr algn="ctr"/>
            <a:r>
              <a:rPr lang="en-US" dirty="0" err="1"/>
              <a:t>MinION</a:t>
            </a:r>
            <a:endParaRPr lang="ru-RU" dirty="0"/>
          </a:p>
        </p:txBody>
      </p:sp>
      <p:pic>
        <p:nvPicPr>
          <p:cNvPr id="6150" name="Picture 6" descr="Scientists identify harmful bacteria based on its DNA at a very low cost">
            <a:extLst>
              <a:ext uri="{FF2B5EF4-FFF2-40B4-BE49-F238E27FC236}">
                <a16:creationId xmlns:a16="http://schemas.microsoft.com/office/drawing/2014/main" id="{F7D73556-AA5F-35B1-A93B-9F15C511F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888206"/>
            <a:ext cx="7207250" cy="540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69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35BDCEA-AA8D-4102-50F4-855AA47E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271463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Плюсы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A85AE-75B0-2857-9C00-D01643DBC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447800"/>
            <a:ext cx="5157787" cy="503872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Невероятно малый размер устройств</a:t>
            </a:r>
          </a:p>
          <a:p>
            <a:r>
              <a:rPr lang="ru-RU" dirty="0"/>
              <a:t>Самая маленькая цена прибора</a:t>
            </a:r>
          </a:p>
          <a:p>
            <a:r>
              <a:rPr lang="ru-RU" dirty="0"/>
              <a:t>Простота химических принципов (следовательно низкая вероятность поломки)</a:t>
            </a:r>
          </a:p>
          <a:p>
            <a:r>
              <a:rPr lang="ru-RU" dirty="0"/>
              <a:t>Высокая </a:t>
            </a:r>
            <a:r>
              <a:rPr lang="ru-RU" dirty="0" err="1"/>
              <a:t>спеццифичность</a:t>
            </a:r>
            <a:r>
              <a:rPr lang="ru-RU" dirty="0"/>
              <a:t> к ДНК в растворе (вплоть до возможность секвенирования ДНК из крови без предварительной амплификации)</a:t>
            </a:r>
          </a:p>
          <a:p>
            <a:r>
              <a:rPr lang="ru-RU" dirty="0"/>
              <a:t>Самая высокая длинна прочтений (до 2 000 000 пар оснований на 1 </a:t>
            </a:r>
            <a:r>
              <a:rPr lang="ru-RU" dirty="0" err="1"/>
              <a:t>нанопору</a:t>
            </a:r>
            <a:r>
              <a:rPr lang="ru-RU" dirty="0"/>
              <a:t>)</a:t>
            </a:r>
          </a:p>
          <a:p>
            <a:r>
              <a:rPr lang="ru-RU" dirty="0"/>
              <a:t>Отслеживание результатов в реальном времени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6F714C-3125-82E7-95CF-17AB12D9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71463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Минусы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8E624A-9D27-F15C-3D5F-AC2E55CEC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447800"/>
            <a:ext cx="5183188" cy="368458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Высокая погрешность</a:t>
            </a:r>
          </a:p>
        </p:txBody>
      </p:sp>
    </p:spTree>
    <p:extLst>
      <p:ext uri="{BB962C8B-B14F-4D97-AF65-F5344CB8AC3E}">
        <p14:creationId xmlns:p14="http://schemas.microsoft.com/office/powerpoint/2010/main" val="40577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17DD7-06F6-BC03-71DA-E9599368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19697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Альтернативный сплайсинг и другие модификации РНК</a:t>
            </a:r>
          </a:p>
        </p:txBody>
      </p:sp>
      <p:pic>
        <p:nvPicPr>
          <p:cNvPr id="7170" name="Picture 2" descr="Figure 5">
            <a:extLst>
              <a:ext uri="{FF2B5EF4-FFF2-40B4-BE49-F238E27FC236}">
                <a16:creationId xmlns:a16="http://schemas.microsoft.com/office/drawing/2014/main" id="{105C470A-8CA6-30F5-BD73-DE29C7EBBB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4" t="-804" r="50000" b="50460"/>
          <a:stretch/>
        </p:blipFill>
        <p:spPr bwMode="auto">
          <a:xfrm>
            <a:off x="285750" y="1457629"/>
            <a:ext cx="5400676" cy="540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169C58-8A7B-0050-786D-05F8F96BC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828951"/>
            <a:ext cx="61912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4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DE7DF-9510-667D-52E0-E8AB3CBAB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305692"/>
            <a:ext cx="5353050" cy="36830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Непосредственно секвенирование первичной структуры белка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F1258F-8171-7FA9-B81E-CE614660A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3" r="34792"/>
          <a:stretch/>
        </p:blipFill>
        <p:spPr>
          <a:xfrm>
            <a:off x="647700" y="0"/>
            <a:ext cx="5715000" cy="7018285"/>
          </a:xfrm>
        </p:spPr>
      </p:pic>
    </p:spTree>
    <p:extLst>
      <p:ext uri="{BB962C8B-B14F-4D97-AF65-F5344CB8AC3E}">
        <p14:creationId xmlns:p14="http://schemas.microsoft.com/office/powerpoint/2010/main" val="396445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C84E5-2779-2BEE-41B3-07FF5BAA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5"/>
            <a:ext cx="12192000" cy="1325563"/>
          </a:xfrm>
        </p:spPr>
        <p:txBody>
          <a:bodyPr/>
          <a:lstStyle/>
          <a:p>
            <a:pPr algn="ctr"/>
            <a:r>
              <a:rPr lang="ru-RU" dirty="0"/>
              <a:t>Количественный анализ аминокислот белка</a:t>
            </a:r>
          </a:p>
        </p:txBody>
      </p:sp>
      <p:pic>
        <p:nvPicPr>
          <p:cNvPr id="8194" name="Picture 2" descr="Гидролиз белков, уравнения и примеры">
            <a:extLst>
              <a:ext uri="{FF2B5EF4-FFF2-40B4-BE49-F238E27FC236}">
                <a16:creationId xmlns:a16="http://schemas.microsoft.com/office/drawing/2014/main" id="{6B2CB292-F996-CADD-6429-49DB2D2DD8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1592497"/>
            <a:ext cx="5076825" cy="367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on Exchange Chromatography - Theory and Principle - YouTube">
            <a:extLst>
              <a:ext uri="{FF2B5EF4-FFF2-40B4-BE49-F238E27FC236}">
                <a16:creationId xmlns:a16="http://schemas.microsoft.com/office/drawing/2014/main" id="{398EE1BE-FD44-6F35-9B42-C3F2792C1C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3" t="25277" r="1562" b="13056"/>
          <a:stretch/>
        </p:blipFill>
        <p:spPr bwMode="auto">
          <a:xfrm>
            <a:off x="6715128" y="1500188"/>
            <a:ext cx="4057647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B4B897-5AFB-1745-C67B-BB480A20ED6C}"/>
              </a:ext>
            </a:extLst>
          </p:cNvPr>
          <p:cNvSpPr txBox="1"/>
          <p:nvPr/>
        </p:nvSpPr>
        <p:spPr>
          <a:xfrm>
            <a:off x="1071561" y="5879455"/>
            <a:ext cx="422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Гидролиз Белков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1EBDC-D5D2-598D-4E3C-EEAC18B921DB}"/>
              </a:ext>
            </a:extLst>
          </p:cNvPr>
          <p:cNvSpPr txBox="1"/>
          <p:nvPr/>
        </p:nvSpPr>
        <p:spPr>
          <a:xfrm>
            <a:off x="6715128" y="569478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Ионообменная хроматография с градиентом </a:t>
            </a:r>
            <a:r>
              <a:rPr lang="en-US" dirty="0"/>
              <a:t>pH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78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87641-FECE-1153-ED44-41F453C9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2F2EDA7-29B3-1578-E6FE-BF5652A83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012" y="1597025"/>
            <a:ext cx="9925975" cy="4351338"/>
          </a:xfrm>
        </p:spPr>
      </p:pic>
    </p:spTree>
    <p:extLst>
      <p:ext uri="{BB962C8B-B14F-4D97-AF65-F5344CB8AC3E}">
        <p14:creationId xmlns:p14="http://schemas.microsoft.com/office/powerpoint/2010/main" val="3888196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13B94-84D3-8DC5-8BB3-F1079C0D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4550"/>
          </a:xfrm>
        </p:spPr>
        <p:txBody>
          <a:bodyPr/>
          <a:lstStyle/>
          <a:p>
            <a:pPr algn="ctr"/>
            <a:r>
              <a:rPr lang="ru-RU" dirty="0"/>
              <a:t>Деградация по Эдману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5529781-B02C-A78B-F03E-BBDF82C0F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383" y="952777"/>
            <a:ext cx="4225934" cy="575707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BDEBBA-3F32-1AF3-C87E-5EA92558345A}"/>
              </a:ext>
            </a:extLst>
          </p:cNvPr>
          <p:cNvSpPr txBox="1"/>
          <p:nvPr/>
        </p:nvSpPr>
        <p:spPr>
          <a:xfrm>
            <a:off x="5153025" y="1292155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Разделение исследуемого белка на фрагменты длиной около 30 аминокислот при помощи </a:t>
            </a:r>
            <a:r>
              <a:rPr lang="ru-RU" dirty="0" err="1"/>
              <a:t>эндопротеиназ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Проведение секвенирования</a:t>
            </a:r>
          </a:p>
          <a:p>
            <a:pPr marL="342900" indent="-342900">
              <a:buAutoNum type="arabicPeriod"/>
            </a:pPr>
            <a:r>
              <a:rPr lang="ru-RU" dirty="0"/>
              <a:t>Фенил </a:t>
            </a:r>
            <a:r>
              <a:rPr lang="ru-RU" dirty="0" err="1"/>
              <a:t>изотиоцианат</a:t>
            </a:r>
            <a:r>
              <a:rPr lang="ru-RU" dirty="0"/>
              <a:t> (PITC) реагирует с α-аминогруппой на N-конце полипептида. Образуется </a:t>
            </a:r>
            <a:r>
              <a:rPr lang="ru-RU" dirty="0" err="1"/>
              <a:t>фенилтиокарбомил</a:t>
            </a:r>
            <a:r>
              <a:rPr lang="ru-RU" dirty="0"/>
              <a:t> производное концевой аминокислоты</a:t>
            </a:r>
          </a:p>
          <a:p>
            <a:pPr marL="342900" indent="-342900">
              <a:buAutoNum type="arabicPeriod"/>
            </a:pPr>
            <a:r>
              <a:rPr lang="ru-RU" dirty="0"/>
              <a:t>В присутствии кислоты происходит расщепление пептидной связи. Продукты реакции – укороченный на одну аминокислоту пептид и </a:t>
            </a:r>
            <a:r>
              <a:rPr lang="ru-RU" dirty="0" err="1"/>
              <a:t>анилинотиозолинонового</a:t>
            </a:r>
            <a:r>
              <a:rPr lang="ru-RU" dirty="0"/>
              <a:t> производного аминокислотного остатка (ATZ)</a:t>
            </a:r>
          </a:p>
          <a:p>
            <a:pPr marL="342900" indent="-342900">
              <a:buAutoNum type="arabicPeriod"/>
            </a:pPr>
            <a:r>
              <a:rPr lang="ru-RU" dirty="0"/>
              <a:t>Очистка среды реакции от продуктов. И повторение цикла секвенирования6. ATZ для последующего определения в водной среде, в присутствии кислоты преобразуется в более стабильную </a:t>
            </a:r>
            <a:r>
              <a:rPr lang="ru-RU" dirty="0" err="1"/>
              <a:t>фенилтиогидратионную</a:t>
            </a:r>
            <a:r>
              <a:rPr lang="ru-RU" dirty="0"/>
              <a:t> форму (PTH)</a:t>
            </a:r>
          </a:p>
        </p:txBody>
      </p:sp>
    </p:spTree>
    <p:extLst>
      <p:ext uri="{BB962C8B-B14F-4D97-AF65-F5344CB8AC3E}">
        <p14:creationId xmlns:p14="http://schemas.microsoft.com/office/powerpoint/2010/main" val="4193126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1CEA-1DFE-C3BE-D427-B4F5EB7A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Определение аминокислот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E7F7-E15A-6B2A-B28C-5DBF4484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3275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6. Определение PTH методом хроматографии или электрофореза</a:t>
            </a:r>
          </a:p>
          <a:p>
            <a:pPr marL="0" indent="0" algn="just">
              <a:buNone/>
            </a:pPr>
            <a:r>
              <a:rPr lang="ru-RU" dirty="0"/>
              <a:t>7. Сборка </a:t>
            </a:r>
            <a:r>
              <a:rPr lang="ru-RU" dirty="0" err="1"/>
              <a:t>контига</a:t>
            </a:r>
            <a:r>
              <a:rPr lang="ru-RU" dirty="0"/>
              <a:t> из коротких участков. Для большого количество участков можно использовать метод дробовика. Т.е. провести повторное секвенирования с </a:t>
            </a:r>
            <a:r>
              <a:rPr lang="ru-RU" dirty="0" err="1"/>
              <a:t>лизированием</a:t>
            </a:r>
            <a:r>
              <a:rPr lang="ru-RU" dirty="0"/>
              <a:t> другим набором ферментов для сознания перекрывающихся участков</a:t>
            </a:r>
          </a:p>
        </p:txBody>
      </p:sp>
    </p:spTree>
    <p:extLst>
      <p:ext uri="{BB962C8B-B14F-4D97-AF65-F5344CB8AC3E}">
        <p14:creationId xmlns:p14="http://schemas.microsoft.com/office/powerpoint/2010/main" val="883222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78FD1-E758-E615-F630-342740CF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Секвенатор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03E7EF-095C-62D5-E2F4-61B6CBCAE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775" y="2047875"/>
            <a:ext cx="6799157" cy="33075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4A61C7-D473-38DB-52FB-AFAF19D099F2}"/>
              </a:ext>
            </a:extLst>
          </p:cNvPr>
          <p:cNvSpPr txBox="1"/>
          <p:nvPr/>
        </p:nvSpPr>
        <p:spPr>
          <a:xfrm>
            <a:off x="1806994" y="5355431"/>
            <a:ext cx="501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Схема </a:t>
            </a:r>
            <a:r>
              <a:rPr lang="ru-RU" dirty="0" err="1"/>
              <a:t>секвенатора</a:t>
            </a:r>
            <a:r>
              <a:rPr lang="ru-RU" dirty="0"/>
              <a:t>, предложенная Эдманом</a:t>
            </a:r>
          </a:p>
        </p:txBody>
      </p:sp>
      <p:pic>
        <p:nvPicPr>
          <p:cNvPr id="10242" name="Picture 2" descr="Секвенатор PPSQ-31A, 1 реактор, Shimadzu">
            <a:extLst>
              <a:ext uri="{FF2B5EF4-FFF2-40B4-BE49-F238E27FC236}">
                <a16:creationId xmlns:a16="http://schemas.microsoft.com/office/drawing/2014/main" id="{73E8949D-85BA-4F20-4C2C-B91812B00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585" y="1321593"/>
            <a:ext cx="495300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7B294-9A0B-42B0-FB7E-07CD6FE38739}"/>
              </a:ext>
            </a:extLst>
          </p:cNvPr>
          <p:cNvSpPr txBox="1"/>
          <p:nvPr/>
        </p:nvSpPr>
        <p:spPr>
          <a:xfrm>
            <a:off x="8074445" y="5836443"/>
            <a:ext cx="4184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Секвенатор </a:t>
            </a:r>
            <a:r>
              <a:rPr lang="en-US" dirty="0"/>
              <a:t>PPSQ-31A</a:t>
            </a:r>
            <a:r>
              <a:rPr lang="ru-RU" dirty="0"/>
              <a:t> </a:t>
            </a:r>
            <a:r>
              <a:rPr lang="en-US" dirty="0"/>
              <a:t>Shimadzu</a:t>
            </a:r>
          </a:p>
        </p:txBody>
      </p:sp>
    </p:spTree>
    <p:extLst>
      <p:ext uri="{BB962C8B-B14F-4D97-AF65-F5344CB8AC3E}">
        <p14:creationId xmlns:p14="http://schemas.microsoft.com/office/powerpoint/2010/main" val="3356042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35BDCEA-AA8D-4102-50F4-855AA47E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271463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Плюсы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A85AE-75B0-2857-9C00-D01643DBC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447800"/>
            <a:ext cx="5157787" cy="503872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Высокая точность секвенирования (~95%)</a:t>
            </a:r>
          </a:p>
          <a:p>
            <a:r>
              <a:rPr lang="ru-RU" dirty="0"/>
              <a:t>Необходимость малых концентрация белка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6F714C-3125-82E7-95CF-17AB12D9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71463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+mj-lt"/>
              </a:rPr>
              <a:t>Минусы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8E624A-9D27-F15C-3D5F-AC2E55CEC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447800"/>
            <a:ext cx="5183188" cy="36845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Необходимость расщепления пептида до 30ти аминокислотных фрагментов.</a:t>
            </a:r>
          </a:p>
          <a:p>
            <a:r>
              <a:rPr lang="ru-RU" dirty="0"/>
              <a:t>Необходимость неоднократного секвенирования для сборки длинных белков</a:t>
            </a:r>
          </a:p>
          <a:p>
            <a:r>
              <a:rPr lang="ru-RU" dirty="0"/>
              <a:t>Скорость</a:t>
            </a:r>
          </a:p>
        </p:txBody>
      </p:sp>
    </p:spTree>
    <p:extLst>
      <p:ext uri="{BB962C8B-B14F-4D97-AF65-F5344CB8AC3E}">
        <p14:creationId xmlns:p14="http://schemas.microsoft.com/office/powerpoint/2010/main" val="299296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8FA20-1821-35D1-1C98-C2227739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pPr algn="ctr"/>
            <a:r>
              <a:rPr lang="ru-RU" dirty="0"/>
              <a:t>Отпечатки пальцев пептидов</a:t>
            </a:r>
          </a:p>
        </p:txBody>
      </p:sp>
      <p:pic>
        <p:nvPicPr>
          <p:cNvPr id="11266" name="Picture 2" descr="Принцип масс-спектрометрического пептидного картирования">
            <a:extLst>
              <a:ext uri="{FF2B5EF4-FFF2-40B4-BE49-F238E27FC236}">
                <a16:creationId xmlns:a16="http://schemas.microsoft.com/office/drawing/2014/main" id="{A80B2DF5-E182-A6E3-EA54-A49DB9880A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0025"/>
            <a:ext cx="7494365" cy="407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FF7201-36D5-C214-C066-FB806818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02" y="990600"/>
            <a:ext cx="4327428" cy="564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65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16471-7AFC-6BF1-2115-A605834F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Секвенирование белков </a:t>
            </a:r>
            <a:r>
              <a:rPr lang="en-US" i="1" dirty="0"/>
              <a:t>de nova</a:t>
            </a:r>
            <a:endParaRPr lang="ru-RU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6A549D4-A9B0-04F3-C597-F37DB4A6BF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7" y="1690688"/>
            <a:ext cx="8410575" cy="494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169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27163-843E-FC26-8650-4EA82662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48DF9C6-E1C7-7CAC-F20D-7AF191A0E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67400"/>
            <a:ext cx="6966859" cy="5404863"/>
          </a:xfrm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278D868F-B74E-30F8-EC59-0B1B6F9F4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81" y="1952625"/>
            <a:ext cx="5183698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652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8C160-73B7-756C-120A-B57DCC50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931" y="2293751"/>
            <a:ext cx="5015752" cy="227049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Определение третичной структуры белка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B0E210-4882-0523-08D7-08E82AB329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7" r="27574"/>
          <a:stretch/>
        </p:blipFill>
        <p:spPr>
          <a:xfrm>
            <a:off x="-439271" y="-203499"/>
            <a:ext cx="7407061" cy="695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45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F9A64-5C73-837D-971B-481E28DD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71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Рентгенография</a:t>
            </a:r>
          </a:p>
        </p:txBody>
      </p:sp>
      <p:pic>
        <p:nvPicPr>
          <p:cNvPr id="1026" name="Picture 2" descr="Микрокристаллы мембранных белков перестали прятаться от учёных">
            <a:extLst>
              <a:ext uri="{FF2B5EF4-FFF2-40B4-BE49-F238E27FC236}">
                <a16:creationId xmlns:a16="http://schemas.microsoft.com/office/drawing/2014/main" id="{90C977D2-41B8-A3EF-FD39-64CEC1DE3F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197" y="1825625"/>
            <a:ext cx="749760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078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63690-97C1-5497-B90F-4B217237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149"/>
            <a:ext cx="10515600" cy="69271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Кристаллизация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7291926-B22A-F251-4DA3-41D37FF10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4814" y="963749"/>
            <a:ext cx="6861692" cy="5580486"/>
          </a:xfr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A61237F3-3B51-862F-860A-023DAE5B5A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85" t="22618" r="72933" b="15678"/>
          <a:stretch/>
        </p:blipFill>
        <p:spPr>
          <a:xfrm>
            <a:off x="372035" y="1344418"/>
            <a:ext cx="1917011" cy="2084582"/>
          </a:xfrm>
          <a:prstGeom prst="parallelogram">
            <a:avLst>
              <a:gd name="adj" fmla="val 0"/>
            </a:avLst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4A14CF-319D-809B-4EFC-60A9625F9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00" t="21676" r="40440" b="16712"/>
          <a:stretch/>
        </p:blipFill>
        <p:spPr>
          <a:xfrm>
            <a:off x="2289046" y="1342682"/>
            <a:ext cx="2439833" cy="20863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1B5689-4299-4932-BA1F-3E4CA57F46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604" t="19279" r="8597" b="15514"/>
          <a:stretch/>
        </p:blipFill>
        <p:spPr>
          <a:xfrm>
            <a:off x="1330540" y="3429331"/>
            <a:ext cx="2439832" cy="208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17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F644A-D428-4A0B-B48C-C6A5CDE7E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148"/>
            <a:ext cx="10515600" cy="907863"/>
          </a:xfrm>
        </p:spPr>
        <p:txBody>
          <a:bodyPr/>
          <a:lstStyle/>
          <a:p>
            <a:pPr algn="ctr"/>
            <a:r>
              <a:rPr lang="en-US" dirty="0"/>
              <a:t>AlphaFold2</a:t>
            </a:r>
            <a:endParaRPr lang="ru-RU" dirty="0"/>
          </a:p>
        </p:txBody>
      </p:sp>
      <p:pic>
        <p:nvPicPr>
          <p:cNvPr id="2050" name="Picture 2" descr="Рис. 2. Максимальная точность по метрике GDT, достигнутая в ходе соревнований CASP в разные годы (1994-2020).">
            <a:extLst>
              <a:ext uri="{FF2B5EF4-FFF2-40B4-BE49-F238E27FC236}">
                <a16:creationId xmlns:a16="http://schemas.microsoft.com/office/drawing/2014/main" id="{134543C7-CDB3-C3F3-893A-32E981ECE8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56" y="1013011"/>
            <a:ext cx="8778688" cy="497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90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41A76-F491-CD3A-852B-5B1318AF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Архитектура </a:t>
            </a:r>
            <a:r>
              <a:rPr lang="en-US" dirty="0"/>
              <a:t>AlphaFold2</a:t>
            </a:r>
            <a:endParaRPr lang="ru-RU" dirty="0"/>
          </a:p>
        </p:txBody>
      </p:sp>
      <p:pic>
        <p:nvPicPr>
          <p:cNvPr id="4" name="Picture 4" descr="Конвейер работы AlphaFold2 с высоты птичьего полета.">
            <a:extLst>
              <a:ext uri="{FF2B5EF4-FFF2-40B4-BE49-F238E27FC236}">
                <a16:creationId xmlns:a16="http://schemas.microsoft.com/office/drawing/2014/main" id="{529345D6-2934-6ECF-5B7C-27818EF3E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5" y="1690688"/>
            <a:ext cx="12096810" cy="417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68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B912A-E3A5-A91E-0333-1C9EF0D8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0287"/>
          </a:xfrm>
        </p:spPr>
        <p:txBody>
          <a:bodyPr/>
          <a:lstStyle/>
          <a:p>
            <a:pPr algn="ctr"/>
            <a:r>
              <a:rPr lang="ru-RU" dirty="0"/>
              <a:t>Использование</a:t>
            </a:r>
            <a:r>
              <a:rPr lang="en-US" dirty="0"/>
              <a:t> AlphaFold2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4556F20-1CDA-FAE8-7EF5-6AB1F8009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758" y="738057"/>
            <a:ext cx="10158484" cy="6119943"/>
          </a:xfrm>
        </p:spPr>
      </p:pic>
    </p:spTree>
    <p:extLst>
      <p:ext uri="{BB962C8B-B14F-4D97-AF65-F5344CB8AC3E}">
        <p14:creationId xmlns:p14="http://schemas.microsoft.com/office/powerpoint/2010/main" val="2735499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4A685-2F30-7B77-0F09-8F431F41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837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569505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Malgun Gothic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1798</TotalTime>
  <Words>462</Words>
  <Application>Microsoft Office PowerPoint</Application>
  <PresentationFormat>Широкоэкранный</PresentationFormat>
  <Paragraphs>86</Paragraphs>
  <Slides>32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Malgun Gothic</vt:lpstr>
      <vt:lpstr>Malgun Gothic Semilight</vt:lpstr>
      <vt:lpstr>Arial</vt:lpstr>
      <vt:lpstr>Тема Office</vt:lpstr>
      <vt:lpstr>Определение структуры белков</vt:lpstr>
      <vt:lpstr>Зачем изучать белки </vt:lpstr>
      <vt:lpstr>Определение аминокислотной последовательности с опорой на геном и транскриптом</vt:lpstr>
      <vt:lpstr>Секвенирование по Сенгеру  (метод обрыва цепи)</vt:lpstr>
      <vt:lpstr>Секвенограммы (м. Сенгера)</vt:lpstr>
      <vt:lpstr>Секвенаторы по Сенгеру</vt:lpstr>
      <vt:lpstr>Презентация PowerPoint</vt:lpstr>
      <vt:lpstr>Illumina</vt:lpstr>
      <vt:lpstr>Выходные данные </vt:lpstr>
      <vt:lpstr>Секвенаторы Illumina</vt:lpstr>
      <vt:lpstr>Презентация PowerPoint</vt:lpstr>
      <vt:lpstr>Oxford nanopore</vt:lpstr>
      <vt:lpstr>MinION</vt:lpstr>
      <vt:lpstr>Презентация PowerPoint</vt:lpstr>
      <vt:lpstr>Альтернативный сплайсинг и другие модификации РНК</vt:lpstr>
      <vt:lpstr>Непосредственно секвенирование первичной структуры белка</vt:lpstr>
      <vt:lpstr>Количественный анализ аминокислот белка</vt:lpstr>
      <vt:lpstr>Результаты</vt:lpstr>
      <vt:lpstr>Деградация по Эдману</vt:lpstr>
      <vt:lpstr>Определение аминокислот</vt:lpstr>
      <vt:lpstr>Секвенатор</vt:lpstr>
      <vt:lpstr>Презентация PowerPoint</vt:lpstr>
      <vt:lpstr>Отпечатки пальцев пептидов</vt:lpstr>
      <vt:lpstr>Секвенирование белков de nova</vt:lpstr>
      <vt:lpstr>Результаты</vt:lpstr>
      <vt:lpstr>Определение третичной структуры белка</vt:lpstr>
      <vt:lpstr>Рентгенография</vt:lpstr>
      <vt:lpstr>Кристаллизация</vt:lpstr>
      <vt:lpstr>AlphaFold2</vt:lpstr>
      <vt:lpstr>Архитектура AlphaFold2</vt:lpstr>
      <vt:lpstr>Использование AlphaFold2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структуры белков</dc:title>
  <dc:creator>Александр Кулиш</dc:creator>
  <cp:lastModifiedBy>Александр Кулиш</cp:lastModifiedBy>
  <cp:revision>5</cp:revision>
  <dcterms:created xsi:type="dcterms:W3CDTF">2023-01-14T23:36:35Z</dcterms:created>
  <dcterms:modified xsi:type="dcterms:W3CDTF">2023-01-16T11:19:17Z</dcterms:modified>
</cp:coreProperties>
</file>